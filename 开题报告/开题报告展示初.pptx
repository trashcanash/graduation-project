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58"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82" autoAdjust="0"/>
  </p:normalViewPr>
  <p:slideViewPr>
    <p:cSldViewPr snapToGrid="0">
      <p:cViewPr varScale="1">
        <p:scale>
          <a:sx n="61" d="100"/>
          <a:sy n="61" d="100"/>
        </p:scale>
        <p:origin x="37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9F5BA9-7117-45E4-B7CD-136E01B2C790}" type="datetimeFigureOut">
              <a:rPr lang="zh-CN" altLang="en-US" smtClean="0"/>
              <a:t>2021/1/22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5707D-B02E-4FD8-85BD-5E1036690C12}" type="slidenum">
              <a:rPr lang="zh-CN" altLang="en-US" smtClean="0"/>
              <a:t>‹#›</a:t>
            </a:fld>
            <a:endParaRPr lang="zh-CN" altLang="en-US"/>
          </a:p>
        </p:txBody>
      </p:sp>
    </p:spTree>
    <p:extLst>
      <p:ext uri="{BB962C8B-B14F-4D97-AF65-F5344CB8AC3E}">
        <p14:creationId xmlns:p14="http://schemas.microsoft.com/office/powerpoint/2010/main" val="3353779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蛇纹石化是洋壳超基性岩低温水热（</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&lt; 550℃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）蚀变过程的主要反应之一，也是大洋中一个重要且普遍的反应。这一反应导致橄榄石、辉石等原生矿物被蛇纹石、水镁石</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磁铁矿、滑石、透闪石等矿物替代，进而影响全球物质循环和构造运动的进程。</a:t>
            </a:r>
            <a:endParaRPr lang="zh-CN" altLang="zh-CN" sz="1800" dirty="0">
              <a:effectLst/>
              <a:latin typeface="Calibri" panose="020F0502020204030204" pitchFamily="34" charset="0"/>
              <a:ea typeface="等线"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大量研究表明，蛇纹石化反应促进洋壳与海水之间</a:t>
            </a:r>
            <a:r>
              <a:rPr lang="en-US" altLang="zh-CN" sz="1800" dirty="0">
                <a:effectLst/>
                <a:latin typeface="Times New Roman" panose="02020603050405020304" pitchFamily="18" charset="0"/>
                <a:ea typeface="宋体" panose="02010600030101010101" pitchFamily="2" charset="-122"/>
              </a:rPr>
              <a:t>Mg</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Fe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Ca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Si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Cl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等元素的循环，并调控海水</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岩石圈的化学收支平衡，为地球表层和地球深部的元素提供</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交换通道</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俯冲工厂</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区域）。</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该反应导致橄榄石、辉石、斜长石等原生矿物被蛇纹石、水镁石</a:t>
            </a:r>
            <a:r>
              <a:rPr lang="en-US" altLang="zh-CN" sz="1800" dirty="0">
                <a:effectLst/>
                <a:latin typeface="Times New Roman" panose="02020603050405020304" pitchFamily="18" charset="0"/>
                <a:ea typeface="宋体" panose="02010600030101010101" pitchFamily="2" charset="-122"/>
              </a:rPr>
              <a:t> ±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磁铁矿、滑石、透闪石、绿泥石、蒙皂石等矿物替代，极大地影响岩石自身物理化学性质，如改变岩石的密度（纯橄岩密度约为</a:t>
            </a:r>
            <a:r>
              <a:rPr lang="en-US" altLang="zh-CN" sz="1800" dirty="0">
                <a:effectLst/>
                <a:latin typeface="Times New Roman" panose="02020603050405020304" pitchFamily="18" charset="0"/>
                <a:ea typeface="宋体" panose="02010600030101010101" pitchFamily="2" charset="-122"/>
              </a:rPr>
              <a:t>3.4g/cm</a:t>
            </a:r>
            <a:r>
              <a:rPr lang="en-US" altLang="zh-CN" sz="1800" baseline="30000" dirty="0">
                <a:effectLst/>
                <a:latin typeface="Times New Roman" panose="02020603050405020304" pitchFamily="18" charset="0"/>
                <a:ea typeface="宋体" panose="02010600030101010101" pitchFamily="2" charset="-122"/>
              </a:rPr>
              <a:t>3</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，蛇纹石化后密度约为</a:t>
            </a:r>
            <a:r>
              <a:rPr lang="en-US" altLang="zh-CN" sz="1800" dirty="0">
                <a:effectLst/>
                <a:latin typeface="Times New Roman" panose="02020603050405020304" pitchFamily="18" charset="0"/>
                <a:ea typeface="宋体" panose="02010600030101010101" pitchFamily="2" charset="-122"/>
              </a:rPr>
              <a:t>2.6g/cm</a:t>
            </a:r>
            <a:r>
              <a:rPr lang="en-US" altLang="zh-CN" sz="1800" baseline="30000" dirty="0">
                <a:effectLst/>
                <a:latin typeface="Times New Roman" panose="02020603050405020304" pitchFamily="18" charset="0"/>
                <a:ea typeface="宋体" panose="02010600030101010101" pitchFamily="2" charset="-122"/>
              </a:rPr>
              <a:t>3</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）、流变性、磁学性质、孔隙度、摩擦系数等性质，进而诱发洋壳扩张、断层滑移、板块断裂、地震等大型地质构造运动。</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同时，洋壳中超基性岩完全蛇纹石化后会使洋壳富水：反应后，洋壳约增加</a:t>
            </a:r>
            <a:r>
              <a:rPr lang="en-US" altLang="zh-CN" sz="1800" dirty="0">
                <a:effectLst/>
                <a:latin typeface="Times New Roman" panose="02020603050405020304" pitchFamily="18" charset="0"/>
                <a:ea typeface="宋体" panose="02010600030101010101" pitchFamily="2" charset="-122"/>
              </a:rPr>
              <a:t>13–15wt.%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的水，以及约</a:t>
            </a:r>
            <a:r>
              <a:rPr lang="en-US" altLang="zh-CN" sz="1800" dirty="0">
                <a:effectLst/>
                <a:latin typeface="Times New Roman" panose="02020603050405020304" pitchFamily="18" charset="0"/>
                <a:ea typeface="宋体" panose="02010600030101010101" pitchFamily="2" charset="-122"/>
              </a:rPr>
              <a:t>40%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的体积，极大地影响岩石的流变学特征。</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最新的研究还表明，低温环境（</a:t>
            </a:r>
            <a:r>
              <a:rPr lang="en-US" altLang="zh-CN" sz="1800" dirty="0">
                <a:effectLst/>
                <a:latin typeface="Times New Roman" panose="02020603050405020304" pitchFamily="18" charset="0"/>
                <a:ea typeface="宋体" panose="02010600030101010101" pitchFamily="2" charset="-122"/>
              </a:rPr>
              <a:t>&lt; 300℃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）中，超基性岩的蛇纹石化会形成极其还原的环境，导致大量氢气和甲烷的产生，为区域内微生物的活动提供必要的养分。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5FB5707D-B02E-4FD8-85BD-5E1036690C12}" type="slidenum">
              <a:rPr lang="zh-CN" altLang="en-US" smtClean="0"/>
              <a:t>3</a:t>
            </a:fld>
            <a:endParaRPr lang="zh-CN" altLang="en-US"/>
          </a:p>
        </p:txBody>
      </p:sp>
    </p:spTree>
    <p:extLst>
      <p:ext uri="{BB962C8B-B14F-4D97-AF65-F5344CB8AC3E}">
        <p14:creationId xmlns:p14="http://schemas.microsoft.com/office/powerpoint/2010/main" val="2691039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作为蛇纹石化反应的主要产物，蛇纹石承担反应过程中元素迁移的重任；同时，蛇纹石具有与橄榄石完全不同的物理化学性质，大量蛇纹石的生成是原岩性质改变、以及后续诱发构造运动的基础。蛇纹石性质由自身结构决定，而结构受化学成分控制。因此，研究蛇纹石的化学成分有助于理解蛇纹石化反应对海洋体系内元素迁移和相关构造运动的影响。</a:t>
            </a:r>
            <a:endParaRPr lang="zh-CN" altLang="zh-CN" sz="1800" dirty="0">
              <a:effectLst/>
              <a:latin typeface="Calibri" panose="020F0502020204030204" pitchFamily="34" charset="0"/>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5FB5707D-B02E-4FD8-85BD-5E1036690C12}" type="slidenum">
              <a:rPr lang="zh-CN" altLang="en-US" smtClean="0"/>
              <a:t>4</a:t>
            </a:fld>
            <a:endParaRPr lang="zh-CN" altLang="en-US"/>
          </a:p>
        </p:txBody>
      </p:sp>
    </p:spTree>
    <p:extLst>
      <p:ext uri="{BB962C8B-B14F-4D97-AF65-F5344CB8AC3E}">
        <p14:creationId xmlns:p14="http://schemas.microsoft.com/office/powerpoint/2010/main" val="559405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纤蛇纹石具有管状结构，宏观表达为纤维</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纤蛇纹石主要出现在洋中脊和俯冲带浅层部位（</a:t>
            </a:r>
            <a:r>
              <a:rPr lang="en-US" altLang="zh-CN" sz="1800" dirty="0">
                <a:effectLst/>
                <a:latin typeface="Times New Roman" panose="02020603050405020304" pitchFamily="18" charset="0"/>
                <a:ea typeface="宋体" panose="02010600030101010101" pitchFamily="2" charset="-122"/>
              </a:rPr>
              <a:t>&lt;2 km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），多为纯橄岩蚀变产物</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利蛇纹石为片层状结构</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利蛇纹石多形成于富</a:t>
            </a:r>
            <a:r>
              <a:rPr lang="en-US" altLang="zh-CN" sz="1800" dirty="0">
                <a:effectLst/>
                <a:latin typeface="Times New Roman" panose="02020603050405020304" pitchFamily="18" charset="0"/>
                <a:ea typeface="宋体" panose="02010600030101010101" pitchFamily="2" charset="-122"/>
              </a:rPr>
              <a:t>Al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环境中（如环境中存在斜长石），与玄武岩蚀变有关，分布范围极其广泛</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在叶蛇纹石结构中，四面体片发生周期性倒转，片层间除</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键外，还由</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Si-O-Si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键相连。叶蛇纹石是超基性岩在高温高压（</a:t>
            </a:r>
            <a:r>
              <a:rPr lang="en-US" altLang="zh-CN" sz="1800" dirty="0">
                <a:effectLst/>
                <a:latin typeface="Times New Roman" panose="02020603050405020304" pitchFamily="18" charset="0"/>
                <a:ea typeface="宋体" panose="02010600030101010101" pitchFamily="2" charset="-122"/>
              </a:rPr>
              <a:t>&gt;500 </a:t>
            </a:r>
            <a:r>
              <a:rPr lang="en-US" altLang="zh-CN" sz="1800" baseline="30000" dirty="0" err="1">
                <a:effectLst/>
                <a:latin typeface="Times New Roman" panose="02020603050405020304" pitchFamily="18" charset="0"/>
                <a:ea typeface="宋体" panose="02010600030101010101" pitchFamily="2" charset="-122"/>
              </a:rPr>
              <a:t>o</a:t>
            </a:r>
            <a:r>
              <a:rPr lang="en-US" altLang="zh-CN" sz="1800" dirty="0" err="1">
                <a:effectLst/>
                <a:latin typeface="Times New Roman" panose="02020603050405020304" pitchFamily="18" charset="0"/>
                <a:ea typeface="宋体" panose="02010600030101010101" pitchFamily="2" charset="-122"/>
              </a:rPr>
              <a:t>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&gt;500 MPa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）环境中的蚀变矿物，多出现于俯冲带深部</a:t>
            </a:r>
            <a:endParaRPr lang="zh-CN" altLang="zh-CN" sz="1800" dirty="0">
              <a:effectLst/>
              <a:latin typeface="Calibri" panose="020F0502020204030204" pitchFamily="34" charset="0"/>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5FB5707D-B02E-4FD8-85BD-5E1036690C12}" type="slidenum">
              <a:rPr lang="zh-CN" altLang="en-US" smtClean="0"/>
              <a:t>5</a:t>
            </a:fld>
            <a:endParaRPr lang="zh-CN" altLang="en-US"/>
          </a:p>
        </p:txBody>
      </p:sp>
    </p:spTree>
    <p:extLst>
      <p:ext uri="{BB962C8B-B14F-4D97-AF65-F5344CB8AC3E}">
        <p14:creationId xmlns:p14="http://schemas.microsoft.com/office/powerpoint/2010/main" val="3947598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5CA683-A871-40F5-9FD0-9B8179E3205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A1B9EB7-8BF8-41C2-89D9-85BD1A5736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CC67D13-A667-40D9-BF83-5D928420F41A}"/>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5" name="页脚占位符 4">
            <a:extLst>
              <a:ext uri="{FF2B5EF4-FFF2-40B4-BE49-F238E27FC236}">
                <a16:creationId xmlns:a16="http://schemas.microsoft.com/office/drawing/2014/main" id="{A19983AE-888C-4929-9670-209A085296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22FCD17-DF09-4351-905A-2AE493A1FCC6}"/>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2035785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0FA2EB-8762-426D-950F-B5CB4716F80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BEACE3-966D-4D15-817A-625A21B88D0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ECFF06D-D94C-4852-ABA4-1BB071808371}"/>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5" name="页脚占位符 4">
            <a:extLst>
              <a:ext uri="{FF2B5EF4-FFF2-40B4-BE49-F238E27FC236}">
                <a16:creationId xmlns:a16="http://schemas.microsoft.com/office/drawing/2014/main" id="{4966E9F7-1C4F-4072-B050-A421F055AFA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38C4C7-0BDB-41F8-88DC-1FBB4A404258}"/>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39802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FB99E8-A3FF-4035-BC41-693C1FB3430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465B3D1-A0CE-4B03-AA8B-1A37BF3DD8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7612BC1-9F6D-4B0C-9694-B1F9E95450E6}"/>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5" name="页脚占位符 4">
            <a:extLst>
              <a:ext uri="{FF2B5EF4-FFF2-40B4-BE49-F238E27FC236}">
                <a16:creationId xmlns:a16="http://schemas.microsoft.com/office/drawing/2014/main" id="{62BDD5C1-BF6D-4544-9CE5-E5DC76FD651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53BE50-973F-481C-8105-27C0F9842A6B}"/>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1199408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097349-C6C1-49F0-B161-0B716A1C692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31C976-C91D-4F47-9AB5-BC5F2EA40C1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5B1A7BA-6A59-45D9-82E6-AE4551C1735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AAB77EA-DA80-487B-BCA4-DA5184466B06}"/>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6" name="页脚占位符 5">
            <a:extLst>
              <a:ext uri="{FF2B5EF4-FFF2-40B4-BE49-F238E27FC236}">
                <a16:creationId xmlns:a16="http://schemas.microsoft.com/office/drawing/2014/main" id="{B29A407D-63F0-4F66-BE50-47C6441FCA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D97F46-AEFB-465A-A296-D4BB129AA6CF}"/>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679910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14F81D-2A24-4762-BBA8-DCF339D6101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4C52527-4132-4000-A185-D499FB9133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619ED1D-79F8-46CC-A765-4A25EB44B91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EDED28E-AA06-44C0-9615-2FA91254D5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A94B584-8D0B-4689-BFA7-84FBF1D437E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F636D5E-FD26-41CE-AE8B-05922E718538}"/>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8" name="页脚占位符 7">
            <a:extLst>
              <a:ext uri="{FF2B5EF4-FFF2-40B4-BE49-F238E27FC236}">
                <a16:creationId xmlns:a16="http://schemas.microsoft.com/office/drawing/2014/main" id="{55D073F6-8F2C-487A-9509-86AB8581889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B37B4CC-CCED-421F-84F1-870584829CAF}"/>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3723858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3657C-A8DE-4B7C-A71F-5056748544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6CDCF16-B19B-4D54-9BCE-8F132B02AEB6}"/>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4" name="页脚占位符 3">
            <a:extLst>
              <a:ext uri="{FF2B5EF4-FFF2-40B4-BE49-F238E27FC236}">
                <a16:creationId xmlns:a16="http://schemas.microsoft.com/office/drawing/2014/main" id="{434F9525-CB36-4315-8AA8-7CD4CA33BA5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D5547B6-1F71-4353-9DAC-572060B2C260}"/>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224505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401049A-3CA8-4212-AFBA-60D2601579B1}"/>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3" name="页脚占位符 2">
            <a:extLst>
              <a:ext uri="{FF2B5EF4-FFF2-40B4-BE49-F238E27FC236}">
                <a16:creationId xmlns:a16="http://schemas.microsoft.com/office/drawing/2014/main" id="{D6F4B614-6ABB-4809-AD66-BA7DDFDD0DC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BA1D383-E6B5-41EB-86F1-52C559A4FA75}"/>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970409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0EF8B6-C219-40AE-AEB2-DC23D37921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30716A5-E75E-4C27-AC06-5CA08C46E0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4B3FA47-D0CD-45AB-8265-26FB2E8AB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C736B83-CC5B-4B2C-ADC7-9C3DB7E532F3}"/>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6" name="页脚占位符 5">
            <a:extLst>
              <a:ext uri="{FF2B5EF4-FFF2-40B4-BE49-F238E27FC236}">
                <a16:creationId xmlns:a16="http://schemas.microsoft.com/office/drawing/2014/main" id="{20DE8DC0-2999-4F3F-90B7-C342E0404D2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251170-A216-4AF6-8DEB-05C697A809A6}"/>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637797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3F39A-8C2C-4DC2-BAAC-3CBFD6864E6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5C78354-E1F7-4597-A674-479B3D415F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D08A0A3-0EDA-41B9-AF4F-2068FAD3F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FEC82FC-C81B-47B3-A143-A37A70B2FAC4}"/>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6" name="页脚占位符 5">
            <a:extLst>
              <a:ext uri="{FF2B5EF4-FFF2-40B4-BE49-F238E27FC236}">
                <a16:creationId xmlns:a16="http://schemas.microsoft.com/office/drawing/2014/main" id="{D81324DA-848F-4B3C-8DD0-A85F315BAD4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A3243DE-A19F-4E4A-89CE-DE0CAB45B285}"/>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3681252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1AA0E8-86C4-4E26-B277-50475747332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29E6A12-5696-4D77-A63A-64E30681CDB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0B2F6F-EFD4-48F8-A8DE-188806E8B868}"/>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5" name="页脚占位符 4">
            <a:extLst>
              <a:ext uri="{FF2B5EF4-FFF2-40B4-BE49-F238E27FC236}">
                <a16:creationId xmlns:a16="http://schemas.microsoft.com/office/drawing/2014/main" id="{3780B754-1EBF-4CD8-818D-176E907B1EC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8E5899-0DCA-4259-A8B4-097F279FD1DE}"/>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363117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FA56467-94D5-43A7-9793-19AC766B547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240FED3-5BE1-4A01-BED7-833424D9371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2FF2928-F904-4D3D-AE5F-4E79ED385C57}"/>
              </a:ext>
            </a:extLst>
          </p:cNvPr>
          <p:cNvSpPr>
            <a:spLocks noGrp="1"/>
          </p:cNvSpPr>
          <p:nvPr>
            <p:ph type="dt" sz="half" idx="10"/>
          </p:nvPr>
        </p:nvSpPr>
        <p:spPr/>
        <p:txBody>
          <a:bodyPr/>
          <a:lstStyle/>
          <a:p>
            <a:fld id="{6A5DAE9B-5756-4D70-AA9B-0D04DBCCDF32}" type="datetimeFigureOut">
              <a:rPr lang="zh-CN" altLang="en-US" smtClean="0"/>
              <a:t>2021/1/22</a:t>
            </a:fld>
            <a:endParaRPr lang="zh-CN" altLang="en-US"/>
          </a:p>
        </p:txBody>
      </p:sp>
      <p:sp>
        <p:nvSpPr>
          <p:cNvPr id="5" name="页脚占位符 4">
            <a:extLst>
              <a:ext uri="{FF2B5EF4-FFF2-40B4-BE49-F238E27FC236}">
                <a16:creationId xmlns:a16="http://schemas.microsoft.com/office/drawing/2014/main" id="{1BEEDDED-1EF3-4CEA-BD4B-485DFC874E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8D48DA-45B6-47B5-A9AF-61B31E73B27D}"/>
              </a:ext>
            </a:extLst>
          </p:cNvPr>
          <p:cNvSpPr>
            <a:spLocks noGrp="1"/>
          </p:cNvSpPr>
          <p:nvPr>
            <p:ph type="sldNum" sz="quarter" idx="12"/>
          </p:nvPr>
        </p:nvSpPr>
        <p:spPr/>
        <p:txBody>
          <a:body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17240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E95A14B-5DDA-4402-87BF-F59F0650E5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D485A29-C2DF-4B4D-B06C-3DA2EC1567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A828EA2-FFC5-43BB-98A3-82B23CE5AA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5DAE9B-5756-4D70-AA9B-0D04DBCCDF32}" type="datetimeFigureOut">
              <a:rPr lang="zh-CN" altLang="en-US" smtClean="0"/>
              <a:t>2021/1/22</a:t>
            </a:fld>
            <a:endParaRPr lang="zh-CN" altLang="en-US"/>
          </a:p>
        </p:txBody>
      </p:sp>
      <p:sp>
        <p:nvSpPr>
          <p:cNvPr id="5" name="页脚占位符 4">
            <a:extLst>
              <a:ext uri="{FF2B5EF4-FFF2-40B4-BE49-F238E27FC236}">
                <a16:creationId xmlns:a16="http://schemas.microsoft.com/office/drawing/2014/main" id="{603763C8-34E4-487A-B12F-C3789D996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2C1AE7D-7C18-4C01-AAC6-DCBAA5E9D0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29F5E7-CCE8-4E3E-842F-E31BD7860B9C}" type="slidenum">
              <a:rPr lang="zh-CN" altLang="en-US" smtClean="0"/>
              <a:t>‹#›</a:t>
            </a:fld>
            <a:endParaRPr lang="zh-CN" altLang="en-US"/>
          </a:p>
        </p:txBody>
      </p:sp>
    </p:spTree>
    <p:extLst>
      <p:ext uri="{BB962C8B-B14F-4D97-AF65-F5344CB8AC3E}">
        <p14:creationId xmlns:p14="http://schemas.microsoft.com/office/powerpoint/2010/main" val="1119119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7DEE-6054-4A1B-BD91-0139CB58184F}"/>
              </a:ext>
            </a:extLst>
          </p:cNvPr>
          <p:cNvSpPr>
            <a:spLocks noGrp="1"/>
          </p:cNvSpPr>
          <p:nvPr>
            <p:ph type="ctrTitle"/>
          </p:nvPr>
        </p:nvSpPr>
        <p:spPr/>
        <p:txBody>
          <a:bodyPr>
            <a:normAutofit fontScale="90000"/>
          </a:bodyPr>
          <a:lstStyle/>
          <a:p>
            <a:r>
              <a:rPr lang="zh-CN" altLang="en-US" dirty="0">
                <a:latin typeface="宋体" panose="02010600030101010101" pitchFamily="2" charset="-122"/>
                <a:ea typeface="宋体" panose="02010600030101010101" pitchFamily="2" charset="-122"/>
              </a:rPr>
              <a:t>运用大数据和机器学习手段研究蛇纹石多型的成分差别</a:t>
            </a:r>
          </a:p>
        </p:txBody>
      </p:sp>
      <p:sp>
        <p:nvSpPr>
          <p:cNvPr id="3" name="副标题 2">
            <a:extLst>
              <a:ext uri="{FF2B5EF4-FFF2-40B4-BE49-F238E27FC236}">
                <a16:creationId xmlns:a16="http://schemas.microsoft.com/office/drawing/2014/main" id="{891ECE16-A08E-4A5B-9C30-164F95D360DA}"/>
              </a:ext>
            </a:extLst>
          </p:cNvPr>
          <p:cNvSpPr>
            <a:spLocks noGrp="1"/>
          </p:cNvSpPr>
          <p:nvPr>
            <p:ph type="subTitle" idx="1"/>
          </p:nvPr>
        </p:nvSpPr>
        <p:spPr/>
        <p:txBody>
          <a:bodyPr/>
          <a:lstStyle/>
          <a:p>
            <a:r>
              <a:rPr lang="zh-CN" altLang="en-US" dirty="0">
                <a:latin typeface="宋体" panose="02010600030101010101" pitchFamily="2" charset="-122"/>
                <a:ea typeface="宋体" panose="02010600030101010101" pitchFamily="2" charset="-122"/>
              </a:rPr>
              <a:t>指导老师：张舟  答辩人：史程日  答辩时间：</a:t>
            </a:r>
            <a:r>
              <a:rPr lang="en-US" altLang="zh-CN" dirty="0">
                <a:latin typeface="宋体" panose="02010600030101010101" pitchFamily="2" charset="-122"/>
                <a:ea typeface="宋体" panose="02010600030101010101" pitchFamily="2" charset="-122"/>
              </a:rPr>
              <a:t>2021.01.22</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860407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2C2357-8AF5-499F-BD60-0CA8C81D035F}"/>
              </a:ext>
            </a:extLst>
          </p:cNvPr>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目录</a:t>
            </a:r>
          </a:p>
        </p:txBody>
      </p:sp>
      <p:sp>
        <p:nvSpPr>
          <p:cNvPr id="3" name="内容占位符 2">
            <a:extLst>
              <a:ext uri="{FF2B5EF4-FFF2-40B4-BE49-F238E27FC236}">
                <a16:creationId xmlns:a16="http://schemas.microsoft.com/office/drawing/2014/main" id="{6845D9F1-A30A-4CC0-B5B4-191A72FD5121}"/>
              </a:ext>
            </a:extLst>
          </p:cNvPr>
          <p:cNvSpPr>
            <a:spLocks noGrp="1"/>
          </p:cNvSpPr>
          <p:nvPr>
            <p:ph idx="1"/>
          </p:nvPr>
        </p:nvSpPr>
        <p:spPr/>
        <p:txBody>
          <a:bodyPr>
            <a:normAutofit/>
          </a:bodyPr>
          <a:lstStyle/>
          <a:p>
            <a:r>
              <a:rPr lang="zh-CN" altLang="en-US" sz="3600" dirty="0">
                <a:latin typeface="宋体" panose="02010600030101010101" pitchFamily="2" charset="-122"/>
                <a:ea typeface="宋体" panose="02010600030101010101" pitchFamily="2" charset="-122"/>
              </a:rPr>
              <a:t>选题背景</a:t>
            </a:r>
            <a:endParaRPr lang="en-US" altLang="zh-CN" sz="3600" dirty="0">
              <a:latin typeface="宋体" panose="02010600030101010101" pitchFamily="2" charset="-122"/>
              <a:ea typeface="宋体" panose="02010600030101010101" pitchFamily="2" charset="-122"/>
            </a:endParaRPr>
          </a:p>
          <a:p>
            <a:r>
              <a:rPr lang="zh-CN" altLang="en-US" sz="3600" dirty="0">
                <a:latin typeface="宋体" panose="02010600030101010101" pitchFamily="2" charset="-122"/>
                <a:ea typeface="宋体" panose="02010600030101010101" pitchFamily="2" charset="-122"/>
              </a:rPr>
              <a:t>目的与意义</a:t>
            </a:r>
            <a:endParaRPr lang="en-US" altLang="zh-CN" sz="3600" dirty="0">
              <a:latin typeface="宋体" panose="02010600030101010101" pitchFamily="2" charset="-122"/>
              <a:ea typeface="宋体" panose="02010600030101010101" pitchFamily="2" charset="-122"/>
            </a:endParaRPr>
          </a:p>
          <a:p>
            <a:r>
              <a:rPr lang="zh-CN" altLang="en-US" sz="3600" dirty="0">
                <a:latin typeface="宋体" panose="02010600030101010101" pitchFamily="2" charset="-122"/>
                <a:ea typeface="宋体" panose="02010600030101010101" pitchFamily="2" charset="-122"/>
              </a:rPr>
              <a:t>研究内容</a:t>
            </a:r>
            <a:endParaRPr lang="en-US" altLang="zh-CN" sz="3600" dirty="0">
              <a:latin typeface="宋体" panose="02010600030101010101" pitchFamily="2" charset="-122"/>
              <a:ea typeface="宋体" panose="02010600030101010101" pitchFamily="2" charset="-122"/>
            </a:endParaRPr>
          </a:p>
          <a:p>
            <a:r>
              <a:rPr lang="zh-CN" altLang="en-US" sz="3600" dirty="0">
                <a:latin typeface="宋体" panose="02010600030101010101" pitchFamily="2" charset="-122"/>
                <a:ea typeface="宋体" panose="02010600030101010101" pitchFamily="2" charset="-122"/>
              </a:rPr>
              <a:t>技术路线</a:t>
            </a:r>
            <a:endParaRPr lang="en-US" altLang="zh-CN" sz="3600" dirty="0">
              <a:latin typeface="宋体" panose="02010600030101010101" pitchFamily="2" charset="-122"/>
              <a:ea typeface="宋体" panose="02010600030101010101" pitchFamily="2" charset="-122"/>
            </a:endParaRPr>
          </a:p>
          <a:p>
            <a:r>
              <a:rPr lang="zh-CN" altLang="en-US" sz="3600" dirty="0">
                <a:latin typeface="宋体" panose="02010600030101010101" pitchFamily="2" charset="-122"/>
                <a:ea typeface="宋体" panose="02010600030101010101" pitchFamily="2" charset="-122"/>
              </a:rPr>
              <a:t>可行性分析</a:t>
            </a:r>
            <a:endParaRPr lang="en-US" altLang="zh-CN" sz="3600" dirty="0">
              <a:latin typeface="宋体" panose="02010600030101010101" pitchFamily="2" charset="-122"/>
              <a:ea typeface="宋体" panose="02010600030101010101" pitchFamily="2" charset="-122"/>
            </a:endParaRPr>
          </a:p>
          <a:p>
            <a:r>
              <a:rPr lang="zh-CN" altLang="en-US" sz="3600" dirty="0">
                <a:latin typeface="宋体" panose="02010600030101010101" pitchFamily="2" charset="-122"/>
                <a:ea typeface="宋体" panose="02010600030101010101" pitchFamily="2" charset="-122"/>
              </a:rPr>
              <a:t>进度安排</a:t>
            </a:r>
            <a:endParaRPr lang="en-US" altLang="zh-CN" sz="3600" dirty="0">
              <a:latin typeface="宋体" panose="02010600030101010101" pitchFamily="2" charset="-122"/>
              <a:ea typeface="宋体" panose="02010600030101010101" pitchFamily="2" charset="-122"/>
            </a:endParaRPr>
          </a:p>
          <a:p>
            <a:r>
              <a:rPr lang="zh-CN" altLang="en-US" sz="3600" dirty="0">
                <a:latin typeface="宋体" panose="02010600030101010101" pitchFamily="2" charset="-122"/>
                <a:ea typeface="宋体" panose="02010600030101010101" pitchFamily="2" charset="-122"/>
              </a:rPr>
              <a:t>预期目标</a:t>
            </a:r>
          </a:p>
        </p:txBody>
      </p:sp>
    </p:spTree>
    <p:extLst>
      <p:ext uri="{BB962C8B-B14F-4D97-AF65-F5344CB8AC3E}">
        <p14:creationId xmlns:p14="http://schemas.microsoft.com/office/powerpoint/2010/main" val="91989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8408C1-8418-4B12-A44C-3A169363B59D}"/>
              </a:ext>
            </a:extLst>
          </p:cNvPr>
          <p:cNvSpPr>
            <a:spLocks noGrp="1"/>
          </p:cNvSpPr>
          <p:nvPr>
            <p:ph type="title"/>
          </p:nvPr>
        </p:nvSpPr>
        <p:spPr/>
        <p:txBody>
          <a:bodyPr/>
          <a:lstStyle/>
          <a:p>
            <a:r>
              <a:rPr lang="zh-CN" altLang="en-US" sz="4400" dirty="0">
                <a:latin typeface="宋体" panose="02010600030101010101" pitchFamily="2" charset="-122"/>
                <a:ea typeface="宋体" panose="02010600030101010101" pitchFamily="2" charset="-122"/>
              </a:rPr>
              <a:t>选题背景</a:t>
            </a:r>
            <a:endParaRPr lang="zh-CN" altLang="en-US"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C3038D88-B8EA-4F3E-9E66-A9C771F1381E}"/>
              </a:ext>
            </a:extLst>
          </p:cNvPr>
          <p:cNvPicPr>
            <a:picLocks noChangeAspect="1"/>
          </p:cNvPicPr>
          <p:nvPr/>
        </p:nvPicPr>
        <p:blipFill>
          <a:blip r:embed="rId3"/>
          <a:stretch>
            <a:fillRect/>
          </a:stretch>
        </p:blipFill>
        <p:spPr>
          <a:xfrm>
            <a:off x="1715530" y="2430617"/>
            <a:ext cx="8297772" cy="3702417"/>
          </a:xfrm>
          <a:prstGeom prst="rect">
            <a:avLst/>
          </a:prstGeom>
        </p:spPr>
      </p:pic>
      <p:sp>
        <p:nvSpPr>
          <p:cNvPr id="5" name="文本框 4">
            <a:extLst>
              <a:ext uri="{FF2B5EF4-FFF2-40B4-BE49-F238E27FC236}">
                <a16:creationId xmlns:a16="http://schemas.microsoft.com/office/drawing/2014/main" id="{61B9A354-EA3A-4017-927A-55A9BFE7137B}"/>
              </a:ext>
            </a:extLst>
          </p:cNvPr>
          <p:cNvSpPr txBox="1"/>
          <p:nvPr/>
        </p:nvSpPr>
        <p:spPr>
          <a:xfrm>
            <a:off x="-63843" y="6581001"/>
            <a:ext cx="2185214" cy="276999"/>
          </a:xfrm>
          <a:prstGeom prst="rect">
            <a:avLst/>
          </a:prstGeom>
          <a:noFill/>
        </p:spPr>
        <p:txBody>
          <a:bodyPr wrap="none" rtlCol="0">
            <a:spAutoFit/>
          </a:bodyPr>
          <a:lstStyle/>
          <a:p>
            <a:r>
              <a:rPr lang="zh-CN" altLang="en-US" sz="1200" dirty="0"/>
              <a:t>图源：</a:t>
            </a:r>
            <a:r>
              <a:rPr lang="en-US" altLang="zh-CN" sz="1200" dirty="0" err="1">
                <a:latin typeface="Times New Roman" panose="02020603050405020304" pitchFamily="18" charset="0"/>
                <a:cs typeface="Times New Roman" panose="02020603050405020304" pitchFamily="18" charset="0"/>
              </a:rPr>
              <a:t>Ningthoujam</a:t>
            </a:r>
            <a:r>
              <a:rPr lang="en-US" altLang="zh-CN" sz="1200" dirty="0">
                <a:latin typeface="Times New Roman" panose="02020603050405020304" pitchFamily="18" charset="0"/>
                <a:cs typeface="Times New Roman" panose="02020603050405020304" pitchFamily="18" charset="0"/>
              </a:rPr>
              <a:t> et al., 2012</a:t>
            </a:r>
          </a:p>
        </p:txBody>
      </p:sp>
      <p:sp>
        <p:nvSpPr>
          <p:cNvPr id="3" name="文本框 2">
            <a:extLst>
              <a:ext uri="{FF2B5EF4-FFF2-40B4-BE49-F238E27FC236}">
                <a16:creationId xmlns:a16="http://schemas.microsoft.com/office/drawing/2014/main" id="{0C1EA539-E456-456A-9D46-5963CCAC32B3}"/>
              </a:ext>
            </a:extLst>
          </p:cNvPr>
          <p:cNvSpPr txBox="1"/>
          <p:nvPr/>
        </p:nvSpPr>
        <p:spPr>
          <a:xfrm>
            <a:off x="1715530" y="1507287"/>
            <a:ext cx="8093676" cy="923330"/>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蛇纹石化是洋壳超基性岩低温水热蚀变过程的主要反应之一</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该反应能极大地影响岩石物理化学性质</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洋壳中超基性岩完全蛇纹石化后会使洋壳富水</a:t>
            </a:r>
          </a:p>
        </p:txBody>
      </p:sp>
    </p:spTree>
    <p:extLst>
      <p:ext uri="{BB962C8B-B14F-4D97-AF65-F5344CB8AC3E}">
        <p14:creationId xmlns:p14="http://schemas.microsoft.com/office/powerpoint/2010/main" val="1663337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9B91A4-F9BC-4615-BEBB-6A9896DE53E2}"/>
              </a:ext>
            </a:extLst>
          </p:cNvPr>
          <p:cNvSpPr>
            <a:spLocks noGrp="1"/>
          </p:cNvSpPr>
          <p:nvPr>
            <p:ph type="title"/>
          </p:nvPr>
        </p:nvSpPr>
        <p:spPr/>
        <p:txBody>
          <a:bodyPr/>
          <a:lstStyle/>
          <a:p>
            <a:r>
              <a:rPr lang="zh-CN" altLang="en-US" sz="4400" dirty="0">
                <a:latin typeface="宋体" panose="02010600030101010101" pitchFamily="2" charset="-122"/>
                <a:ea typeface="宋体" panose="02010600030101010101" pitchFamily="2" charset="-122"/>
              </a:rPr>
              <a:t>目的与意义</a:t>
            </a:r>
            <a:endParaRPr lang="zh-CN" altLang="en-US" dirty="0">
              <a:latin typeface="宋体" panose="02010600030101010101" pitchFamily="2" charset="-122"/>
              <a:ea typeface="宋体" panose="02010600030101010101" pitchFamily="2" charset="-122"/>
            </a:endParaRPr>
          </a:p>
        </p:txBody>
      </p:sp>
      <p:sp>
        <p:nvSpPr>
          <p:cNvPr id="3" name="内容占位符 2">
            <a:extLst>
              <a:ext uri="{FF2B5EF4-FFF2-40B4-BE49-F238E27FC236}">
                <a16:creationId xmlns:a16="http://schemas.microsoft.com/office/drawing/2014/main" id="{E8FAD193-28C9-4D38-8411-F9F64E0811A0}"/>
              </a:ext>
            </a:extLst>
          </p:cNvPr>
          <p:cNvSpPr>
            <a:spLocks noGrp="1"/>
          </p:cNvSpPr>
          <p:nvPr>
            <p:ph idx="1"/>
          </p:nvPr>
        </p:nvSpPr>
        <p:spPr>
          <a:xfrm>
            <a:off x="838200" y="1825625"/>
            <a:ext cx="10515600" cy="4351338"/>
          </a:xfrm>
        </p:spPr>
        <p:txBody>
          <a:bodyPr/>
          <a:lstStyle/>
          <a:p>
            <a:r>
              <a:rPr lang="zh-CN" altLang="en-US" dirty="0">
                <a:latin typeface="宋体" panose="02010600030101010101" pitchFamily="2" charset="-122"/>
                <a:ea typeface="宋体" panose="02010600030101010101" pitchFamily="2" charset="-122"/>
              </a:rPr>
              <a:t>本研究借助大数据和人工智能的手段，有效地从矿物成分上区分蛇纹石多型，进而研究蛇纹石多型与元素成分存在何种联系以及能够反演当时发生蛇纹石化的环境和物质转移部分</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研究蛇纹石的化学成分有助于理解蛇纹石化反应对海洋体系内元素迁移和相关构造运动的影响</a:t>
            </a:r>
            <a:endParaRPr lang="en-US" altLang="zh-CN" dirty="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36525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B40C84-2617-4B03-BCDB-D8119E1098D7}"/>
              </a:ext>
            </a:extLst>
          </p:cNvPr>
          <p:cNvSpPr>
            <a:spLocks noGrp="1"/>
          </p:cNvSpPr>
          <p:nvPr>
            <p:ph type="title"/>
          </p:nvPr>
        </p:nvSpPr>
        <p:spPr/>
        <p:txBody>
          <a:bodyPr/>
          <a:lstStyle/>
          <a:p>
            <a:r>
              <a:rPr lang="zh-CN" altLang="en-US" sz="4400" dirty="0">
                <a:latin typeface="宋体" panose="02010600030101010101" pitchFamily="2" charset="-122"/>
                <a:ea typeface="宋体" panose="02010600030101010101" pitchFamily="2" charset="-122"/>
              </a:rPr>
              <a:t>研究内容</a:t>
            </a:r>
            <a:endParaRPr lang="zh-CN" altLang="en-US"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63028181-F293-4067-BC2A-C749583DBF0E}"/>
              </a:ext>
            </a:extLst>
          </p:cNvPr>
          <p:cNvSpPr txBox="1"/>
          <p:nvPr/>
        </p:nvSpPr>
        <p:spPr>
          <a:xfrm>
            <a:off x="838201" y="1713214"/>
            <a:ext cx="3638035" cy="523220"/>
          </a:xfrm>
          <a:prstGeom prst="rect">
            <a:avLst/>
          </a:prstGeom>
          <a:noFill/>
        </p:spPr>
        <p:txBody>
          <a:bodyPr wrap="square" rtlCol="0">
            <a:spAutoFit/>
          </a:bodyPr>
          <a:lstStyle/>
          <a:p>
            <a:r>
              <a:rPr lang="zh-CN" altLang="en-US" sz="2800" dirty="0">
                <a:latin typeface="宋体" panose="02010600030101010101" pitchFamily="2" charset="-122"/>
                <a:ea typeface="宋体" panose="02010600030101010101" pitchFamily="2" charset="-122"/>
              </a:rPr>
              <a:t>纤蛇纹石（</a:t>
            </a:r>
            <a:r>
              <a:rPr lang="en-US" altLang="zh-CN" sz="2800" dirty="0">
                <a:solidFill>
                  <a:schemeClr val="tx1">
                    <a:lumMod val="75000"/>
                    <a:lumOff val="25000"/>
                  </a:schemeClr>
                </a:solidFill>
                <a:latin typeface="Times New Roman" panose="02020603050405020304" pitchFamily="18" charset="0"/>
                <a:ea typeface="字魂105号-简雅黑" panose="00000500000000000000" pitchFamily="2" charset="-122"/>
                <a:cs typeface="Times New Roman" panose="02020603050405020304" pitchFamily="18" charset="0"/>
                <a:sym typeface="字魂105号-简雅黑" panose="00000500000000000000" pitchFamily="2" charset="-122"/>
              </a:rPr>
              <a:t>Chrysotile</a:t>
            </a:r>
            <a:r>
              <a:rPr lang="zh-CN" altLang="en-US" sz="2800" dirty="0">
                <a:latin typeface="宋体" panose="02010600030101010101" pitchFamily="2" charset="-122"/>
                <a:ea typeface="宋体" panose="02010600030101010101" pitchFamily="2" charset="-122"/>
              </a:rPr>
              <a:t>）</a:t>
            </a:r>
          </a:p>
        </p:txBody>
      </p:sp>
      <p:sp>
        <p:nvSpPr>
          <p:cNvPr id="6" name="文本框 5">
            <a:extLst>
              <a:ext uri="{FF2B5EF4-FFF2-40B4-BE49-F238E27FC236}">
                <a16:creationId xmlns:a16="http://schemas.microsoft.com/office/drawing/2014/main" id="{2CA7601D-EBA1-424F-A843-7DB489FE7176}"/>
              </a:ext>
            </a:extLst>
          </p:cNvPr>
          <p:cNvSpPr txBox="1"/>
          <p:nvPr/>
        </p:nvSpPr>
        <p:spPr>
          <a:xfrm>
            <a:off x="838200" y="2236434"/>
            <a:ext cx="2928552" cy="646331"/>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管状结构，宏观表达为纤维</a:t>
            </a:r>
            <a:endParaRPr lang="en-US" altLang="zh-CN" dirty="0">
              <a:latin typeface="宋体" panose="02010600030101010101" pitchFamily="2" charset="-122"/>
              <a:ea typeface="宋体" panose="02010600030101010101" pitchFamily="2" charset="-122"/>
            </a:endParaRPr>
          </a:p>
          <a:p>
            <a:endParaRPr lang="zh-CN" altLang="en-US" dirty="0"/>
          </a:p>
        </p:txBody>
      </p:sp>
      <p:sp>
        <p:nvSpPr>
          <p:cNvPr id="7" name="文本框 6">
            <a:extLst>
              <a:ext uri="{FF2B5EF4-FFF2-40B4-BE49-F238E27FC236}">
                <a16:creationId xmlns:a16="http://schemas.microsoft.com/office/drawing/2014/main" id="{CEE223A8-5F2C-456E-A98B-7802248D0DA5}"/>
              </a:ext>
            </a:extLst>
          </p:cNvPr>
          <p:cNvSpPr txBox="1"/>
          <p:nvPr/>
        </p:nvSpPr>
        <p:spPr>
          <a:xfrm>
            <a:off x="4476236" y="1713214"/>
            <a:ext cx="3370305" cy="523220"/>
          </a:xfrm>
          <a:prstGeom prst="rect">
            <a:avLst/>
          </a:prstGeom>
          <a:noFill/>
        </p:spPr>
        <p:txBody>
          <a:bodyPr wrap="square" rtlCol="0">
            <a:spAutoFit/>
          </a:bodyPr>
          <a:lstStyle/>
          <a:p>
            <a:r>
              <a:rPr lang="zh-CN" altLang="en-US" sz="2800" dirty="0">
                <a:latin typeface="宋体" panose="02010600030101010101" pitchFamily="2" charset="-122"/>
                <a:ea typeface="宋体" panose="02010600030101010101" pitchFamily="2" charset="-122"/>
              </a:rPr>
              <a:t>利蛇纹石（</a:t>
            </a:r>
            <a:r>
              <a:rPr lang="en-US" altLang="zh-CN" sz="2800" dirty="0" err="1">
                <a:solidFill>
                  <a:schemeClr val="tx1">
                    <a:lumMod val="75000"/>
                    <a:lumOff val="25000"/>
                  </a:schemeClr>
                </a:solidFill>
                <a:latin typeface="Times New Roman" panose="02020603050405020304" pitchFamily="18" charset="0"/>
                <a:ea typeface="字魂105号-简雅黑" panose="00000500000000000000" pitchFamily="2" charset="-122"/>
                <a:cs typeface="Times New Roman" panose="02020603050405020304" pitchFamily="18" charset="0"/>
                <a:sym typeface="字魂105号-简雅黑" panose="00000500000000000000" pitchFamily="2" charset="-122"/>
              </a:rPr>
              <a:t>Lizardite</a:t>
            </a:r>
            <a:r>
              <a:rPr lang="zh-CN" altLang="en-US" sz="2800" dirty="0">
                <a:latin typeface="宋体" panose="02010600030101010101" pitchFamily="2" charset="-122"/>
                <a:ea typeface="宋体" panose="02010600030101010101" pitchFamily="2" charset="-122"/>
              </a:rPr>
              <a:t>）</a:t>
            </a:r>
          </a:p>
        </p:txBody>
      </p:sp>
      <p:sp>
        <p:nvSpPr>
          <p:cNvPr id="8" name="文本框 7">
            <a:extLst>
              <a:ext uri="{FF2B5EF4-FFF2-40B4-BE49-F238E27FC236}">
                <a16:creationId xmlns:a16="http://schemas.microsoft.com/office/drawing/2014/main" id="{F19892ED-0E73-4FA1-9993-133473385A47}"/>
              </a:ext>
            </a:extLst>
          </p:cNvPr>
          <p:cNvSpPr txBox="1"/>
          <p:nvPr/>
        </p:nvSpPr>
        <p:spPr>
          <a:xfrm>
            <a:off x="4476236" y="2236434"/>
            <a:ext cx="2928552" cy="646331"/>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片层状结构</a:t>
            </a:r>
            <a:endParaRPr lang="en-US" altLang="zh-CN" dirty="0">
              <a:latin typeface="宋体" panose="02010600030101010101" pitchFamily="2" charset="-122"/>
              <a:ea typeface="宋体" panose="02010600030101010101" pitchFamily="2" charset="-122"/>
            </a:endParaRPr>
          </a:p>
          <a:p>
            <a:endParaRPr lang="zh-CN" altLang="en-US" dirty="0"/>
          </a:p>
        </p:txBody>
      </p:sp>
      <p:sp>
        <p:nvSpPr>
          <p:cNvPr id="9" name="文本框 8">
            <a:extLst>
              <a:ext uri="{FF2B5EF4-FFF2-40B4-BE49-F238E27FC236}">
                <a16:creationId xmlns:a16="http://schemas.microsoft.com/office/drawing/2014/main" id="{C2DBEB6D-1609-4BEA-B2FF-2BCEF6FA5DAC}"/>
              </a:ext>
            </a:extLst>
          </p:cNvPr>
          <p:cNvSpPr txBox="1"/>
          <p:nvPr/>
        </p:nvSpPr>
        <p:spPr>
          <a:xfrm>
            <a:off x="8114271" y="1708839"/>
            <a:ext cx="3578312" cy="523220"/>
          </a:xfrm>
          <a:prstGeom prst="rect">
            <a:avLst/>
          </a:prstGeom>
          <a:noFill/>
        </p:spPr>
        <p:txBody>
          <a:bodyPr wrap="square" rtlCol="0">
            <a:spAutoFit/>
          </a:bodyPr>
          <a:lstStyle/>
          <a:p>
            <a:r>
              <a:rPr lang="zh-CN" altLang="en-US" sz="2800" dirty="0">
                <a:latin typeface="宋体" panose="02010600030101010101" pitchFamily="2" charset="-122"/>
                <a:ea typeface="宋体" panose="02010600030101010101" pitchFamily="2" charset="-122"/>
              </a:rPr>
              <a:t>叶蛇纹石（</a:t>
            </a:r>
            <a:r>
              <a:rPr lang="en-US" altLang="zh-CN" sz="2800" dirty="0">
                <a:solidFill>
                  <a:schemeClr val="tx1">
                    <a:lumMod val="75000"/>
                    <a:lumOff val="25000"/>
                  </a:schemeClr>
                </a:solidFill>
                <a:latin typeface="Times New Roman" panose="02020603050405020304" pitchFamily="18" charset="0"/>
                <a:ea typeface="字魂105号-简雅黑" panose="00000500000000000000" pitchFamily="2" charset="-122"/>
                <a:cs typeface="Times New Roman" panose="02020603050405020304" pitchFamily="18" charset="0"/>
                <a:sym typeface="字魂105号-简雅黑" panose="00000500000000000000" pitchFamily="2" charset="-122"/>
              </a:rPr>
              <a:t>Antigorite</a:t>
            </a:r>
            <a:r>
              <a:rPr lang="zh-CN" altLang="en-US" sz="2800" dirty="0">
                <a:latin typeface="宋体" panose="02010600030101010101" pitchFamily="2" charset="-122"/>
                <a:ea typeface="宋体" panose="02010600030101010101" pitchFamily="2" charset="-122"/>
              </a:rPr>
              <a:t>）</a:t>
            </a:r>
          </a:p>
        </p:txBody>
      </p:sp>
      <p:sp>
        <p:nvSpPr>
          <p:cNvPr id="10" name="文本框 9">
            <a:extLst>
              <a:ext uri="{FF2B5EF4-FFF2-40B4-BE49-F238E27FC236}">
                <a16:creationId xmlns:a16="http://schemas.microsoft.com/office/drawing/2014/main" id="{EC11F12F-AA91-4E0C-9866-7E15D834789F}"/>
              </a:ext>
            </a:extLst>
          </p:cNvPr>
          <p:cNvSpPr txBox="1"/>
          <p:nvPr/>
        </p:nvSpPr>
        <p:spPr>
          <a:xfrm>
            <a:off x="8114271" y="2232059"/>
            <a:ext cx="2928552" cy="646331"/>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片层状结构，四面体片周期性倒转</a:t>
            </a:r>
          </a:p>
        </p:txBody>
      </p:sp>
      <p:pic>
        <p:nvPicPr>
          <p:cNvPr id="11" name="图片 10">
            <a:extLst>
              <a:ext uri="{FF2B5EF4-FFF2-40B4-BE49-F238E27FC236}">
                <a16:creationId xmlns:a16="http://schemas.microsoft.com/office/drawing/2014/main" id="{80686D79-2E09-48AC-9784-F46DCC0497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9177" y="2878390"/>
            <a:ext cx="2520000" cy="2520000"/>
          </a:xfrm>
          <a:prstGeom prst="rect">
            <a:avLst/>
          </a:prstGeom>
        </p:spPr>
      </p:pic>
      <p:pic>
        <p:nvPicPr>
          <p:cNvPr id="12" name="图片 11">
            <a:extLst>
              <a:ext uri="{FF2B5EF4-FFF2-40B4-BE49-F238E27FC236}">
                <a16:creationId xmlns:a16="http://schemas.microsoft.com/office/drawing/2014/main" id="{A4CA0C45-6239-4847-BA13-CD64643542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44511" y="2878390"/>
            <a:ext cx="2520000" cy="2520000"/>
          </a:xfrm>
          <a:prstGeom prst="rect">
            <a:avLst/>
          </a:prstGeom>
        </p:spPr>
      </p:pic>
      <p:pic>
        <p:nvPicPr>
          <p:cNvPr id="13" name="图片 12">
            <a:extLst>
              <a:ext uri="{FF2B5EF4-FFF2-40B4-BE49-F238E27FC236}">
                <a16:creationId xmlns:a16="http://schemas.microsoft.com/office/drawing/2014/main" id="{1ED22001-F3F7-4CFE-B341-CE996E13D120}"/>
              </a:ext>
            </a:extLst>
          </p:cNvPr>
          <p:cNvPicPr>
            <a:picLocks noChangeAspect="1"/>
          </p:cNvPicPr>
          <p:nvPr/>
        </p:nvPicPr>
        <p:blipFill rotWithShape="1">
          <a:blip r:embed="rId5">
            <a:extLst>
              <a:ext uri="{28A0092B-C50C-407E-A947-70E740481C1C}">
                <a14:useLocalDpi xmlns:a14="http://schemas.microsoft.com/office/drawing/2010/main" val="0"/>
              </a:ext>
            </a:extLst>
          </a:blip>
          <a:srcRect l="47258"/>
          <a:stretch/>
        </p:blipFill>
        <p:spPr>
          <a:xfrm>
            <a:off x="8554801" y="2878390"/>
            <a:ext cx="2488022" cy="2520000"/>
          </a:xfrm>
          <a:prstGeom prst="rect">
            <a:avLst/>
          </a:prstGeom>
        </p:spPr>
      </p:pic>
      <p:sp>
        <p:nvSpPr>
          <p:cNvPr id="14" name="文本框 13">
            <a:extLst>
              <a:ext uri="{FF2B5EF4-FFF2-40B4-BE49-F238E27FC236}">
                <a16:creationId xmlns:a16="http://schemas.microsoft.com/office/drawing/2014/main" id="{E547EFE6-FF86-49DA-AF8D-4B90EA4768B8}"/>
              </a:ext>
            </a:extLst>
          </p:cNvPr>
          <p:cNvSpPr txBox="1"/>
          <p:nvPr/>
        </p:nvSpPr>
        <p:spPr>
          <a:xfrm>
            <a:off x="-63843" y="6581001"/>
            <a:ext cx="1268296" cy="276999"/>
          </a:xfrm>
          <a:prstGeom prst="rect">
            <a:avLst/>
          </a:prstGeom>
          <a:noFill/>
        </p:spPr>
        <p:txBody>
          <a:bodyPr wrap="none" rtlCol="0">
            <a:spAutoFit/>
          </a:bodyPr>
          <a:lstStyle/>
          <a:p>
            <a:r>
              <a:rPr lang="zh-CN" altLang="en-US" sz="1200" dirty="0"/>
              <a:t>图源：</a:t>
            </a:r>
            <a:r>
              <a:rPr lang="en-US" altLang="zh-CN" sz="1200" dirty="0">
                <a:latin typeface="Times New Roman" panose="02020603050405020304" pitchFamily="18" charset="0"/>
                <a:cs typeface="Times New Roman" panose="02020603050405020304" pitchFamily="18" charset="0"/>
              </a:rPr>
              <a:t>TEM tech</a:t>
            </a:r>
            <a:endParaRPr lang="zh-CN" altLang="en-US" sz="1200" dirty="0">
              <a:latin typeface="Times New Roman" panose="02020603050405020304" pitchFamily="18" charset="0"/>
              <a:cs typeface="Times New Roman" panose="02020603050405020304" pitchFamily="18" charset="0"/>
            </a:endParaRPr>
          </a:p>
        </p:txBody>
      </p:sp>
      <p:cxnSp>
        <p:nvCxnSpPr>
          <p:cNvPr id="16" name="直接连接符 15">
            <a:extLst>
              <a:ext uri="{FF2B5EF4-FFF2-40B4-BE49-F238E27FC236}">
                <a16:creationId xmlns:a16="http://schemas.microsoft.com/office/drawing/2014/main" id="{CD74272A-30BE-4663-B179-D887784EC654}"/>
              </a:ext>
            </a:extLst>
          </p:cNvPr>
          <p:cNvCxnSpPr>
            <a:cxnSpLocks/>
          </p:cNvCxnSpPr>
          <p:nvPr/>
        </p:nvCxnSpPr>
        <p:spPr>
          <a:xfrm>
            <a:off x="4476236" y="1690688"/>
            <a:ext cx="0" cy="4469539"/>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a:extLst>
              <a:ext uri="{FF2B5EF4-FFF2-40B4-BE49-F238E27FC236}">
                <a16:creationId xmlns:a16="http://schemas.microsoft.com/office/drawing/2014/main" id="{CABAF8AB-01CB-41EC-9B30-A6C7FA63B23D}"/>
              </a:ext>
            </a:extLst>
          </p:cNvPr>
          <p:cNvCxnSpPr>
            <a:cxnSpLocks/>
          </p:cNvCxnSpPr>
          <p:nvPr/>
        </p:nvCxnSpPr>
        <p:spPr>
          <a:xfrm>
            <a:off x="7989673" y="1690688"/>
            <a:ext cx="0" cy="446953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9063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F5965-D055-46EC-8917-D81D77F66309}"/>
              </a:ext>
            </a:extLst>
          </p:cNvPr>
          <p:cNvSpPr>
            <a:spLocks noGrp="1"/>
          </p:cNvSpPr>
          <p:nvPr>
            <p:ph type="title"/>
          </p:nvPr>
        </p:nvSpPr>
        <p:spPr/>
        <p:txBody>
          <a:bodyPr/>
          <a:lstStyle/>
          <a:p>
            <a:r>
              <a:rPr lang="zh-CN" altLang="en-US" sz="4400" dirty="0">
                <a:latin typeface="宋体" panose="02010600030101010101" pitchFamily="2" charset="-122"/>
                <a:ea typeface="宋体" panose="02010600030101010101" pitchFamily="2" charset="-122"/>
              </a:rPr>
              <a:t>技术路线</a:t>
            </a:r>
            <a:endParaRPr lang="zh-CN" altLang="en-US" dirty="0">
              <a:latin typeface="宋体" panose="02010600030101010101" pitchFamily="2" charset="-122"/>
              <a:ea typeface="宋体" panose="02010600030101010101" pitchFamily="2" charset="-122"/>
            </a:endParaRPr>
          </a:p>
        </p:txBody>
      </p:sp>
      <p:sp>
        <p:nvSpPr>
          <p:cNvPr id="4" name="箭头: V 形 3">
            <a:extLst>
              <a:ext uri="{FF2B5EF4-FFF2-40B4-BE49-F238E27FC236}">
                <a16:creationId xmlns:a16="http://schemas.microsoft.com/office/drawing/2014/main" id="{59DA66D3-B602-4E2F-9AA6-76678320374F}"/>
              </a:ext>
            </a:extLst>
          </p:cNvPr>
          <p:cNvSpPr/>
          <p:nvPr/>
        </p:nvSpPr>
        <p:spPr>
          <a:xfrm>
            <a:off x="1841158" y="2990335"/>
            <a:ext cx="2224216" cy="877330"/>
          </a:xfrm>
          <a:prstGeom prst="chevr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solidFill>
                  <a:schemeClr val="tx1"/>
                </a:solidFill>
                <a:latin typeface="宋体" panose="02010600030101010101" pitchFamily="2" charset="-122"/>
                <a:ea typeface="宋体" panose="02010600030101010101" pitchFamily="2" charset="-122"/>
              </a:rPr>
              <a:t>搜集数据</a:t>
            </a:r>
          </a:p>
        </p:txBody>
      </p:sp>
      <p:sp>
        <p:nvSpPr>
          <p:cNvPr id="5" name="箭头: V 形 4">
            <a:extLst>
              <a:ext uri="{FF2B5EF4-FFF2-40B4-BE49-F238E27FC236}">
                <a16:creationId xmlns:a16="http://schemas.microsoft.com/office/drawing/2014/main" id="{4A0A0CC0-E6F3-4467-82A4-4919FD860A57}"/>
              </a:ext>
            </a:extLst>
          </p:cNvPr>
          <p:cNvSpPr/>
          <p:nvPr/>
        </p:nvSpPr>
        <p:spPr>
          <a:xfrm>
            <a:off x="3871784" y="2990335"/>
            <a:ext cx="2224216" cy="877330"/>
          </a:xfrm>
          <a:prstGeom prst="chevr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solidFill>
                  <a:schemeClr val="tx1"/>
                </a:solidFill>
                <a:latin typeface="宋体" panose="02010600030101010101" pitchFamily="2" charset="-122"/>
                <a:ea typeface="宋体" panose="02010600030101010101" pitchFamily="2" charset="-122"/>
              </a:rPr>
              <a:t>数据清理</a:t>
            </a:r>
          </a:p>
        </p:txBody>
      </p:sp>
      <p:sp>
        <p:nvSpPr>
          <p:cNvPr id="6" name="箭头: V 形 5">
            <a:extLst>
              <a:ext uri="{FF2B5EF4-FFF2-40B4-BE49-F238E27FC236}">
                <a16:creationId xmlns:a16="http://schemas.microsoft.com/office/drawing/2014/main" id="{43D665BF-509E-4178-AF2B-3FE14EB9D97D}"/>
              </a:ext>
            </a:extLst>
          </p:cNvPr>
          <p:cNvSpPr/>
          <p:nvPr/>
        </p:nvSpPr>
        <p:spPr>
          <a:xfrm>
            <a:off x="5902410" y="2990335"/>
            <a:ext cx="2224216" cy="877330"/>
          </a:xfrm>
          <a:prstGeom prst="chevr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a:solidFill>
                  <a:schemeClr val="tx1"/>
                </a:solidFill>
                <a:latin typeface="宋体" panose="02010600030101010101" pitchFamily="2" charset="-122"/>
                <a:ea typeface="宋体" panose="02010600030101010101" pitchFamily="2" charset="-122"/>
              </a:rPr>
              <a:t>机器学习</a:t>
            </a:r>
            <a:endParaRPr lang="en-US" altLang="zh-CN">
              <a:solidFill>
                <a:schemeClr val="tx1"/>
              </a:solidFill>
              <a:latin typeface="宋体" panose="02010600030101010101" pitchFamily="2" charset="-122"/>
              <a:ea typeface="宋体" panose="02010600030101010101" pitchFamily="2" charset="-122"/>
            </a:endParaRPr>
          </a:p>
          <a:p>
            <a:pPr algn="ctr"/>
            <a:r>
              <a:rPr lang="zh-CN" altLang="en-US" dirty="0">
                <a:solidFill>
                  <a:schemeClr val="tx1"/>
                </a:solidFill>
                <a:latin typeface="宋体" panose="02010600030101010101" pitchFamily="2" charset="-122"/>
                <a:ea typeface="宋体" panose="02010600030101010101" pitchFamily="2" charset="-122"/>
              </a:rPr>
              <a:t>聚类分析</a:t>
            </a:r>
          </a:p>
        </p:txBody>
      </p:sp>
      <p:sp>
        <p:nvSpPr>
          <p:cNvPr id="7" name="箭头: V 形 6">
            <a:extLst>
              <a:ext uri="{FF2B5EF4-FFF2-40B4-BE49-F238E27FC236}">
                <a16:creationId xmlns:a16="http://schemas.microsoft.com/office/drawing/2014/main" id="{7C91DCEC-9CFC-4EE2-A7D1-85FBE26CBE99}"/>
              </a:ext>
            </a:extLst>
          </p:cNvPr>
          <p:cNvSpPr/>
          <p:nvPr/>
        </p:nvSpPr>
        <p:spPr>
          <a:xfrm>
            <a:off x="7933036" y="2990335"/>
            <a:ext cx="2224216" cy="877330"/>
          </a:xfrm>
          <a:prstGeom prst="chevr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solidFill>
                  <a:schemeClr val="tx1"/>
                </a:solidFill>
                <a:latin typeface="宋体" panose="02010600030101010101" pitchFamily="2" charset="-122"/>
                <a:ea typeface="宋体" panose="02010600030101010101" pitchFamily="2" charset="-122"/>
              </a:rPr>
              <a:t>建立模型</a:t>
            </a:r>
          </a:p>
        </p:txBody>
      </p:sp>
      <p:sp>
        <p:nvSpPr>
          <p:cNvPr id="8" name="文本框 7">
            <a:extLst>
              <a:ext uri="{FF2B5EF4-FFF2-40B4-BE49-F238E27FC236}">
                <a16:creationId xmlns:a16="http://schemas.microsoft.com/office/drawing/2014/main" id="{A3EEA8F7-AA6B-467E-B84B-C6913EAEFE9D}"/>
              </a:ext>
            </a:extLst>
          </p:cNvPr>
          <p:cNvSpPr txBox="1"/>
          <p:nvPr/>
        </p:nvSpPr>
        <p:spPr>
          <a:xfrm>
            <a:off x="6096000" y="4151871"/>
            <a:ext cx="2030626" cy="64633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SVM</a:t>
            </a:r>
          </a:p>
          <a:p>
            <a:r>
              <a:rPr lang="en-US" altLang="zh-CN" dirty="0" err="1">
                <a:latin typeface="Times New Roman" panose="02020603050405020304" pitchFamily="18" charset="0"/>
                <a:cs typeface="Times New Roman" panose="02020603050405020304" pitchFamily="18" charset="0"/>
              </a:rPr>
              <a:t>KMeans</a:t>
            </a:r>
            <a:endParaRPr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E5B6692C-1D77-480B-850F-8047035FC15C}"/>
              </a:ext>
            </a:extLst>
          </p:cNvPr>
          <p:cNvSpPr txBox="1"/>
          <p:nvPr/>
        </p:nvSpPr>
        <p:spPr>
          <a:xfrm>
            <a:off x="4065374" y="4151871"/>
            <a:ext cx="2030626" cy="646331"/>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错误</a:t>
            </a:r>
            <a:r>
              <a:rPr lang="en-US" altLang="zh-CN" dirty="0">
                <a:latin typeface="宋体" panose="02010600030101010101" pitchFamily="2" charset="-122"/>
                <a:ea typeface="宋体" panose="02010600030101010101" pitchFamily="2" charset="-122"/>
              </a:rPr>
              <a:t>-&gt;</a:t>
            </a:r>
            <a:r>
              <a:rPr lang="zh-CN" altLang="en-US" dirty="0">
                <a:latin typeface="宋体" panose="02010600030101010101" pitchFamily="2" charset="-122"/>
                <a:ea typeface="宋体" panose="02010600030101010101" pitchFamily="2" charset="-122"/>
              </a:rPr>
              <a:t>修正</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空缺</a:t>
            </a:r>
            <a:r>
              <a:rPr lang="en-US" altLang="zh-CN" dirty="0">
                <a:latin typeface="宋体" panose="02010600030101010101" pitchFamily="2" charset="-122"/>
                <a:ea typeface="宋体" panose="02010600030101010101" pitchFamily="2" charset="-122"/>
              </a:rPr>
              <a:t>-&gt;</a:t>
            </a:r>
            <a:r>
              <a:rPr lang="zh-CN" altLang="en-US" dirty="0">
                <a:latin typeface="宋体" panose="02010600030101010101" pitchFamily="2" charset="-122"/>
                <a:ea typeface="宋体" panose="02010600030101010101" pitchFamily="2" charset="-122"/>
              </a:rPr>
              <a:t>充填</a:t>
            </a:r>
          </a:p>
        </p:txBody>
      </p:sp>
      <p:sp>
        <p:nvSpPr>
          <p:cNvPr id="10" name="文本框 9">
            <a:extLst>
              <a:ext uri="{FF2B5EF4-FFF2-40B4-BE49-F238E27FC236}">
                <a16:creationId xmlns:a16="http://schemas.microsoft.com/office/drawing/2014/main" id="{A14650B7-A037-415A-8FE0-1ECFC5C324FB}"/>
              </a:ext>
            </a:extLst>
          </p:cNvPr>
          <p:cNvSpPr txBox="1"/>
          <p:nvPr/>
        </p:nvSpPr>
        <p:spPr>
          <a:xfrm>
            <a:off x="1937953" y="4151870"/>
            <a:ext cx="2030626" cy="646331"/>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文献中蛇纹石主量成分分析的数据</a:t>
            </a:r>
          </a:p>
        </p:txBody>
      </p:sp>
      <p:sp>
        <p:nvSpPr>
          <p:cNvPr id="11" name="文本框 10">
            <a:extLst>
              <a:ext uri="{FF2B5EF4-FFF2-40B4-BE49-F238E27FC236}">
                <a16:creationId xmlns:a16="http://schemas.microsoft.com/office/drawing/2014/main" id="{8B50B3BC-8DE3-4AA2-9335-B208C6C9657C}"/>
              </a:ext>
            </a:extLst>
          </p:cNvPr>
          <p:cNvSpPr txBox="1"/>
          <p:nvPr/>
        </p:nvSpPr>
        <p:spPr>
          <a:xfrm>
            <a:off x="8126626" y="4151870"/>
            <a:ext cx="2030626" cy="646331"/>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蛇纹石多型成分差别的模型</a:t>
            </a:r>
          </a:p>
        </p:txBody>
      </p:sp>
    </p:spTree>
    <p:extLst>
      <p:ext uri="{BB962C8B-B14F-4D97-AF65-F5344CB8AC3E}">
        <p14:creationId xmlns:p14="http://schemas.microsoft.com/office/powerpoint/2010/main" val="424638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5024E-0E93-4908-A809-A4277E8EB0DF}"/>
              </a:ext>
            </a:extLst>
          </p:cNvPr>
          <p:cNvSpPr>
            <a:spLocks noGrp="1"/>
          </p:cNvSpPr>
          <p:nvPr>
            <p:ph type="title"/>
          </p:nvPr>
        </p:nvSpPr>
        <p:spPr/>
        <p:txBody>
          <a:bodyPr/>
          <a:lstStyle/>
          <a:p>
            <a:r>
              <a:rPr lang="zh-CN" altLang="en-US" sz="4400" dirty="0">
                <a:latin typeface="宋体" panose="02010600030101010101" pitchFamily="2" charset="-122"/>
                <a:ea typeface="宋体" panose="02010600030101010101" pitchFamily="2" charset="-122"/>
              </a:rPr>
              <a:t>可行性分析</a:t>
            </a:r>
            <a:endParaRPr lang="zh-CN" altLang="en-US" dirty="0">
              <a:latin typeface="宋体" panose="02010600030101010101" pitchFamily="2" charset="-122"/>
              <a:ea typeface="宋体" panose="02010600030101010101" pitchFamily="2" charset="-122"/>
            </a:endParaRPr>
          </a:p>
        </p:txBody>
      </p:sp>
      <p:sp>
        <p:nvSpPr>
          <p:cNvPr id="3" name="内容占位符 2">
            <a:extLst>
              <a:ext uri="{FF2B5EF4-FFF2-40B4-BE49-F238E27FC236}">
                <a16:creationId xmlns:a16="http://schemas.microsoft.com/office/drawing/2014/main" id="{E05425E2-2A57-460C-AD50-814951E09706}"/>
              </a:ext>
            </a:extLst>
          </p:cNvPr>
          <p:cNvSpPr>
            <a:spLocks noGrp="1"/>
          </p:cNvSpPr>
          <p:nvPr>
            <p:ph idx="1"/>
          </p:nvPr>
        </p:nvSpPr>
        <p:spPr>
          <a:xfrm>
            <a:off x="838200" y="1825625"/>
            <a:ext cx="10515600" cy="4351338"/>
          </a:xfrm>
        </p:spPr>
        <p:txBody>
          <a:bodyPr/>
          <a:lstStyle/>
          <a:p>
            <a:r>
              <a:rPr lang="zh-CN" altLang="en-US" dirty="0">
                <a:latin typeface="宋体" panose="02010600030101010101" pitchFamily="2" charset="-122"/>
                <a:ea typeface="宋体" panose="02010600030101010101" pitchFamily="2" charset="-122"/>
              </a:rPr>
              <a:t>近十几年许多学者使用不同方法手段对蛇纹石成分进行研究，大量实验数据可获取</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机器学习技术成熟，大量机器学习库可用</a:t>
            </a:r>
            <a:endParaRPr lang="en-US" altLang="zh-CN" dirty="0">
              <a:latin typeface="宋体" panose="02010600030101010101" pitchFamily="2" charset="-122"/>
              <a:ea typeface="宋体" panose="02010600030101010101" pitchFamily="2" charset="-122"/>
            </a:endParaRPr>
          </a:p>
          <a:p>
            <a:endParaRPr lang="zh-CN" altLang="en-US" sz="3200" dirty="0">
              <a:solidFill>
                <a:srgbClr val="000000"/>
              </a:solidFill>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80119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CDFEAC-38D9-4023-A5AA-6EF47015ECAB}"/>
              </a:ext>
            </a:extLst>
          </p:cNvPr>
          <p:cNvSpPr>
            <a:spLocks noGrp="1"/>
          </p:cNvSpPr>
          <p:nvPr>
            <p:ph type="title"/>
          </p:nvPr>
        </p:nvSpPr>
        <p:spPr/>
        <p:txBody>
          <a:bodyPr/>
          <a:lstStyle/>
          <a:p>
            <a:r>
              <a:rPr lang="zh-CN" altLang="en-US" sz="4400" dirty="0">
                <a:latin typeface="宋体" panose="02010600030101010101" pitchFamily="2" charset="-122"/>
                <a:ea typeface="宋体" panose="02010600030101010101" pitchFamily="2" charset="-122"/>
              </a:rPr>
              <a:t>进度安排</a:t>
            </a:r>
            <a:endParaRPr lang="zh-CN" altLang="en-US" dirty="0">
              <a:latin typeface="宋体" panose="02010600030101010101" pitchFamily="2" charset="-122"/>
              <a:ea typeface="宋体" panose="02010600030101010101" pitchFamily="2" charset="-122"/>
            </a:endParaRPr>
          </a:p>
        </p:txBody>
      </p:sp>
      <p:sp>
        <p:nvSpPr>
          <p:cNvPr id="3" name="内容占位符 2">
            <a:extLst>
              <a:ext uri="{FF2B5EF4-FFF2-40B4-BE49-F238E27FC236}">
                <a16:creationId xmlns:a16="http://schemas.microsoft.com/office/drawing/2014/main" id="{913F7BD6-7344-45DD-BDAE-3CD35FDA8096}"/>
              </a:ext>
            </a:extLst>
          </p:cNvPr>
          <p:cNvSpPr>
            <a:spLocks noGrp="1"/>
          </p:cNvSpPr>
          <p:nvPr>
            <p:ph idx="1"/>
          </p:nvPr>
        </p:nvSpPr>
        <p:spPr>
          <a:xfrm>
            <a:off x="838200" y="1356067"/>
            <a:ext cx="10515600" cy="5341295"/>
          </a:xfrm>
        </p:spPr>
        <p:txBody>
          <a:bodyPr>
            <a:normAutofit fontScale="40000" lnSpcReduction="20000"/>
          </a:bodyPr>
          <a:lstStyle/>
          <a:p>
            <a:pPr>
              <a:lnSpc>
                <a:spcPct val="120000"/>
              </a:lnSpc>
            </a:pPr>
            <a:r>
              <a:rPr lang="en-US" altLang="zh-CN" sz="4500" dirty="0">
                <a:latin typeface="宋体" panose="02010600030101010101" pitchFamily="2" charset="-122"/>
                <a:ea typeface="宋体" panose="02010600030101010101" pitchFamily="2" charset="-122"/>
              </a:rPr>
              <a:t>2020</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12</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29</a:t>
            </a:r>
            <a:r>
              <a:rPr lang="zh-CN" altLang="en-US" sz="4500" dirty="0">
                <a:latin typeface="宋体" panose="02010600030101010101" pitchFamily="2" charset="-122"/>
                <a:ea typeface="宋体" panose="02010600030101010101" pitchFamily="2" charset="-122"/>
              </a:rPr>
              <a:t>日</a:t>
            </a: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1</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11</a:t>
            </a:r>
            <a:r>
              <a:rPr lang="zh-CN" altLang="en-US" sz="4500" dirty="0">
                <a:latin typeface="宋体" panose="02010600030101010101" pitchFamily="2" charset="-122"/>
                <a:ea typeface="宋体" panose="02010600030101010101" pitchFamily="2" charset="-122"/>
              </a:rPr>
              <a:t>日，完成文献综述和文献翻译。初步完成开题报告相关内容。</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1</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12</a:t>
            </a:r>
            <a:r>
              <a:rPr lang="zh-CN" altLang="en-US" sz="4500" dirty="0">
                <a:latin typeface="宋体" panose="02010600030101010101" pitchFamily="2" charset="-122"/>
                <a:ea typeface="宋体" panose="02010600030101010101" pitchFamily="2" charset="-122"/>
              </a:rPr>
              <a:t>日</a:t>
            </a: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1</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17</a:t>
            </a:r>
            <a:r>
              <a:rPr lang="zh-CN" altLang="en-US" sz="4500" dirty="0">
                <a:latin typeface="宋体" panose="02010600030101010101" pitchFamily="2" charset="-122"/>
                <a:ea typeface="宋体" panose="02010600030101010101" pitchFamily="2" charset="-122"/>
              </a:rPr>
              <a:t>日，完成开题报告内容和答辩</a:t>
            </a:r>
            <a:r>
              <a:rPr lang="en-US" altLang="zh-CN" sz="4500" dirty="0">
                <a:latin typeface="Times New Roman" panose="02020603050405020304" pitchFamily="18" charset="0"/>
                <a:ea typeface="宋体" panose="02010600030101010101" pitchFamily="2" charset="-122"/>
                <a:cs typeface="Times New Roman" panose="02020603050405020304" pitchFamily="18" charset="0"/>
              </a:rPr>
              <a:t>ppt</a:t>
            </a:r>
            <a:r>
              <a:rPr lang="zh-CN" altLang="en-US" sz="4500" dirty="0">
                <a:latin typeface="宋体" panose="02010600030101010101" pitchFamily="2" charset="-122"/>
                <a:ea typeface="宋体" panose="02010600030101010101" pitchFamily="2" charset="-122"/>
              </a:rPr>
              <a:t>。</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1</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22</a:t>
            </a:r>
            <a:r>
              <a:rPr lang="zh-CN" altLang="en-US" sz="4500" dirty="0">
                <a:latin typeface="宋体" panose="02010600030101010101" pitchFamily="2" charset="-122"/>
                <a:ea typeface="宋体" panose="02010600030101010101" pitchFamily="2" charset="-122"/>
              </a:rPr>
              <a:t>日，进行开题报告预答辩。</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1</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19</a:t>
            </a:r>
            <a:r>
              <a:rPr lang="zh-CN" altLang="en-US" sz="4500" dirty="0">
                <a:latin typeface="宋体" panose="02010600030101010101" pitchFamily="2" charset="-122"/>
                <a:ea typeface="宋体" panose="02010600030101010101" pitchFamily="2" charset="-122"/>
              </a:rPr>
              <a:t>日</a:t>
            </a: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2</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28</a:t>
            </a:r>
            <a:r>
              <a:rPr lang="zh-CN" altLang="en-US" sz="4500" dirty="0">
                <a:latin typeface="宋体" panose="02010600030101010101" pitchFamily="2" charset="-122"/>
                <a:ea typeface="宋体" panose="02010600030101010101" pitchFamily="2" charset="-122"/>
              </a:rPr>
              <a:t>日，开始熟悉</a:t>
            </a:r>
            <a:r>
              <a:rPr lang="en-US" altLang="zh-CN" sz="4500" dirty="0">
                <a:latin typeface="Times New Roman" panose="02020603050405020304" pitchFamily="18" charset="0"/>
                <a:ea typeface="宋体" panose="02010600030101010101" pitchFamily="2" charset="-122"/>
                <a:cs typeface="Times New Roman" panose="02020603050405020304" pitchFamily="18" charset="0"/>
              </a:rPr>
              <a:t>Python</a:t>
            </a:r>
            <a:r>
              <a:rPr lang="zh-CN" altLang="en-US" sz="4500" dirty="0">
                <a:latin typeface="宋体" panose="02010600030101010101" pitchFamily="2" charset="-122"/>
                <a:ea typeface="宋体" panose="02010600030101010101" pitchFamily="2" charset="-122"/>
              </a:rPr>
              <a:t>环境下，</a:t>
            </a:r>
            <a:r>
              <a:rPr lang="en-US" altLang="zh-CN" sz="4500" dirty="0">
                <a:latin typeface="Times New Roman" panose="02020603050405020304" pitchFamily="18" charset="0"/>
                <a:ea typeface="宋体" panose="02010600030101010101" pitchFamily="2" charset="-122"/>
                <a:cs typeface="Times New Roman" panose="02020603050405020304" pitchFamily="18" charset="0"/>
              </a:rPr>
              <a:t>SVM</a:t>
            </a:r>
            <a:r>
              <a:rPr lang="zh-CN" altLang="en-US" sz="4500" dirty="0">
                <a:latin typeface="宋体" panose="02010600030101010101" pitchFamily="2" charset="-122"/>
                <a:ea typeface="宋体" panose="02010600030101010101" pitchFamily="2" charset="-122"/>
              </a:rPr>
              <a:t>和</a:t>
            </a:r>
            <a:r>
              <a:rPr lang="en-US" altLang="zh-CN" sz="4500" dirty="0" err="1">
                <a:latin typeface="Times New Roman" panose="02020603050405020304" pitchFamily="18" charset="0"/>
                <a:ea typeface="宋体" panose="02010600030101010101" pitchFamily="2" charset="-122"/>
                <a:cs typeface="Times New Roman" panose="02020603050405020304" pitchFamily="18" charset="0"/>
              </a:rPr>
              <a:t>Kmeans</a:t>
            </a:r>
            <a:r>
              <a:rPr lang="zh-CN" altLang="en-US" sz="4500" dirty="0">
                <a:latin typeface="宋体" panose="02010600030101010101" pitchFamily="2" charset="-122"/>
                <a:ea typeface="宋体" panose="02010600030101010101" pitchFamily="2" charset="-122"/>
              </a:rPr>
              <a:t>两种机器学习方法的调试和应用。</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1</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26</a:t>
            </a:r>
            <a:r>
              <a:rPr lang="zh-CN" altLang="en-US" sz="4500" dirty="0">
                <a:latin typeface="宋体" panose="02010600030101010101" pitchFamily="2" charset="-122"/>
                <a:ea typeface="宋体" panose="02010600030101010101" pitchFamily="2" charset="-122"/>
              </a:rPr>
              <a:t>日，进行开题报告最终答辩。</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3</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a:t>
            </a:r>
            <a:r>
              <a:rPr lang="zh-CN" altLang="en-US" sz="4500" dirty="0">
                <a:latin typeface="宋体" panose="02010600030101010101" pitchFamily="2" charset="-122"/>
                <a:ea typeface="宋体" panose="02010600030101010101" pitchFamily="2" charset="-122"/>
              </a:rPr>
              <a:t>日</a:t>
            </a: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4</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15</a:t>
            </a:r>
            <a:r>
              <a:rPr lang="zh-CN" altLang="en-US" sz="4500" dirty="0">
                <a:latin typeface="宋体" panose="02010600030101010101" pitchFamily="2" charset="-122"/>
                <a:ea typeface="宋体" panose="02010600030101010101" pitchFamily="2" charset="-122"/>
              </a:rPr>
              <a:t>日，在已有数据的基础上，完成</a:t>
            </a:r>
            <a:r>
              <a:rPr lang="en-US" altLang="zh-CN" sz="4500" dirty="0">
                <a:latin typeface="Times New Roman" panose="02020603050405020304" pitchFamily="18" charset="0"/>
                <a:ea typeface="宋体" panose="02010600030101010101" pitchFamily="2" charset="-122"/>
                <a:cs typeface="Times New Roman" panose="02020603050405020304" pitchFamily="18" charset="0"/>
              </a:rPr>
              <a:t>SVM</a:t>
            </a:r>
            <a:r>
              <a:rPr lang="zh-CN" altLang="en-US" sz="4500" dirty="0">
                <a:latin typeface="宋体" panose="02010600030101010101" pitchFamily="2" charset="-122"/>
                <a:ea typeface="宋体" panose="02010600030101010101" pitchFamily="2" charset="-122"/>
              </a:rPr>
              <a:t>和</a:t>
            </a:r>
            <a:r>
              <a:rPr lang="en-US" altLang="zh-CN" sz="4500" dirty="0" err="1">
                <a:latin typeface="Times New Roman" panose="02020603050405020304" pitchFamily="18" charset="0"/>
                <a:ea typeface="宋体" panose="02010600030101010101" pitchFamily="2" charset="-122"/>
                <a:cs typeface="Times New Roman" panose="02020603050405020304" pitchFamily="18" charset="0"/>
              </a:rPr>
              <a:t>Kmeans</a:t>
            </a:r>
            <a:r>
              <a:rPr lang="zh-CN" altLang="en-US" sz="4500" dirty="0">
                <a:latin typeface="宋体" panose="02010600030101010101" pitchFamily="2" charset="-122"/>
                <a:ea typeface="宋体" panose="02010600030101010101" pitchFamily="2" charset="-122"/>
              </a:rPr>
              <a:t>两种机器学习方法的应用，并得出相关结果。</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4</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16</a:t>
            </a:r>
            <a:r>
              <a:rPr lang="zh-CN" altLang="en-US" sz="4500" dirty="0">
                <a:latin typeface="宋体" panose="02010600030101010101" pitchFamily="2" charset="-122"/>
                <a:ea typeface="宋体" panose="02010600030101010101" pitchFamily="2" charset="-122"/>
              </a:rPr>
              <a:t>日</a:t>
            </a: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5</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15</a:t>
            </a:r>
            <a:r>
              <a:rPr lang="zh-CN" altLang="en-US" sz="4500" dirty="0">
                <a:latin typeface="宋体" panose="02010600030101010101" pitchFamily="2" charset="-122"/>
                <a:ea typeface="宋体" panose="02010600030101010101" pitchFamily="2" charset="-122"/>
              </a:rPr>
              <a:t>日，完成论文撰写工作。</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5</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16</a:t>
            </a:r>
            <a:r>
              <a:rPr lang="zh-CN" altLang="en-US" sz="4500" dirty="0">
                <a:latin typeface="宋体" panose="02010600030101010101" pitchFamily="2" charset="-122"/>
                <a:ea typeface="宋体" panose="02010600030101010101" pitchFamily="2" charset="-122"/>
              </a:rPr>
              <a:t>日</a:t>
            </a: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6</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7</a:t>
            </a:r>
            <a:r>
              <a:rPr lang="zh-CN" altLang="en-US" sz="4500" dirty="0">
                <a:latin typeface="宋体" panose="02010600030101010101" pitchFamily="2" charset="-122"/>
                <a:ea typeface="宋体" panose="02010600030101010101" pitchFamily="2" charset="-122"/>
              </a:rPr>
              <a:t>日，完成答辩</a:t>
            </a:r>
            <a:r>
              <a:rPr lang="en-US" altLang="zh-CN" sz="4500" dirty="0">
                <a:latin typeface="Times New Roman" panose="02020603050405020304" pitchFamily="18" charset="0"/>
                <a:ea typeface="宋体" panose="02010600030101010101" pitchFamily="2" charset="-122"/>
                <a:cs typeface="Times New Roman" panose="02020603050405020304" pitchFamily="18" charset="0"/>
              </a:rPr>
              <a:t>ppt</a:t>
            </a:r>
            <a:r>
              <a:rPr lang="zh-CN" altLang="en-US" sz="4500" dirty="0">
                <a:latin typeface="宋体" panose="02010600030101010101" pitchFamily="2" charset="-122"/>
                <a:ea typeface="宋体" panose="02010600030101010101" pitchFamily="2" charset="-122"/>
              </a:rPr>
              <a:t>和论文查重工作。</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6</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8</a:t>
            </a:r>
            <a:r>
              <a:rPr lang="zh-CN" altLang="en-US" sz="4500" dirty="0">
                <a:latin typeface="宋体" panose="02010600030101010101" pitchFamily="2" charset="-122"/>
                <a:ea typeface="宋体" panose="02010600030101010101" pitchFamily="2" charset="-122"/>
              </a:rPr>
              <a:t>日，完成预答辩。</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6</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8</a:t>
            </a:r>
            <a:r>
              <a:rPr lang="zh-CN" altLang="en-US" sz="4500" dirty="0">
                <a:latin typeface="宋体" panose="02010600030101010101" pitchFamily="2" charset="-122"/>
                <a:ea typeface="宋体" panose="02010600030101010101" pitchFamily="2" charset="-122"/>
              </a:rPr>
              <a:t>日</a:t>
            </a: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6</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11</a:t>
            </a:r>
            <a:r>
              <a:rPr lang="zh-CN" altLang="en-US" sz="4500" dirty="0">
                <a:latin typeface="宋体" panose="02010600030101010101" pitchFamily="2" charset="-122"/>
                <a:ea typeface="宋体" panose="02010600030101010101" pitchFamily="2" charset="-122"/>
              </a:rPr>
              <a:t>日，基于预答辩结果，修改答辩</a:t>
            </a:r>
            <a:r>
              <a:rPr lang="en-US" altLang="zh-CN" sz="4500" dirty="0">
                <a:latin typeface="Times New Roman" panose="02020603050405020304" pitchFamily="18" charset="0"/>
                <a:ea typeface="宋体" panose="02010600030101010101" pitchFamily="2" charset="-122"/>
                <a:cs typeface="Times New Roman" panose="02020603050405020304" pitchFamily="18" charset="0"/>
              </a:rPr>
              <a:t>ppt</a:t>
            </a:r>
            <a:r>
              <a:rPr lang="zh-CN" altLang="en-US" sz="4500" dirty="0">
                <a:latin typeface="宋体" panose="02010600030101010101" pitchFamily="2" charset="-122"/>
                <a:ea typeface="宋体" panose="02010600030101010101" pitchFamily="2" charset="-122"/>
              </a:rPr>
              <a:t>。</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6</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12</a:t>
            </a:r>
            <a:r>
              <a:rPr lang="zh-CN" altLang="en-US" sz="4500" dirty="0">
                <a:latin typeface="宋体" panose="02010600030101010101" pitchFamily="2" charset="-122"/>
                <a:ea typeface="宋体" panose="02010600030101010101" pitchFamily="2" charset="-122"/>
              </a:rPr>
              <a:t>日，完成最终答辩。</a:t>
            </a:r>
          </a:p>
          <a:p>
            <a:pPr>
              <a:lnSpc>
                <a:spcPct val="120000"/>
              </a:lnSpc>
            </a:pP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6</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12</a:t>
            </a:r>
            <a:r>
              <a:rPr lang="zh-CN" altLang="en-US" sz="4500" dirty="0">
                <a:latin typeface="宋体" panose="02010600030101010101" pitchFamily="2" charset="-122"/>
                <a:ea typeface="宋体" panose="02010600030101010101" pitchFamily="2" charset="-122"/>
              </a:rPr>
              <a:t>日</a:t>
            </a:r>
            <a:r>
              <a:rPr lang="en-US" altLang="zh-CN" sz="4500" dirty="0">
                <a:latin typeface="宋体" panose="02010600030101010101" pitchFamily="2" charset="-122"/>
                <a:ea typeface="宋体" panose="02010600030101010101" pitchFamily="2" charset="-122"/>
              </a:rPr>
              <a:t>-2021</a:t>
            </a:r>
            <a:r>
              <a:rPr lang="zh-CN" altLang="en-US" sz="4500" dirty="0">
                <a:latin typeface="宋体" panose="02010600030101010101" pitchFamily="2" charset="-122"/>
                <a:ea typeface="宋体" panose="02010600030101010101" pitchFamily="2" charset="-122"/>
              </a:rPr>
              <a:t>年</a:t>
            </a:r>
            <a:r>
              <a:rPr lang="en-US" altLang="zh-CN" sz="4500" dirty="0">
                <a:latin typeface="宋体" panose="02010600030101010101" pitchFamily="2" charset="-122"/>
                <a:ea typeface="宋体" panose="02010600030101010101" pitchFamily="2" charset="-122"/>
              </a:rPr>
              <a:t>6</a:t>
            </a:r>
            <a:r>
              <a:rPr lang="zh-CN" altLang="en-US" sz="4500" dirty="0">
                <a:latin typeface="宋体" panose="02010600030101010101" pitchFamily="2" charset="-122"/>
                <a:ea typeface="宋体" panose="02010600030101010101" pitchFamily="2" charset="-122"/>
              </a:rPr>
              <a:t>月</a:t>
            </a:r>
            <a:r>
              <a:rPr lang="en-US" altLang="zh-CN" sz="4500" dirty="0">
                <a:latin typeface="宋体" panose="02010600030101010101" pitchFamily="2" charset="-122"/>
                <a:ea typeface="宋体" panose="02010600030101010101" pitchFamily="2" charset="-122"/>
              </a:rPr>
              <a:t>19</a:t>
            </a:r>
            <a:r>
              <a:rPr lang="zh-CN" altLang="en-US" sz="4500" dirty="0">
                <a:latin typeface="宋体" panose="02010600030101010101" pitchFamily="2" charset="-122"/>
                <a:ea typeface="宋体" panose="02010600030101010101" pitchFamily="2" charset="-122"/>
              </a:rPr>
              <a:t>日，基于答辩结果修改论文，完成论文最终稿并提交。</a:t>
            </a:r>
          </a:p>
          <a:p>
            <a:endParaRPr lang="zh-CN" altLang="en-US" dirty="0"/>
          </a:p>
        </p:txBody>
      </p:sp>
    </p:spTree>
    <p:extLst>
      <p:ext uri="{BB962C8B-B14F-4D97-AF65-F5344CB8AC3E}">
        <p14:creationId xmlns:p14="http://schemas.microsoft.com/office/powerpoint/2010/main" val="278832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CAAFC4-E0D9-4A9F-933B-4B4CF35D40B2}"/>
              </a:ext>
            </a:extLst>
          </p:cNvPr>
          <p:cNvSpPr>
            <a:spLocks noGrp="1"/>
          </p:cNvSpPr>
          <p:nvPr>
            <p:ph type="title"/>
          </p:nvPr>
        </p:nvSpPr>
        <p:spPr/>
        <p:txBody>
          <a:bodyPr/>
          <a:lstStyle/>
          <a:p>
            <a:r>
              <a:rPr lang="zh-CN" altLang="en-US" sz="4400" dirty="0">
                <a:latin typeface="宋体" panose="02010600030101010101" pitchFamily="2" charset="-122"/>
                <a:ea typeface="宋体" panose="02010600030101010101" pitchFamily="2" charset="-122"/>
              </a:rPr>
              <a:t>预期目标</a:t>
            </a:r>
            <a:endParaRPr lang="zh-CN" altLang="en-US" dirty="0">
              <a:latin typeface="宋体" panose="02010600030101010101" pitchFamily="2" charset="-122"/>
              <a:ea typeface="宋体" panose="02010600030101010101" pitchFamily="2" charset="-122"/>
            </a:endParaRPr>
          </a:p>
        </p:txBody>
      </p:sp>
      <p:sp>
        <p:nvSpPr>
          <p:cNvPr id="3" name="内容占位符 2">
            <a:extLst>
              <a:ext uri="{FF2B5EF4-FFF2-40B4-BE49-F238E27FC236}">
                <a16:creationId xmlns:a16="http://schemas.microsoft.com/office/drawing/2014/main" id="{F3752691-FDAA-4E70-89AF-143653018C29}"/>
              </a:ext>
            </a:extLst>
          </p:cNvPr>
          <p:cNvSpPr>
            <a:spLocks noGrp="1"/>
          </p:cNvSpPr>
          <p:nvPr>
            <p:ph idx="1"/>
          </p:nvPr>
        </p:nvSpPr>
        <p:spPr/>
        <p:txBody>
          <a:bodyPr/>
          <a:lstStyle/>
          <a:p>
            <a:r>
              <a:rPr lang="zh-CN" altLang="en-US" dirty="0">
                <a:latin typeface="宋体" panose="02010600030101010101" pitchFamily="2" charset="-122"/>
                <a:ea typeface="宋体" panose="02010600030101010101" pitchFamily="2" charset="-122"/>
              </a:rPr>
              <a:t>初步建立蛇纹石矿物成分数据库，并使用统计学手段完成相关数据清理。</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借助</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ython</a:t>
            </a:r>
            <a:r>
              <a:rPr lang="zh-CN" altLang="en-US" dirty="0">
                <a:latin typeface="宋体" panose="02010600030101010101" pitchFamily="2" charset="-122"/>
                <a:ea typeface="宋体" panose="02010600030101010101" pitchFamily="2" charset="-122"/>
                <a:cs typeface="Times New Roman" panose="02020603050405020304" pitchFamily="18" charset="0"/>
              </a:rPr>
              <a:t>实现</a:t>
            </a:r>
            <a:r>
              <a:rPr lang="en-US" altLang="zh-CN" dirty="0">
                <a:latin typeface="Times New Roman" panose="02020603050405020304" pitchFamily="18" charset="0"/>
                <a:cs typeface="Times New Roman" panose="02020603050405020304" pitchFamily="18" charset="0"/>
              </a:rPr>
              <a:t>SVM</a:t>
            </a:r>
            <a:r>
              <a:rPr lang="zh-CN" altLang="en-US" dirty="0">
                <a:latin typeface="宋体" panose="02010600030101010101" pitchFamily="2" charset="-122"/>
                <a:ea typeface="宋体" panose="02010600030101010101" pitchFamily="2" charset="-122"/>
              </a:rPr>
              <a:t>和</a:t>
            </a:r>
            <a:r>
              <a:rPr lang="en-US" altLang="zh-CN" dirty="0" err="1">
                <a:latin typeface="Times New Roman" panose="02020603050405020304" pitchFamily="18" charset="0"/>
                <a:cs typeface="Times New Roman" panose="02020603050405020304" pitchFamily="18" charset="0"/>
              </a:rPr>
              <a:t>Kmeans</a:t>
            </a:r>
            <a:r>
              <a:rPr lang="zh-CN" altLang="en-US" dirty="0">
                <a:latin typeface="宋体" panose="02010600030101010101" pitchFamily="2" charset="-122"/>
                <a:ea typeface="宋体" panose="02010600030101010101" pitchFamily="2" charset="-122"/>
              </a:rPr>
              <a:t>，在已有数据库的基础上获得蛇纹石多型成分差别的模型。</a:t>
            </a:r>
          </a:p>
          <a:p>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09030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2C4E47-3BA9-499A-AFCA-9F72C215D8D0}"/>
              </a:ext>
            </a:extLst>
          </p:cNvPr>
          <p:cNvSpPr>
            <a:spLocks noGrp="1"/>
          </p:cNvSpPr>
          <p:nvPr>
            <p:ph type="title"/>
          </p:nvPr>
        </p:nvSpPr>
        <p:spPr>
          <a:xfrm>
            <a:off x="838200" y="2766218"/>
            <a:ext cx="10515600" cy="1325563"/>
          </a:xfrm>
        </p:spPr>
        <p:txBody>
          <a:bodyPr/>
          <a:lstStyle/>
          <a:p>
            <a:pPr algn="ctr"/>
            <a:r>
              <a:rPr lang="en-US" altLang="zh-CN" dirty="0">
                <a:latin typeface="Times New Roman" panose="02020603050405020304" pitchFamily="18" charset="0"/>
                <a:cs typeface="Times New Roman" panose="02020603050405020304" pitchFamily="18" charset="0"/>
              </a:rPr>
              <a:t>THANKS</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1540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TotalTime>
  <Words>1035</Words>
  <Application>Microsoft Office PowerPoint</Application>
  <PresentationFormat>宽屏</PresentationFormat>
  <Paragraphs>70</Paragraphs>
  <Slides>10</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等线</vt:lpstr>
      <vt:lpstr>等线 Light</vt:lpstr>
      <vt:lpstr>宋体</vt:lpstr>
      <vt:lpstr>Arial</vt:lpstr>
      <vt:lpstr>Calibri</vt:lpstr>
      <vt:lpstr>Times New Roman</vt:lpstr>
      <vt:lpstr>Office 主题​​</vt:lpstr>
      <vt:lpstr>运用大数据和机器学习手段研究蛇纹石多型的成分差别</vt:lpstr>
      <vt:lpstr>目录</vt:lpstr>
      <vt:lpstr>选题背景</vt:lpstr>
      <vt:lpstr>目的与意义</vt:lpstr>
      <vt:lpstr>研究内容</vt:lpstr>
      <vt:lpstr>技术路线</vt:lpstr>
      <vt:lpstr>可行性分析</vt:lpstr>
      <vt:lpstr>进度安排</vt:lpstr>
      <vt:lpstr>预期目标</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2421314760@qq.com</dc:creator>
  <cp:lastModifiedBy>2421314760@qq.com</cp:lastModifiedBy>
  <cp:revision>101</cp:revision>
  <dcterms:created xsi:type="dcterms:W3CDTF">2021-01-21T05:50:52Z</dcterms:created>
  <dcterms:modified xsi:type="dcterms:W3CDTF">2021-01-22T07:13:52Z</dcterms:modified>
</cp:coreProperties>
</file>