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9" r:id="rId3"/>
    <p:sldId id="263" r:id="rId4"/>
    <p:sldId id="267" r:id="rId5"/>
    <p:sldId id="268" r:id="rId6"/>
    <p:sldId id="261" r:id="rId7"/>
    <p:sldId id="266" r:id="rId8"/>
    <p:sldId id="276" r:id="rId9"/>
    <p:sldId id="279" r:id="rId10"/>
    <p:sldId id="289" r:id="rId11"/>
    <p:sldId id="280" r:id="rId12"/>
    <p:sldId id="290" r:id="rId13"/>
    <p:sldId id="288" r:id="rId14"/>
  </p:sldIdLst>
  <p:sldSz cx="9144000" cy="5143500" type="screen16x9"/>
  <p:notesSz cx="6858000" cy="9144000"/>
  <p:defaultText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B4367"/>
    <a:srgbClr val="1D4865"/>
    <a:srgbClr val="1D4971"/>
    <a:srgbClr val="51B3CD"/>
    <a:srgbClr val="83C2DB"/>
    <a:srgbClr val="2980B4"/>
    <a:srgbClr val="4287C6"/>
    <a:srgbClr val="2780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8" d="100"/>
          <a:sy n="88" d="100"/>
        </p:scale>
        <p:origin x="182"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2021/1/25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1967190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2021/1/25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382649715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49990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3788286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66434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511502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464977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4291483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1995457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1375483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2718369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395576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3321266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950592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3878379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7" y="1282304"/>
            <a:ext cx="7886700" cy="2139553"/>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369218"/>
            <a:ext cx="3886200" cy="32635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p:cNvSpPr>
            <a:spLocks noGrp="1"/>
          </p:cNvSpPr>
          <p:nvPr>
            <p:ph type="body" idx="1"/>
          </p:nvPr>
        </p:nvSpPr>
        <p:spPr>
          <a:xfrm>
            <a:off x="890080"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4" name="内容占位符 3"/>
          <p:cNvSpPr>
            <a:spLocks noGrp="1"/>
          </p:cNvSpPr>
          <p:nvPr>
            <p:ph sz="half" idx="2"/>
          </p:nvPr>
        </p:nvSpPr>
        <p:spPr>
          <a:xfrm>
            <a:off x="890080" y="1999034"/>
            <a:ext cx="3655181"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a:r>
              <a:rPr lang="zh-CN" altLang="en-US"/>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3124012"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342900"/>
            <a:ext cx="4629150" cy="4052888"/>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3124012" cy="2858691"/>
          </a:xfrm>
        </p:spPr>
        <p:txBody>
          <a:bodyPr/>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3"/>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3"/>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3"/>
            <a:ext cx="7886700" cy="435887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2021/1/25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69218"/>
            <a:ext cx="7886700" cy="3263504"/>
          </a:xfrm>
          <a:prstGeom prst="rect">
            <a:avLst/>
          </a:prstGeom>
        </p:spPr>
        <p:txBody>
          <a:bodyPr vert="horz" lIns="68580" tIns="34290" rIns="68580" bIns="3429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fld id="{82F288E0-7875-42C4-84C8-98DBBD3BF4D2}" type="datetimeFigureOut">
              <a:rPr lang="zh-CN" altLang="en-US" smtClean="0"/>
              <a:t>2021/1/25</a:t>
            </a:fld>
            <a:endParaRPr lang="zh-CN" altLang="en-US"/>
          </a:p>
        </p:txBody>
      </p:sp>
      <p:sp>
        <p:nvSpPr>
          <p:cNvPr id="5" name="页脚占位符 4"/>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tiff"/></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nvSpPr>
        <p:spPr>
          <a:xfrm>
            <a:off x="3404509" y="1158928"/>
            <a:ext cx="5340191" cy="2008242"/>
          </a:xfrm>
          <a:prstGeom prst="rect">
            <a:avLst/>
          </a:prstGeom>
          <a:noFill/>
        </p:spPr>
        <p:txBody>
          <a:bodyPr wrap="square" lIns="68580" tIns="34290" rIns="68580" bIns="34290" rtlCol="0">
            <a:spAutoFit/>
          </a:bodyPr>
          <a:lstStyle/>
          <a:p>
            <a:r>
              <a:rPr lang="zh-CN" altLang="en-US" sz="4200" b="1" dirty="0">
                <a:solidFill>
                  <a:srgbClr val="1B4367"/>
                </a:solidFill>
                <a:cs typeface="+mn-ea"/>
                <a:sym typeface="+mn-lt"/>
              </a:rPr>
              <a:t>运用大数据和机器学习手段研究蛇纹石多型的成分差别</a:t>
            </a:r>
          </a:p>
        </p:txBody>
      </p:sp>
      <p:sp>
        <p:nvSpPr>
          <p:cNvPr id="3075" name="文本框 3074"/>
          <p:cNvSpPr txBox="1"/>
          <p:nvPr/>
        </p:nvSpPr>
        <p:spPr>
          <a:xfrm>
            <a:off x="3404509" y="3297888"/>
            <a:ext cx="4502505" cy="253916"/>
          </a:xfrm>
          <a:prstGeom prst="rect">
            <a:avLst/>
          </a:prstGeom>
          <a:noFill/>
          <a:ln w="9525">
            <a:noFill/>
            <a:miter/>
          </a:ln>
          <a:effectLst/>
        </p:spPr>
        <p:txBody>
          <a:bodyPr vert="horz" wrap="square" lIns="68580" tIns="34290" rIns="68580" bIns="34290" anchor="t">
            <a:spAutoFit/>
          </a:bodyPr>
          <a:lstStyle/>
          <a:p>
            <a:r>
              <a:rPr lang="zh-CN" altLang="en-US" sz="1200" dirty="0">
                <a:solidFill>
                  <a:schemeClr val="tx1">
                    <a:lumMod val="75000"/>
                    <a:lumOff val="25000"/>
                  </a:schemeClr>
                </a:solidFill>
                <a:cs typeface="+mn-ea"/>
              </a:rPr>
              <a:t>指导老师：张舟  答辩人：史程日  答辩时间：</a:t>
            </a:r>
            <a:r>
              <a:rPr lang="en-US" altLang="zh-CN" sz="1200" dirty="0">
                <a:solidFill>
                  <a:schemeClr val="tx1">
                    <a:lumMod val="75000"/>
                    <a:lumOff val="25000"/>
                  </a:schemeClr>
                </a:solidFill>
                <a:cs typeface="+mn-ea"/>
              </a:rPr>
              <a:t>2021.01.25</a:t>
            </a:r>
            <a:endParaRPr lang="zh-CN" altLang="en-US" sz="1200" dirty="0">
              <a:solidFill>
                <a:schemeClr val="tx1">
                  <a:lumMod val="75000"/>
                  <a:lumOff val="25000"/>
                </a:schemeClr>
              </a:solidFill>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par>
                          <p:cTn id="12" fill="hold">
                            <p:stCondLst>
                              <p:cond delay="1650"/>
                            </p:stCondLst>
                            <p:childTnLst>
                              <p:par>
                                <p:cTn id="13" presetID="12" presetClass="entr" presetSubtype="8" fill="hold" grpId="0" nodeType="afterEffect">
                                  <p:stCondLst>
                                    <p:cond delay="0"/>
                                  </p:stCondLst>
                                  <p:childTnLst>
                                    <p:set>
                                      <p:cBhvr>
                                        <p:cTn id="14" dur="1" fill="hold">
                                          <p:stCondLst>
                                            <p:cond delay="0"/>
                                          </p:stCondLst>
                                        </p:cTn>
                                        <p:tgtEl>
                                          <p:spTgt spid="3075"/>
                                        </p:tgtEl>
                                        <p:attrNameLst>
                                          <p:attrName>style.visibility</p:attrName>
                                        </p:attrNameLst>
                                      </p:cBhvr>
                                      <p:to>
                                        <p:strVal val="visible"/>
                                      </p:to>
                                    </p:set>
                                    <p:anim calcmode="lin" valueType="num">
                                      <p:cBhvr additive="base">
                                        <p:cTn id="15" dur="500"/>
                                        <p:tgtEl>
                                          <p:spTgt spid="3075"/>
                                        </p:tgtEl>
                                        <p:attrNameLst>
                                          <p:attrName>ppt_x</p:attrName>
                                        </p:attrNameLst>
                                      </p:cBhvr>
                                      <p:tavLst>
                                        <p:tav tm="0">
                                          <p:val>
                                            <p:strVal val="#ppt_x-#ppt_w*1.125000"/>
                                          </p:val>
                                        </p:tav>
                                        <p:tav tm="100000">
                                          <p:val>
                                            <p:strVal val="#ppt_x"/>
                                          </p:val>
                                        </p:tav>
                                      </p:tavLst>
                                    </p:anim>
                                    <p:animEffect transition="in" filter="wipe(right)">
                                      <p:cBhvr>
                                        <p:cTn id="16"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07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文本框 10"/>
          <p:cNvSpPr txBox="1"/>
          <p:nvPr/>
        </p:nvSpPr>
        <p:spPr>
          <a:xfrm>
            <a:off x="5645032" y="811092"/>
            <a:ext cx="246264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选题背景与意义</a:t>
            </a:r>
          </a:p>
        </p:txBody>
      </p:sp>
      <p:grpSp>
        <p:nvGrpSpPr>
          <p:cNvPr id="2" name="组合 1"/>
          <p:cNvGrpSpPr/>
          <p:nvPr/>
        </p:nvGrpSpPr>
        <p:grpSpPr>
          <a:xfrm>
            <a:off x="5135755" y="791278"/>
            <a:ext cx="478533" cy="393570"/>
            <a:chOff x="5640108" y="966369"/>
            <a:chExt cx="476097" cy="391567"/>
          </a:xfrm>
        </p:grpSpPr>
        <p:sp>
          <p:nvSpPr>
            <p:cNvPr id="25" name="椭圆 2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6"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01</a:t>
              </a:r>
            </a:p>
          </p:txBody>
        </p:sp>
      </p:grpSp>
      <p:sp>
        <p:nvSpPr>
          <p:cNvPr id="33" name="文本框 32"/>
          <p:cNvSpPr txBox="1"/>
          <p:nvPr/>
        </p:nvSpPr>
        <p:spPr>
          <a:xfrm>
            <a:off x="2866491" y="2012712"/>
            <a:ext cx="2147298" cy="769441"/>
          </a:xfrm>
          <a:prstGeom prst="rect">
            <a:avLst/>
          </a:prstGeom>
          <a:noFill/>
        </p:spPr>
        <p:txBody>
          <a:bodyPr vert="horz" wrap="square" rtlCol="0">
            <a:spAutoFit/>
          </a:bodyPr>
          <a:lstStyle/>
          <a:p>
            <a:r>
              <a:rPr lang="zh-CN" altLang="en-US" sz="4400" b="1" spc="-225" dirty="0">
                <a:solidFill>
                  <a:srgbClr val="1B4367"/>
                </a:solidFill>
                <a:cs typeface="+mn-ea"/>
                <a:sym typeface="+mn-lt"/>
              </a:rPr>
              <a:t>目 录</a:t>
            </a:r>
          </a:p>
        </p:txBody>
      </p:sp>
      <p:sp>
        <p:nvSpPr>
          <p:cNvPr id="3" name="文本框 2"/>
          <p:cNvSpPr txBox="1"/>
          <p:nvPr/>
        </p:nvSpPr>
        <p:spPr>
          <a:xfrm>
            <a:off x="2866491" y="2643910"/>
            <a:ext cx="2113154" cy="461665"/>
          </a:xfrm>
          <a:prstGeom prst="rect">
            <a:avLst/>
          </a:prstGeom>
          <a:noFill/>
        </p:spPr>
        <p:txBody>
          <a:bodyPr vert="horz" wrap="square" rtlCol="0">
            <a:spAutoFit/>
          </a:bodyPr>
          <a:lstStyle/>
          <a:p>
            <a:r>
              <a:rPr lang="en-US" altLang="zh-CN" sz="2400" b="1" dirty="0">
                <a:solidFill>
                  <a:srgbClr val="1B4367"/>
                </a:solidFill>
                <a:cs typeface="+mn-ea"/>
                <a:sym typeface="+mn-lt"/>
              </a:rPr>
              <a:t>CONTENTS</a:t>
            </a:r>
          </a:p>
        </p:txBody>
      </p:sp>
      <p:sp>
        <p:nvSpPr>
          <p:cNvPr id="79" name="文本框 10"/>
          <p:cNvSpPr txBox="1"/>
          <p:nvPr/>
        </p:nvSpPr>
        <p:spPr>
          <a:xfrm>
            <a:off x="5645032" y="1528636"/>
            <a:ext cx="246264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文献综述</a:t>
            </a:r>
          </a:p>
        </p:txBody>
      </p:sp>
      <p:grpSp>
        <p:nvGrpSpPr>
          <p:cNvPr id="80" name="组合 79"/>
          <p:cNvGrpSpPr/>
          <p:nvPr/>
        </p:nvGrpSpPr>
        <p:grpSpPr>
          <a:xfrm>
            <a:off x="5135755" y="1508822"/>
            <a:ext cx="478533" cy="393570"/>
            <a:chOff x="5640108" y="966369"/>
            <a:chExt cx="476097" cy="391567"/>
          </a:xfrm>
        </p:grpSpPr>
        <p:sp>
          <p:nvSpPr>
            <p:cNvPr id="81" name="椭圆 80"/>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2"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02</a:t>
              </a:r>
            </a:p>
          </p:txBody>
        </p:sp>
      </p:grpSp>
      <p:sp>
        <p:nvSpPr>
          <p:cNvPr id="83" name="文本框 10"/>
          <p:cNvSpPr txBox="1"/>
          <p:nvPr/>
        </p:nvSpPr>
        <p:spPr>
          <a:xfrm>
            <a:off x="5645032" y="2246180"/>
            <a:ext cx="246264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研究内容</a:t>
            </a:r>
          </a:p>
        </p:txBody>
      </p:sp>
      <p:grpSp>
        <p:nvGrpSpPr>
          <p:cNvPr id="84" name="组合 83"/>
          <p:cNvGrpSpPr/>
          <p:nvPr/>
        </p:nvGrpSpPr>
        <p:grpSpPr>
          <a:xfrm>
            <a:off x="5135755" y="2226366"/>
            <a:ext cx="478533" cy="393570"/>
            <a:chOff x="5640108" y="966369"/>
            <a:chExt cx="476097" cy="391567"/>
          </a:xfrm>
        </p:grpSpPr>
        <p:sp>
          <p:nvSpPr>
            <p:cNvPr id="85" name="椭圆 84"/>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86"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03</a:t>
              </a:r>
            </a:p>
          </p:txBody>
        </p:sp>
      </p:grpSp>
      <p:sp>
        <p:nvSpPr>
          <p:cNvPr id="87" name="文本框 10"/>
          <p:cNvSpPr txBox="1"/>
          <p:nvPr/>
        </p:nvSpPr>
        <p:spPr>
          <a:xfrm>
            <a:off x="5645032" y="2963724"/>
            <a:ext cx="246264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技术路线及可行性分析</a:t>
            </a:r>
          </a:p>
        </p:txBody>
      </p:sp>
      <p:grpSp>
        <p:nvGrpSpPr>
          <p:cNvPr id="88" name="组合 87"/>
          <p:cNvGrpSpPr/>
          <p:nvPr/>
        </p:nvGrpSpPr>
        <p:grpSpPr>
          <a:xfrm>
            <a:off x="5135755" y="2943910"/>
            <a:ext cx="478533" cy="393570"/>
            <a:chOff x="5640108" y="966369"/>
            <a:chExt cx="476097" cy="391567"/>
          </a:xfrm>
        </p:grpSpPr>
        <p:sp>
          <p:nvSpPr>
            <p:cNvPr id="89" name="椭圆 88"/>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90" name="文本框 17"/>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04</a:t>
              </a:r>
            </a:p>
          </p:txBody>
        </p:sp>
      </p:grpSp>
      <p:sp>
        <p:nvSpPr>
          <p:cNvPr id="4" name="燕尾形 3"/>
          <p:cNvSpPr/>
          <p:nvPr/>
        </p:nvSpPr>
        <p:spPr>
          <a:xfrm>
            <a:off x="4284324" y="2183489"/>
            <a:ext cx="256853" cy="448435"/>
          </a:xfrm>
          <a:prstGeom prst="chevron">
            <a:avLst/>
          </a:prstGeom>
          <a:solidFill>
            <a:srgbClr val="1B43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2798F23E-DCA0-4C29-8A77-47E10B7FC9C6}"/>
              </a:ext>
            </a:extLst>
          </p:cNvPr>
          <p:cNvSpPr txBox="1"/>
          <p:nvPr/>
        </p:nvSpPr>
        <p:spPr>
          <a:xfrm>
            <a:off x="5645032" y="3648685"/>
            <a:ext cx="2462648" cy="391597"/>
          </a:xfrm>
          <a:prstGeom prst="roundRect">
            <a:avLst/>
          </a:prstGeom>
          <a:solidFill>
            <a:srgbClr val="1B4367"/>
          </a:solidFill>
        </p:spPr>
        <p:txBody>
          <a:bodyPr wrap="square" rtlCol="0">
            <a:spAutoFit/>
          </a:bodyPr>
          <a:lstStyle/>
          <a:p>
            <a:r>
              <a:rPr lang="zh-CN" altLang="en-US" sz="1700" dirty="0">
                <a:solidFill>
                  <a:schemeClr val="bg1"/>
                </a:solidFill>
                <a:cs typeface="+mn-ea"/>
                <a:sym typeface="+mn-lt"/>
              </a:rPr>
              <a:t>进度安排与预期目标</a:t>
            </a:r>
          </a:p>
        </p:txBody>
      </p:sp>
      <p:grpSp>
        <p:nvGrpSpPr>
          <p:cNvPr id="22" name="组合 21">
            <a:extLst>
              <a:ext uri="{FF2B5EF4-FFF2-40B4-BE49-F238E27FC236}">
                <a16:creationId xmlns:a16="http://schemas.microsoft.com/office/drawing/2014/main" id="{5665E1A7-F60B-4FBB-A54D-0A7A4739D184}"/>
              </a:ext>
            </a:extLst>
          </p:cNvPr>
          <p:cNvGrpSpPr/>
          <p:nvPr/>
        </p:nvGrpSpPr>
        <p:grpSpPr>
          <a:xfrm>
            <a:off x="5135755" y="3628871"/>
            <a:ext cx="478533" cy="393570"/>
            <a:chOff x="5640108" y="966369"/>
            <a:chExt cx="476097" cy="391567"/>
          </a:xfrm>
        </p:grpSpPr>
        <p:sp>
          <p:nvSpPr>
            <p:cNvPr id="23" name="椭圆 22">
              <a:extLst>
                <a:ext uri="{FF2B5EF4-FFF2-40B4-BE49-F238E27FC236}">
                  <a16:creationId xmlns:a16="http://schemas.microsoft.com/office/drawing/2014/main" id="{0E458456-5E94-4703-B6A7-0EBF95AE7C4B}"/>
                </a:ext>
              </a:extLst>
            </p:cNvPr>
            <p:cNvSpPr/>
            <p:nvPr/>
          </p:nvSpPr>
          <p:spPr>
            <a:xfrm>
              <a:off x="5673454" y="966369"/>
              <a:ext cx="391567" cy="391567"/>
            </a:xfrm>
            <a:prstGeom prst="ellipse">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sym typeface="+mn-lt"/>
              </a:endParaRPr>
            </a:p>
          </p:txBody>
        </p:sp>
        <p:sp>
          <p:nvSpPr>
            <p:cNvPr id="24" name="文本框 17">
              <a:extLst>
                <a:ext uri="{FF2B5EF4-FFF2-40B4-BE49-F238E27FC236}">
                  <a16:creationId xmlns:a16="http://schemas.microsoft.com/office/drawing/2014/main" id="{F9085256-0B05-4269-9124-EB09733F6BEF}"/>
                </a:ext>
              </a:extLst>
            </p:cNvPr>
            <p:cNvSpPr txBox="1"/>
            <p:nvPr/>
          </p:nvSpPr>
          <p:spPr>
            <a:xfrm>
              <a:off x="5640108" y="975817"/>
              <a:ext cx="476097" cy="367452"/>
            </a:xfrm>
            <a:prstGeom prst="rect">
              <a:avLst/>
            </a:prstGeom>
            <a:noFill/>
          </p:spPr>
          <p:txBody>
            <a:bodyPr wrap="square" rtlCol="0">
              <a:spAutoFit/>
            </a:bodyPr>
            <a:lstStyle/>
            <a:p>
              <a:pPr algn="ctr">
                <a:defRPr/>
              </a:pPr>
              <a:r>
                <a:rPr lang="en-US" altLang="zh-CN" sz="1800" dirty="0">
                  <a:solidFill>
                    <a:schemeClr val="bg1"/>
                  </a:solidFill>
                  <a:cs typeface="+mn-ea"/>
                  <a:sym typeface="+mn-lt"/>
                </a:rPr>
                <a:t>05</a:t>
              </a:r>
            </a:p>
          </p:txBody>
        </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right)">
                                      <p:cBhvr>
                                        <p:cTn id="8" dur="500"/>
                                        <p:tgtEl>
                                          <p:spTgt spid="33"/>
                                        </p:tgtEl>
                                      </p:cBhvr>
                                    </p:animEffect>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p:tgtEl>
                                          <p:spTgt spid="3"/>
                                        </p:tgtEl>
                                        <p:attrNameLst>
                                          <p:attrName>ppt_x</p:attrName>
                                        </p:attrNameLst>
                                      </p:cBhvr>
                                      <p:tavLst>
                                        <p:tav tm="0">
                                          <p:val>
                                            <p:strVal val="#ppt_x-#ppt_w*1.125000"/>
                                          </p:val>
                                        </p:tav>
                                        <p:tav tm="100000">
                                          <p:val>
                                            <p:strVal val="#ppt_x"/>
                                          </p:val>
                                        </p:tav>
                                      </p:tavLst>
                                    </p:anim>
                                    <p:animEffect transition="in" filter="wipe(right)">
                                      <p:cBhvr>
                                        <p:cTn id="13" dur="500"/>
                                        <p:tgtEl>
                                          <p:spTgt spid="3"/>
                                        </p:tgtEl>
                                      </p:cBhvr>
                                    </p:animEffect>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p:tgtEl>
                                          <p:spTgt spid="4"/>
                                        </p:tgtEl>
                                        <p:attrNameLst>
                                          <p:attrName>ppt_x</p:attrName>
                                        </p:attrNameLst>
                                      </p:cBhvr>
                                      <p:tavLst>
                                        <p:tav tm="0">
                                          <p:val>
                                            <p:strVal val="#ppt_x-#ppt_w*1.125000"/>
                                          </p:val>
                                        </p:tav>
                                        <p:tav tm="100000">
                                          <p:val>
                                            <p:strVal val="#ppt_x"/>
                                          </p:val>
                                        </p:tav>
                                      </p:tavLst>
                                    </p:anim>
                                    <p:animEffect transition="in" filter="wipe(right)">
                                      <p:cBhvr>
                                        <p:cTn id="18" dur="500"/>
                                        <p:tgtEl>
                                          <p:spTgt spid="4"/>
                                        </p:tgtEl>
                                      </p:cBhvr>
                                    </p:animEffect>
                                  </p:childTnLst>
                                </p:cTn>
                              </p:par>
                            </p:childTnLst>
                          </p:cTn>
                        </p:par>
                        <p:par>
                          <p:cTn id="19" fill="hold">
                            <p:stCondLst>
                              <p:cond delay="1500"/>
                            </p:stCondLst>
                            <p:childTnLst>
                              <p:par>
                                <p:cTn id="20" presetID="53" presetClass="entr" presetSubtype="52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animEffect transition="in" filter="fade">
                                      <p:cBhvr>
                                        <p:cTn id="24" dur="500"/>
                                        <p:tgtEl>
                                          <p:spTgt spid="2"/>
                                        </p:tgtEl>
                                      </p:cBhvr>
                                    </p:animEffect>
                                    <p:anim calcmode="lin" valueType="num">
                                      <p:cBhvr>
                                        <p:cTn id="25" dur="500" fill="hold"/>
                                        <p:tgtEl>
                                          <p:spTgt spid="2"/>
                                        </p:tgtEl>
                                        <p:attrNameLst>
                                          <p:attrName>ppt_x</p:attrName>
                                        </p:attrNameLst>
                                      </p:cBhvr>
                                      <p:tavLst>
                                        <p:tav tm="0">
                                          <p:val>
                                            <p:fltVal val="0.5"/>
                                          </p:val>
                                        </p:tav>
                                        <p:tav tm="100000">
                                          <p:val>
                                            <p:strVal val="#ppt_x"/>
                                          </p:val>
                                        </p:tav>
                                      </p:tavLst>
                                    </p:anim>
                                    <p:anim calcmode="lin" valueType="num">
                                      <p:cBhvr>
                                        <p:cTn id="26" dur="500" fill="hold"/>
                                        <p:tgtEl>
                                          <p:spTgt spid="2"/>
                                        </p:tgtEl>
                                        <p:attrNameLst>
                                          <p:attrName>ppt_y</p:attrName>
                                        </p:attrNameLst>
                                      </p:cBhvr>
                                      <p:tavLst>
                                        <p:tav tm="0">
                                          <p:val>
                                            <p:fltVal val="0.5"/>
                                          </p:val>
                                        </p:tav>
                                        <p:tav tm="100000">
                                          <p:val>
                                            <p:strVal val="#ppt_y"/>
                                          </p:val>
                                        </p:tav>
                                      </p:tavLst>
                                    </p:anim>
                                  </p:childTnLst>
                                </p:cTn>
                              </p:par>
                            </p:childTnLst>
                          </p:cTn>
                        </p:par>
                        <p:par>
                          <p:cTn id="27" fill="hold">
                            <p:stCondLst>
                              <p:cond delay="2000"/>
                            </p:stCondLst>
                            <p:childTnLst>
                              <p:par>
                                <p:cTn id="28" presetID="2" presetClass="entr" presetSubtype="2"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1+#ppt_w/2"/>
                                          </p:val>
                                        </p:tav>
                                        <p:tav tm="100000">
                                          <p:val>
                                            <p:strVal val="#ppt_x"/>
                                          </p:val>
                                        </p:tav>
                                      </p:tavLst>
                                    </p:anim>
                                    <p:anim calcmode="lin" valueType="num">
                                      <p:cBhvr additive="base">
                                        <p:cTn id="31" dur="500" fill="hold"/>
                                        <p:tgtEl>
                                          <p:spTgt spid="11"/>
                                        </p:tgtEl>
                                        <p:attrNameLst>
                                          <p:attrName>ppt_y</p:attrName>
                                        </p:attrNameLst>
                                      </p:cBhvr>
                                      <p:tavLst>
                                        <p:tav tm="0">
                                          <p:val>
                                            <p:strVal val="#ppt_y"/>
                                          </p:val>
                                        </p:tav>
                                        <p:tav tm="100000">
                                          <p:val>
                                            <p:strVal val="#ppt_y"/>
                                          </p:val>
                                        </p:tav>
                                      </p:tavLst>
                                    </p:anim>
                                  </p:childTnLst>
                                </p:cTn>
                              </p:par>
                            </p:childTnLst>
                          </p:cTn>
                        </p:par>
                        <p:par>
                          <p:cTn id="32" fill="hold">
                            <p:stCondLst>
                              <p:cond delay="2500"/>
                            </p:stCondLst>
                            <p:childTnLst>
                              <p:par>
                                <p:cTn id="33" presetID="53" presetClass="entr" presetSubtype="528" fill="hold" nodeType="afterEffect">
                                  <p:stCondLst>
                                    <p:cond delay="0"/>
                                  </p:stCondLst>
                                  <p:childTnLst>
                                    <p:set>
                                      <p:cBhvr>
                                        <p:cTn id="34" dur="1" fill="hold">
                                          <p:stCondLst>
                                            <p:cond delay="0"/>
                                          </p:stCondLst>
                                        </p:cTn>
                                        <p:tgtEl>
                                          <p:spTgt spid="80"/>
                                        </p:tgtEl>
                                        <p:attrNameLst>
                                          <p:attrName>style.visibility</p:attrName>
                                        </p:attrNameLst>
                                      </p:cBhvr>
                                      <p:to>
                                        <p:strVal val="visible"/>
                                      </p:to>
                                    </p:set>
                                    <p:anim calcmode="lin" valueType="num">
                                      <p:cBhvr>
                                        <p:cTn id="35" dur="500" fill="hold"/>
                                        <p:tgtEl>
                                          <p:spTgt spid="80"/>
                                        </p:tgtEl>
                                        <p:attrNameLst>
                                          <p:attrName>ppt_w</p:attrName>
                                        </p:attrNameLst>
                                      </p:cBhvr>
                                      <p:tavLst>
                                        <p:tav tm="0">
                                          <p:val>
                                            <p:fltVal val="0"/>
                                          </p:val>
                                        </p:tav>
                                        <p:tav tm="100000">
                                          <p:val>
                                            <p:strVal val="#ppt_w"/>
                                          </p:val>
                                        </p:tav>
                                      </p:tavLst>
                                    </p:anim>
                                    <p:anim calcmode="lin" valueType="num">
                                      <p:cBhvr>
                                        <p:cTn id="36" dur="500" fill="hold"/>
                                        <p:tgtEl>
                                          <p:spTgt spid="80"/>
                                        </p:tgtEl>
                                        <p:attrNameLst>
                                          <p:attrName>ppt_h</p:attrName>
                                        </p:attrNameLst>
                                      </p:cBhvr>
                                      <p:tavLst>
                                        <p:tav tm="0">
                                          <p:val>
                                            <p:fltVal val="0"/>
                                          </p:val>
                                        </p:tav>
                                        <p:tav tm="100000">
                                          <p:val>
                                            <p:strVal val="#ppt_h"/>
                                          </p:val>
                                        </p:tav>
                                      </p:tavLst>
                                    </p:anim>
                                    <p:animEffect transition="in" filter="fade">
                                      <p:cBhvr>
                                        <p:cTn id="37" dur="500"/>
                                        <p:tgtEl>
                                          <p:spTgt spid="80"/>
                                        </p:tgtEl>
                                      </p:cBhvr>
                                    </p:animEffect>
                                    <p:anim calcmode="lin" valueType="num">
                                      <p:cBhvr>
                                        <p:cTn id="38" dur="500" fill="hold"/>
                                        <p:tgtEl>
                                          <p:spTgt spid="80"/>
                                        </p:tgtEl>
                                        <p:attrNameLst>
                                          <p:attrName>ppt_x</p:attrName>
                                        </p:attrNameLst>
                                      </p:cBhvr>
                                      <p:tavLst>
                                        <p:tav tm="0">
                                          <p:val>
                                            <p:fltVal val="0.5"/>
                                          </p:val>
                                        </p:tav>
                                        <p:tav tm="100000">
                                          <p:val>
                                            <p:strVal val="#ppt_x"/>
                                          </p:val>
                                        </p:tav>
                                      </p:tavLst>
                                    </p:anim>
                                    <p:anim calcmode="lin" valueType="num">
                                      <p:cBhvr>
                                        <p:cTn id="39" dur="500" fill="hold"/>
                                        <p:tgtEl>
                                          <p:spTgt spid="80"/>
                                        </p:tgtEl>
                                        <p:attrNameLst>
                                          <p:attrName>ppt_y</p:attrName>
                                        </p:attrNameLst>
                                      </p:cBhvr>
                                      <p:tavLst>
                                        <p:tav tm="0">
                                          <p:val>
                                            <p:fltVal val="0.5"/>
                                          </p:val>
                                        </p:tav>
                                        <p:tav tm="100000">
                                          <p:val>
                                            <p:strVal val="#ppt_y"/>
                                          </p:val>
                                        </p:tav>
                                      </p:tavLst>
                                    </p:anim>
                                  </p:childTnLst>
                                </p:cTn>
                              </p:par>
                            </p:childTnLst>
                          </p:cTn>
                        </p:par>
                        <p:par>
                          <p:cTn id="40" fill="hold">
                            <p:stCondLst>
                              <p:cond delay="3000"/>
                            </p:stCondLst>
                            <p:childTnLst>
                              <p:par>
                                <p:cTn id="41" presetID="2" presetClass="entr" presetSubtype="2" fill="hold" grpId="0" nodeType="afterEffect">
                                  <p:stCondLst>
                                    <p:cond delay="0"/>
                                  </p:stCondLst>
                                  <p:childTnLst>
                                    <p:set>
                                      <p:cBhvr>
                                        <p:cTn id="42" dur="1" fill="hold">
                                          <p:stCondLst>
                                            <p:cond delay="0"/>
                                          </p:stCondLst>
                                        </p:cTn>
                                        <p:tgtEl>
                                          <p:spTgt spid="79"/>
                                        </p:tgtEl>
                                        <p:attrNameLst>
                                          <p:attrName>style.visibility</p:attrName>
                                        </p:attrNameLst>
                                      </p:cBhvr>
                                      <p:to>
                                        <p:strVal val="visible"/>
                                      </p:to>
                                    </p:set>
                                    <p:anim calcmode="lin" valueType="num">
                                      <p:cBhvr additive="base">
                                        <p:cTn id="43" dur="500" fill="hold"/>
                                        <p:tgtEl>
                                          <p:spTgt spid="79"/>
                                        </p:tgtEl>
                                        <p:attrNameLst>
                                          <p:attrName>ppt_x</p:attrName>
                                        </p:attrNameLst>
                                      </p:cBhvr>
                                      <p:tavLst>
                                        <p:tav tm="0">
                                          <p:val>
                                            <p:strVal val="1+#ppt_w/2"/>
                                          </p:val>
                                        </p:tav>
                                        <p:tav tm="100000">
                                          <p:val>
                                            <p:strVal val="#ppt_x"/>
                                          </p:val>
                                        </p:tav>
                                      </p:tavLst>
                                    </p:anim>
                                    <p:anim calcmode="lin" valueType="num">
                                      <p:cBhvr additive="base">
                                        <p:cTn id="44" dur="500" fill="hold"/>
                                        <p:tgtEl>
                                          <p:spTgt spid="79"/>
                                        </p:tgtEl>
                                        <p:attrNameLst>
                                          <p:attrName>ppt_y</p:attrName>
                                        </p:attrNameLst>
                                      </p:cBhvr>
                                      <p:tavLst>
                                        <p:tav tm="0">
                                          <p:val>
                                            <p:strVal val="#ppt_y"/>
                                          </p:val>
                                        </p:tav>
                                        <p:tav tm="100000">
                                          <p:val>
                                            <p:strVal val="#ppt_y"/>
                                          </p:val>
                                        </p:tav>
                                      </p:tavLst>
                                    </p:anim>
                                  </p:childTnLst>
                                </p:cTn>
                              </p:par>
                            </p:childTnLst>
                          </p:cTn>
                        </p:par>
                        <p:par>
                          <p:cTn id="45" fill="hold">
                            <p:stCondLst>
                              <p:cond delay="3500"/>
                            </p:stCondLst>
                            <p:childTnLst>
                              <p:par>
                                <p:cTn id="46" presetID="53" presetClass="entr" presetSubtype="528" fill="hold" nodeType="afterEffect">
                                  <p:stCondLst>
                                    <p:cond delay="0"/>
                                  </p:stCondLst>
                                  <p:childTnLst>
                                    <p:set>
                                      <p:cBhvr>
                                        <p:cTn id="47" dur="1" fill="hold">
                                          <p:stCondLst>
                                            <p:cond delay="0"/>
                                          </p:stCondLst>
                                        </p:cTn>
                                        <p:tgtEl>
                                          <p:spTgt spid="84"/>
                                        </p:tgtEl>
                                        <p:attrNameLst>
                                          <p:attrName>style.visibility</p:attrName>
                                        </p:attrNameLst>
                                      </p:cBhvr>
                                      <p:to>
                                        <p:strVal val="visible"/>
                                      </p:to>
                                    </p:set>
                                    <p:anim calcmode="lin" valueType="num">
                                      <p:cBhvr>
                                        <p:cTn id="48" dur="500" fill="hold"/>
                                        <p:tgtEl>
                                          <p:spTgt spid="84"/>
                                        </p:tgtEl>
                                        <p:attrNameLst>
                                          <p:attrName>ppt_w</p:attrName>
                                        </p:attrNameLst>
                                      </p:cBhvr>
                                      <p:tavLst>
                                        <p:tav tm="0">
                                          <p:val>
                                            <p:fltVal val="0"/>
                                          </p:val>
                                        </p:tav>
                                        <p:tav tm="100000">
                                          <p:val>
                                            <p:strVal val="#ppt_w"/>
                                          </p:val>
                                        </p:tav>
                                      </p:tavLst>
                                    </p:anim>
                                    <p:anim calcmode="lin" valueType="num">
                                      <p:cBhvr>
                                        <p:cTn id="49" dur="500" fill="hold"/>
                                        <p:tgtEl>
                                          <p:spTgt spid="84"/>
                                        </p:tgtEl>
                                        <p:attrNameLst>
                                          <p:attrName>ppt_h</p:attrName>
                                        </p:attrNameLst>
                                      </p:cBhvr>
                                      <p:tavLst>
                                        <p:tav tm="0">
                                          <p:val>
                                            <p:fltVal val="0"/>
                                          </p:val>
                                        </p:tav>
                                        <p:tav tm="100000">
                                          <p:val>
                                            <p:strVal val="#ppt_h"/>
                                          </p:val>
                                        </p:tav>
                                      </p:tavLst>
                                    </p:anim>
                                    <p:animEffect transition="in" filter="fade">
                                      <p:cBhvr>
                                        <p:cTn id="50" dur="500"/>
                                        <p:tgtEl>
                                          <p:spTgt spid="84"/>
                                        </p:tgtEl>
                                      </p:cBhvr>
                                    </p:animEffect>
                                    <p:anim calcmode="lin" valueType="num">
                                      <p:cBhvr>
                                        <p:cTn id="51" dur="500" fill="hold"/>
                                        <p:tgtEl>
                                          <p:spTgt spid="84"/>
                                        </p:tgtEl>
                                        <p:attrNameLst>
                                          <p:attrName>ppt_x</p:attrName>
                                        </p:attrNameLst>
                                      </p:cBhvr>
                                      <p:tavLst>
                                        <p:tav tm="0">
                                          <p:val>
                                            <p:fltVal val="0.5"/>
                                          </p:val>
                                        </p:tav>
                                        <p:tav tm="100000">
                                          <p:val>
                                            <p:strVal val="#ppt_x"/>
                                          </p:val>
                                        </p:tav>
                                      </p:tavLst>
                                    </p:anim>
                                    <p:anim calcmode="lin" valueType="num">
                                      <p:cBhvr>
                                        <p:cTn id="52" dur="500" fill="hold"/>
                                        <p:tgtEl>
                                          <p:spTgt spid="84"/>
                                        </p:tgtEl>
                                        <p:attrNameLst>
                                          <p:attrName>ppt_y</p:attrName>
                                        </p:attrNameLst>
                                      </p:cBhvr>
                                      <p:tavLst>
                                        <p:tav tm="0">
                                          <p:val>
                                            <p:fltVal val="0.5"/>
                                          </p:val>
                                        </p:tav>
                                        <p:tav tm="100000">
                                          <p:val>
                                            <p:strVal val="#ppt_y"/>
                                          </p:val>
                                        </p:tav>
                                      </p:tavLst>
                                    </p:anim>
                                  </p:childTnLst>
                                </p:cTn>
                              </p:par>
                            </p:childTnLst>
                          </p:cTn>
                        </p:par>
                        <p:par>
                          <p:cTn id="53" fill="hold">
                            <p:stCondLst>
                              <p:cond delay="4000"/>
                            </p:stCondLst>
                            <p:childTnLst>
                              <p:par>
                                <p:cTn id="54" presetID="2" presetClass="entr" presetSubtype="2" fill="hold" grpId="0" nodeType="afterEffect">
                                  <p:stCondLst>
                                    <p:cond delay="0"/>
                                  </p:stCondLst>
                                  <p:childTnLst>
                                    <p:set>
                                      <p:cBhvr>
                                        <p:cTn id="55" dur="1" fill="hold">
                                          <p:stCondLst>
                                            <p:cond delay="0"/>
                                          </p:stCondLst>
                                        </p:cTn>
                                        <p:tgtEl>
                                          <p:spTgt spid="83"/>
                                        </p:tgtEl>
                                        <p:attrNameLst>
                                          <p:attrName>style.visibility</p:attrName>
                                        </p:attrNameLst>
                                      </p:cBhvr>
                                      <p:to>
                                        <p:strVal val="visible"/>
                                      </p:to>
                                    </p:set>
                                    <p:anim calcmode="lin" valueType="num">
                                      <p:cBhvr additive="base">
                                        <p:cTn id="56" dur="500" fill="hold"/>
                                        <p:tgtEl>
                                          <p:spTgt spid="83"/>
                                        </p:tgtEl>
                                        <p:attrNameLst>
                                          <p:attrName>ppt_x</p:attrName>
                                        </p:attrNameLst>
                                      </p:cBhvr>
                                      <p:tavLst>
                                        <p:tav tm="0">
                                          <p:val>
                                            <p:strVal val="1+#ppt_w/2"/>
                                          </p:val>
                                        </p:tav>
                                        <p:tav tm="100000">
                                          <p:val>
                                            <p:strVal val="#ppt_x"/>
                                          </p:val>
                                        </p:tav>
                                      </p:tavLst>
                                    </p:anim>
                                    <p:anim calcmode="lin" valueType="num">
                                      <p:cBhvr additive="base">
                                        <p:cTn id="57" dur="500" fill="hold"/>
                                        <p:tgtEl>
                                          <p:spTgt spid="83"/>
                                        </p:tgtEl>
                                        <p:attrNameLst>
                                          <p:attrName>ppt_y</p:attrName>
                                        </p:attrNameLst>
                                      </p:cBhvr>
                                      <p:tavLst>
                                        <p:tav tm="0">
                                          <p:val>
                                            <p:strVal val="#ppt_y"/>
                                          </p:val>
                                        </p:tav>
                                        <p:tav tm="100000">
                                          <p:val>
                                            <p:strVal val="#ppt_y"/>
                                          </p:val>
                                        </p:tav>
                                      </p:tavLst>
                                    </p:anim>
                                  </p:childTnLst>
                                </p:cTn>
                              </p:par>
                            </p:childTnLst>
                          </p:cTn>
                        </p:par>
                        <p:par>
                          <p:cTn id="58" fill="hold">
                            <p:stCondLst>
                              <p:cond delay="4500"/>
                            </p:stCondLst>
                            <p:childTnLst>
                              <p:par>
                                <p:cTn id="59" presetID="53" presetClass="entr" presetSubtype="528" fill="hold" nodeType="afterEffect">
                                  <p:stCondLst>
                                    <p:cond delay="0"/>
                                  </p:stCondLst>
                                  <p:childTnLst>
                                    <p:set>
                                      <p:cBhvr>
                                        <p:cTn id="60" dur="1" fill="hold">
                                          <p:stCondLst>
                                            <p:cond delay="0"/>
                                          </p:stCondLst>
                                        </p:cTn>
                                        <p:tgtEl>
                                          <p:spTgt spid="88"/>
                                        </p:tgtEl>
                                        <p:attrNameLst>
                                          <p:attrName>style.visibility</p:attrName>
                                        </p:attrNameLst>
                                      </p:cBhvr>
                                      <p:to>
                                        <p:strVal val="visible"/>
                                      </p:to>
                                    </p:set>
                                    <p:anim calcmode="lin" valueType="num">
                                      <p:cBhvr>
                                        <p:cTn id="61" dur="500" fill="hold"/>
                                        <p:tgtEl>
                                          <p:spTgt spid="88"/>
                                        </p:tgtEl>
                                        <p:attrNameLst>
                                          <p:attrName>ppt_w</p:attrName>
                                        </p:attrNameLst>
                                      </p:cBhvr>
                                      <p:tavLst>
                                        <p:tav tm="0">
                                          <p:val>
                                            <p:fltVal val="0"/>
                                          </p:val>
                                        </p:tav>
                                        <p:tav tm="100000">
                                          <p:val>
                                            <p:strVal val="#ppt_w"/>
                                          </p:val>
                                        </p:tav>
                                      </p:tavLst>
                                    </p:anim>
                                    <p:anim calcmode="lin" valueType="num">
                                      <p:cBhvr>
                                        <p:cTn id="62" dur="500" fill="hold"/>
                                        <p:tgtEl>
                                          <p:spTgt spid="88"/>
                                        </p:tgtEl>
                                        <p:attrNameLst>
                                          <p:attrName>ppt_h</p:attrName>
                                        </p:attrNameLst>
                                      </p:cBhvr>
                                      <p:tavLst>
                                        <p:tav tm="0">
                                          <p:val>
                                            <p:fltVal val="0"/>
                                          </p:val>
                                        </p:tav>
                                        <p:tav tm="100000">
                                          <p:val>
                                            <p:strVal val="#ppt_h"/>
                                          </p:val>
                                        </p:tav>
                                      </p:tavLst>
                                    </p:anim>
                                    <p:animEffect transition="in" filter="fade">
                                      <p:cBhvr>
                                        <p:cTn id="63" dur="500"/>
                                        <p:tgtEl>
                                          <p:spTgt spid="88"/>
                                        </p:tgtEl>
                                      </p:cBhvr>
                                    </p:animEffect>
                                    <p:anim calcmode="lin" valueType="num">
                                      <p:cBhvr>
                                        <p:cTn id="64" dur="500" fill="hold"/>
                                        <p:tgtEl>
                                          <p:spTgt spid="88"/>
                                        </p:tgtEl>
                                        <p:attrNameLst>
                                          <p:attrName>ppt_x</p:attrName>
                                        </p:attrNameLst>
                                      </p:cBhvr>
                                      <p:tavLst>
                                        <p:tav tm="0">
                                          <p:val>
                                            <p:fltVal val="0.5"/>
                                          </p:val>
                                        </p:tav>
                                        <p:tav tm="100000">
                                          <p:val>
                                            <p:strVal val="#ppt_x"/>
                                          </p:val>
                                        </p:tav>
                                      </p:tavLst>
                                    </p:anim>
                                    <p:anim calcmode="lin" valueType="num">
                                      <p:cBhvr>
                                        <p:cTn id="65" dur="500" fill="hold"/>
                                        <p:tgtEl>
                                          <p:spTgt spid="88"/>
                                        </p:tgtEl>
                                        <p:attrNameLst>
                                          <p:attrName>ppt_y</p:attrName>
                                        </p:attrNameLst>
                                      </p:cBhvr>
                                      <p:tavLst>
                                        <p:tav tm="0">
                                          <p:val>
                                            <p:fltVal val="0.5"/>
                                          </p:val>
                                        </p:tav>
                                        <p:tav tm="100000">
                                          <p:val>
                                            <p:strVal val="#ppt_y"/>
                                          </p:val>
                                        </p:tav>
                                      </p:tavLst>
                                    </p:anim>
                                  </p:childTnLst>
                                </p:cTn>
                              </p:par>
                            </p:childTnLst>
                          </p:cTn>
                        </p:par>
                        <p:par>
                          <p:cTn id="66" fill="hold">
                            <p:stCondLst>
                              <p:cond delay="5000"/>
                            </p:stCondLst>
                            <p:childTnLst>
                              <p:par>
                                <p:cTn id="67" presetID="2" presetClass="entr" presetSubtype="2" fill="hold" grpId="0" nodeType="afterEffect">
                                  <p:stCondLst>
                                    <p:cond delay="0"/>
                                  </p:stCondLst>
                                  <p:childTnLst>
                                    <p:set>
                                      <p:cBhvr>
                                        <p:cTn id="68" dur="1" fill="hold">
                                          <p:stCondLst>
                                            <p:cond delay="0"/>
                                          </p:stCondLst>
                                        </p:cTn>
                                        <p:tgtEl>
                                          <p:spTgt spid="87"/>
                                        </p:tgtEl>
                                        <p:attrNameLst>
                                          <p:attrName>style.visibility</p:attrName>
                                        </p:attrNameLst>
                                      </p:cBhvr>
                                      <p:to>
                                        <p:strVal val="visible"/>
                                      </p:to>
                                    </p:set>
                                    <p:anim calcmode="lin" valueType="num">
                                      <p:cBhvr additive="base">
                                        <p:cTn id="69" dur="500" fill="hold"/>
                                        <p:tgtEl>
                                          <p:spTgt spid="87"/>
                                        </p:tgtEl>
                                        <p:attrNameLst>
                                          <p:attrName>ppt_x</p:attrName>
                                        </p:attrNameLst>
                                      </p:cBhvr>
                                      <p:tavLst>
                                        <p:tav tm="0">
                                          <p:val>
                                            <p:strVal val="1+#ppt_w/2"/>
                                          </p:val>
                                        </p:tav>
                                        <p:tav tm="100000">
                                          <p:val>
                                            <p:strVal val="#ppt_x"/>
                                          </p:val>
                                        </p:tav>
                                      </p:tavLst>
                                    </p:anim>
                                    <p:anim calcmode="lin" valueType="num">
                                      <p:cBhvr additive="base">
                                        <p:cTn id="70" dur="500" fill="hold"/>
                                        <p:tgtEl>
                                          <p:spTgt spid="87"/>
                                        </p:tgtEl>
                                        <p:attrNameLst>
                                          <p:attrName>ppt_y</p:attrName>
                                        </p:attrNameLst>
                                      </p:cBhvr>
                                      <p:tavLst>
                                        <p:tav tm="0">
                                          <p:val>
                                            <p:strVal val="#ppt_y"/>
                                          </p:val>
                                        </p:tav>
                                        <p:tav tm="100000">
                                          <p:val>
                                            <p:strVal val="#ppt_y"/>
                                          </p:val>
                                        </p:tav>
                                      </p:tavLst>
                                    </p:anim>
                                  </p:childTnLst>
                                </p:cTn>
                              </p:par>
                            </p:childTnLst>
                          </p:cTn>
                        </p:par>
                        <p:par>
                          <p:cTn id="71" fill="hold">
                            <p:stCondLst>
                              <p:cond delay="5500"/>
                            </p:stCondLst>
                            <p:childTnLst>
                              <p:par>
                                <p:cTn id="72" presetID="53" presetClass="entr" presetSubtype="528" fill="hold" nodeType="afterEffect">
                                  <p:stCondLst>
                                    <p:cond delay="0"/>
                                  </p:stCondLst>
                                  <p:childTnLst>
                                    <p:set>
                                      <p:cBhvr>
                                        <p:cTn id="73" dur="1" fill="hold">
                                          <p:stCondLst>
                                            <p:cond delay="0"/>
                                          </p:stCondLst>
                                        </p:cTn>
                                        <p:tgtEl>
                                          <p:spTgt spid="22"/>
                                        </p:tgtEl>
                                        <p:attrNameLst>
                                          <p:attrName>style.visibility</p:attrName>
                                        </p:attrNameLst>
                                      </p:cBhvr>
                                      <p:to>
                                        <p:strVal val="visible"/>
                                      </p:to>
                                    </p:set>
                                    <p:anim calcmode="lin" valueType="num">
                                      <p:cBhvr>
                                        <p:cTn id="74" dur="500" fill="hold"/>
                                        <p:tgtEl>
                                          <p:spTgt spid="22"/>
                                        </p:tgtEl>
                                        <p:attrNameLst>
                                          <p:attrName>ppt_w</p:attrName>
                                        </p:attrNameLst>
                                      </p:cBhvr>
                                      <p:tavLst>
                                        <p:tav tm="0">
                                          <p:val>
                                            <p:fltVal val="0"/>
                                          </p:val>
                                        </p:tav>
                                        <p:tav tm="100000">
                                          <p:val>
                                            <p:strVal val="#ppt_w"/>
                                          </p:val>
                                        </p:tav>
                                      </p:tavLst>
                                    </p:anim>
                                    <p:anim calcmode="lin" valueType="num">
                                      <p:cBhvr>
                                        <p:cTn id="75" dur="500" fill="hold"/>
                                        <p:tgtEl>
                                          <p:spTgt spid="22"/>
                                        </p:tgtEl>
                                        <p:attrNameLst>
                                          <p:attrName>ppt_h</p:attrName>
                                        </p:attrNameLst>
                                      </p:cBhvr>
                                      <p:tavLst>
                                        <p:tav tm="0">
                                          <p:val>
                                            <p:fltVal val="0"/>
                                          </p:val>
                                        </p:tav>
                                        <p:tav tm="100000">
                                          <p:val>
                                            <p:strVal val="#ppt_h"/>
                                          </p:val>
                                        </p:tav>
                                      </p:tavLst>
                                    </p:anim>
                                    <p:animEffect transition="in" filter="fade">
                                      <p:cBhvr>
                                        <p:cTn id="76" dur="500"/>
                                        <p:tgtEl>
                                          <p:spTgt spid="22"/>
                                        </p:tgtEl>
                                      </p:cBhvr>
                                    </p:animEffect>
                                    <p:anim calcmode="lin" valueType="num">
                                      <p:cBhvr>
                                        <p:cTn id="77" dur="500" fill="hold"/>
                                        <p:tgtEl>
                                          <p:spTgt spid="22"/>
                                        </p:tgtEl>
                                        <p:attrNameLst>
                                          <p:attrName>ppt_x</p:attrName>
                                        </p:attrNameLst>
                                      </p:cBhvr>
                                      <p:tavLst>
                                        <p:tav tm="0">
                                          <p:val>
                                            <p:fltVal val="0.5"/>
                                          </p:val>
                                        </p:tav>
                                        <p:tav tm="100000">
                                          <p:val>
                                            <p:strVal val="#ppt_x"/>
                                          </p:val>
                                        </p:tav>
                                      </p:tavLst>
                                    </p:anim>
                                    <p:anim calcmode="lin" valueType="num">
                                      <p:cBhvr>
                                        <p:cTn id="78" dur="500" fill="hold"/>
                                        <p:tgtEl>
                                          <p:spTgt spid="22"/>
                                        </p:tgtEl>
                                        <p:attrNameLst>
                                          <p:attrName>ppt_y</p:attrName>
                                        </p:attrNameLst>
                                      </p:cBhvr>
                                      <p:tavLst>
                                        <p:tav tm="0">
                                          <p:val>
                                            <p:fltVal val="0.5"/>
                                          </p:val>
                                        </p:tav>
                                        <p:tav tm="100000">
                                          <p:val>
                                            <p:strVal val="#ppt_y"/>
                                          </p:val>
                                        </p:tav>
                                      </p:tavLst>
                                    </p:anim>
                                  </p:childTnLst>
                                </p:cTn>
                              </p:par>
                            </p:childTnLst>
                          </p:cTn>
                        </p:par>
                        <p:par>
                          <p:cTn id="79" fill="hold">
                            <p:stCondLst>
                              <p:cond delay="6000"/>
                            </p:stCondLst>
                            <p:childTnLst>
                              <p:par>
                                <p:cTn id="80" presetID="2" presetClass="entr" presetSubtype="2" fill="hold" grpId="0" nodeType="after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00" fill="hold"/>
                                        <p:tgtEl>
                                          <p:spTgt spid="21"/>
                                        </p:tgtEl>
                                        <p:attrNameLst>
                                          <p:attrName>ppt_x</p:attrName>
                                        </p:attrNameLst>
                                      </p:cBhvr>
                                      <p:tavLst>
                                        <p:tav tm="0">
                                          <p:val>
                                            <p:strVal val="1+#ppt_w/2"/>
                                          </p:val>
                                        </p:tav>
                                        <p:tav tm="100000">
                                          <p:val>
                                            <p:strVal val="#ppt_x"/>
                                          </p:val>
                                        </p:tav>
                                      </p:tavLst>
                                    </p:anim>
                                    <p:anim calcmode="lin" valueType="num">
                                      <p:cBhvr additive="base">
                                        <p:cTn id="83"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3" grpId="0"/>
      <p:bldP spid="3" grpId="0"/>
      <p:bldP spid="79" grpId="0" animBg="1"/>
      <p:bldP spid="83" grpId="0" animBg="1"/>
      <p:bldP spid="87" grpId="0" animBg="1"/>
      <p:bldP spid="4" grpId="0" animBg="1"/>
      <p:bldP spid="2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3"/>
          <p:cNvSpPr>
            <a:spLocks noChangeArrowheads="1"/>
          </p:cNvSpPr>
          <p:nvPr/>
        </p:nvSpPr>
        <p:spPr bwMode="auto">
          <a:xfrm>
            <a:off x="5835289" y="1033691"/>
            <a:ext cx="3308711" cy="3863587"/>
          </a:xfrm>
          <a:prstGeom prst="rect">
            <a:avLst/>
          </a:prstGeom>
          <a:solidFill>
            <a:srgbClr val="1B4367"/>
          </a:solidFill>
          <a:ln w="9525">
            <a:noFill/>
            <a:bevel/>
            <a:headEnd/>
            <a:tailEnd/>
          </a:ln>
        </p:spPr>
        <p:txBody>
          <a:bodyPr lIns="68580" tIns="34290" rIns="68580" bIns="34290"/>
          <a:lstStyle/>
          <a:p>
            <a:pPr eaLnBrk="1" hangingPunct="1"/>
            <a:endParaRPr lang="zh-CN" altLang="en-US">
              <a:cs typeface="+mn-ea"/>
              <a:sym typeface="+mn-lt"/>
            </a:endParaRPr>
          </a:p>
        </p:txBody>
      </p:sp>
      <p:sp>
        <p:nvSpPr>
          <p:cNvPr id="25" name="TextBox 1210"/>
          <p:cNvSpPr/>
          <p:nvPr/>
        </p:nvSpPr>
        <p:spPr>
          <a:xfrm>
            <a:off x="5835287" y="1270053"/>
            <a:ext cx="1164421" cy="377026"/>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l"/>
            <a:r>
              <a:rPr lang="zh-CN" altLang="en-US" sz="2000" b="1" dirty="0">
                <a:solidFill>
                  <a:schemeClr val="bg1"/>
                </a:solidFill>
                <a:cs typeface="+mn-ea"/>
                <a:sym typeface="+mn-lt"/>
              </a:rPr>
              <a:t>蛇纹石化</a:t>
            </a:r>
          </a:p>
        </p:txBody>
      </p:sp>
      <p:sp>
        <p:nvSpPr>
          <p:cNvPr id="12" name="文本框 11"/>
          <p:cNvSpPr txBox="1"/>
          <p:nvPr/>
        </p:nvSpPr>
        <p:spPr>
          <a:xfrm>
            <a:off x="5835287" y="1748834"/>
            <a:ext cx="3111489" cy="2980431"/>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marL="285750" indent="-285750">
              <a:lnSpc>
                <a:spcPct val="150000"/>
              </a:lnSpc>
              <a:buFont typeface="Arial" panose="020B0604020202020204" pitchFamily="34" charset="0"/>
              <a:buChar char="•"/>
            </a:pPr>
            <a:r>
              <a:rPr lang="zh-CN" altLang="en-US" sz="1600" dirty="0">
                <a:solidFill>
                  <a:schemeClr val="bg1"/>
                </a:solidFill>
                <a:cs typeface="+mn-ea"/>
                <a:sym typeface="+mn-lt"/>
              </a:rPr>
              <a:t>蛇纹石化是洋壳超基性岩低温水热蚀变过程的主要反应之一</a:t>
            </a:r>
            <a:endParaRPr lang="en-US" altLang="zh-CN" sz="1600" dirty="0">
              <a:solidFill>
                <a:schemeClr val="bg1"/>
              </a:solidFill>
              <a:cs typeface="+mn-ea"/>
              <a:sym typeface="+mn-lt"/>
            </a:endParaRPr>
          </a:p>
          <a:p>
            <a:pPr marL="285750" indent="-285750">
              <a:lnSpc>
                <a:spcPct val="150000"/>
              </a:lnSpc>
              <a:buFont typeface="Arial" panose="020B0604020202020204" pitchFamily="34" charset="0"/>
              <a:buChar char="•"/>
            </a:pPr>
            <a:r>
              <a:rPr lang="zh-CN" altLang="en-US" sz="1600" dirty="0">
                <a:solidFill>
                  <a:schemeClr val="bg1"/>
                </a:solidFill>
                <a:cs typeface="+mn-ea"/>
                <a:sym typeface="+mn-lt"/>
              </a:rPr>
              <a:t>该反应能极大地影响岩石物理化学性质</a:t>
            </a:r>
          </a:p>
          <a:p>
            <a:pPr marL="285750" indent="-285750">
              <a:lnSpc>
                <a:spcPct val="150000"/>
              </a:lnSpc>
              <a:buFont typeface="Arial" panose="020B0604020202020204" pitchFamily="34" charset="0"/>
              <a:buChar char="•"/>
            </a:pPr>
            <a:r>
              <a:rPr lang="zh-CN" altLang="en-US" sz="1600" dirty="0">
                <a:solidFill>
                  <a:schemeClr val="bg1"/>
                </a:solidFill>
                <a:cs typeface="+mn-ea"/>
                <a:sym typeface="+mn-lt"/>
              </a:rPr>
              <a:t>洋壳中超基性岩完全蛇纹石化后会使洋壳富水，进而使洋壳体积增大，极大地影响岩石的流变学特征。</a:t>
            </a:r>
            <a:endParaRPr lang="en-US" altLang="zh-CN" sz="1600" dirty="0">
              <a:solidFill>
                <a:schemeClr val="bg1"/>
              </a:solidFill>
              <a:cs typeface="+mn-ea"/>
              <a:sym typeface="+mn-lt"/>
            </a:endParaRPr>
          </a:p>
        </p:txBody>
      </p:sp>
      <p:sp>
        <p:nvSpPr>
          <p:cNvPr id="16" name="文本框 15"/>
          <p:cNvSpPr txBox="1"/>
          <p:nvPr/>
        </p:nvSpPr>
        <p:spPr>
          <a:xfrm>
            <a:off x="716110" y="316509"/>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选题背景与意义</a:t>
            </a:r>
          </a:p>
        </p:txBody>
      </p:sp>
      <p:cxnSp>
        <p:nvCxnSpPr>
          <p:cNvPr id="3" name="直接连接符 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D5D384B9-FB08-4171-B7A8-FEAC0704EB30}"/>
              </a:ext>
            </a:extLst>
          </p:cNvPr>
          <p:cNvPicPr>
            <a:picLocks noChangeAspect="1"/>
          </p:cNvPicPr>
          <p:nvPr/>
        </p:nvPicPr>
        <p:blipFill>
          <a:blip r:embed="rId3"/>
          <a:stretch>
            <a:fillRect/>
          </a:stretch>
        </p:blipFill>
        <p:spPr>
          <a:xfrm>
            <a:off x="-1" y="1033692"/>
            <a:ext cx="5835289" cy="2603672"/>
          </a:xfrm>
          <a:prstGeom prst="rect">
            <a:avLst/>
          </a:prstGeom>
        </p:spPr>
      </p:pic>
      <p:sp>
        <p:nvSpPr>
          <p:cNvPr id="20" name="文本框 19">
            <a:extLst>
              <a:ext uri="{FF2B5EF4-FFF2-40B4-BE49-F238E27FC236}">
                <a16:creationId xmlns:a16="http://schemas.microsoft.com/office/drawing/2014/main" id="{AF8E3BEC-5F72-44F6-A7FE-5127D0B3D1A2}"/>
              </a:ext>
            </a:extLst>
          </p:cNvPr>
          <p:cNvSpPr txBox="1"/>
          <p:nvPr/>
        </p:nvSpPr>
        <p:spPr>
          <a:xfrm>
            <a:off x="-1618" y="4897279"/>
            <a:ext cx="1848583" cy="246221"/>
          </a:xfrm>
          <a:prstGeom prst="rect">
            <a:avLst/>
          </a:prstGeom>
          <a:noFill/>
        </p:spPr>
        <p:txBody>
          <a:bodyPr wrap="none" rtlCol="0">
            <a:spAutoFit/>
          </a:bodyPr>
          <a:lstStyle/>
          <a:p>
            <a:r>
              <a:rPr lang="zh-CN" altLang="en-US" sz="1000" dirty="0"/>
              <a:t>图源：</a:t>
            </a:r>
            <a:r>
              <a:rPr lang="en-US" altLang="zh-CN" sz="1000" dirty="0" err="1">
                <a:latin typeface="Times New Roman" panose="02020603050405020304" pitchFamily="18" charset="0"/>
                <a:cs typeface="Times New Roman" panose="02020603050405020304" pitchFamily="18" charset="0"/>
              </a:rPr>
              <a:t>Ningthoujam</a:t>
            </a:r>
            <a:r>
              <a:rPr lang="en-US" altLang="zh-CN" sz="1000" dirty="0">
                <a:latin typeface="Times New Roman" panose="02020603050405020304" pitchFamily="18" charset="0"/>
                <a:cs typeface="Times New Roman" panose="02020603050405020304" pitchFamily="18" charset="0"/>
              </a:rPr>
              <a:t> et al., 2012</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6"/>
                                        </p:tgtEl>
                                        <p:attrNameLst>
                                          <p:attrName>ppt_y</p:attrName>
                                        </p:attrNameLst>
                                      </p:cBhvr>
                                      <p:tavLst>
                                        <p:tav tm="0">
                                          <p:val>
                                            <p:strVal val="#ppt_y"/>
                                          </p:val>
                                        </p:tav>
                                        <p:tav tm="100000">
                                          <p:val>
                                            <p:strVal val="#ppt_y"/>
                                          </p:val>
                                        </p:tav>
                                      </p:tavLst>
                                    </p:anim>
                                    <p:anim calcmode="lin" valueType="num">
                                      <p:cBhvr>
                                        <p:cTn id="9"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6"/>
                                        </p:tgtEl>
                                      </p:cBhvr>
                                    </p:animEffect>
                                  </p:childTnLst>
                                </p:cTn>
                              </p:par>
                            </p:childTnLst>
                          </p:cTn>
                        </p:par>
                        <p:par>
                          <p:cTn id="12" fill="hold">
                            <p:stCondLst>
                              <p:cond delay="8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300"/>
                                        <p:tgtEl>
                                          <p:spTgt spid="3"/>
                                        </p:tgtEl>
                                      </p:cBhvr>
                                    </p:animEffect>
                                  </p:childTnLst>
                                </p:cTn>
                              </p:par>
                              <p:par>
                                <p:cTn id="16" presetID="2" presetClass="entr" presetSubtype="2"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additive="base">
                                        <p:cTn id="18" dur="500" fill="hold"/>
                                        <p:tgtEl>
                                          <p:spTgt spid="23"/>
                                        </p:tgtEl>
                                        <p:attrNameLst>
                                          <p:attrName>ppt_x</p:attrName>
                                        </p:attrNameLst>
                                      </p:cBhvr>
                                      <p:tavLst>
                                        <p:tav tm="0">
                                          <p:val>
                                            <p:strVal val="1+#ppt_w/2"/>
                                          </p:val>
                                        </p:tav>
                                        <p:tav tm="100000">
                                          <p:val>
                                            <p:strVal val="#ppt_x"/>
                                          </p:val>
                                        </p:tav>
                                      </p:tavLst>
                                    </p:anim>
                                    <p:anim calcmode="lin" valueType="num">
                                      <p:cBhvr additive="base">
                                        <p:cTn id="19" dur="500" fill="hold"/>
                                        <p:tgtEl>
                                          <p:spTgt spid="23"/>
                                        </p:tgtEl>
                                        <p:attrNameLst>
                                          <p:attrName>ppt_y</p:attrName>
                                        </p:attrNameLst>
                                      </p:cBhvr>
                                      <p:tavLst>
                                        <p:tav tm="0">
                                          <p:val>
                                            <p:strVal val="#ppt_y"/>
                                          </p:val>
                                        </p:tav>
                                        <p:tav tm="100000">
                                          <p:val>
                                            <p:strVal val="#ppt_y"/>
                                          </p:val>
                                        </p:tav>
                                      </p:tavLst>
                                    </p:anim>
                                  </p:childTnLst>
                                </p:cTn>
                              </p:par>
                            </p:childTnLst>
                          </p:cTn>
                        </p:par>
                        <p:par>
                          <p:cTn id="20" fill="hold">
                            <p:stCondLst>
                              <p:cond delay="1300"/>
                            </p:stCondLst>
                            <p:childTnLst>
                              <p:par>
                                <p:cTn id="21" presetID="12" presetClass="entr" presetSubtype="1"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 calcmode="lin" valueType="num">
                                      <p:cBhvr additive="base">
                                        <p:cTn id="23" dur="500"/>
                                        <p:tgtEl>
                                          <p:spTgt spid="25"/>
                                        </p:tgtEl>
                                        <p:attrNameLst>
                                          <p:attrName>ppt_y</p:attrName>
                                        </p:attrNameLst>
                                      </p:cBhvr>
                                      <p:tavLst>
                                        <p:tav tm="0">
                                          <p:val>
                                            <p:strVal val="#ppt_y-#ppt_h*1.125000"/>
                                          </p:val>
                                        </p:tav>
                                        <p:tav tm="100000">
                                          <p:val>
                                            <p:strVal val="#ppt_y"/>
                                          </p:val>
                                        </p:tav>
                                      </p:tavLst>
                                    </p:anim>
                                    <p:animEffect transition="in" filter="wipe(down)">
                                      <p:cBhvr>
                                        <p:cTn id="24" dur="500"/>
                                        <p:tgtEl>
                                          <p:spTgt spid="25"/>
                                        </p:tgtEl>
                                      </p:cBhvr>
                                    </p:animEffect>
                                  </p:childTnLst>
                                </p:cTn>
                              </p:par>
                            </p:childTnLst>
                          </p:cTn>
                        </p:par>
                        <p:par>
                          <p:cTn id="25" fill="hold">
                            <p:stCondLst>
                              <p:cond delay="1800"/>
                            </p:stCondLst>
                            <p:childTnLst>
                              <p:par>
                                <p:cTn id="26" presetID="2" presetClass="entr" presetSubtype="2"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utoUpdateAnimBg="0"/>
      <p:bldP spid="25" grpId="0"/>
      <p:bldP spid="12"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824718" y="1120238"/>
            <a:ext cx="1202531" cy="1202531"/>
            <a:chOff x="2361414" y="1854736"/>
            <a:chExt cx="1603375" cy="1603375"/>
          </a:xfrm>
          <a:solidFill>
            <a:srgbClr val="1B4367"/>
          </a:solidFill>
        </p:grpSpPr>
        <p:sp>
          <p:nvSpPr>
            <p:cNvPr id="20485" name="Rectangle 3"/>
            <p:cNvSpPr/>
            <p:nvPr/>
          </p:nvSpPr>
          <p:spPr>
            <a:xfrm>
              <a:off x="2361414" y="1854736"/>
              <a:ext cx="1603375"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0490" name="Freeform 220"/>
            <p:cNvSpPr/>
            <p:nvPr/>
          </p:nvSpPr>
          <p:spPr>
            <a:xfrm>
              <a:off x="2770383" y="2305455"/>
              <a:ext cx="796514" cy="594622"/>
            </a:xfrm>
            <a:custGeom>
              <a:avLst/>
              <a:gdLst/>
              <a:ahLst/>
              <a:cxnLst>
                <a:cxn ang="0">
                  <a:pos x="384421" y="282893"/>
                </a:cxn>
                <a:cxn ang="0">
                  <a:pos x="384421" y="0"/>
                </a:cxn>
                <a:cxn ang="0">
                  <a:pos x="299800" y="0"/>
                </a:cxn>
                <a:cxn ang="0">
                  <a:pos x="299800" y="282893"/>
                </a:cxn>
                <a:cxn ang="0">
                  <a:pos x="251445" y="282893"/>
                </a:cxn>
                <a:cxn ang="0">
                  <a:pos x="251445" y="174088"/>
                </a:cxn>
                <a:cxn ang="0">
                  <a:pos x="166824" y="174088"/>
                </a:cxn>
                <a:cxn ang="0">
                  <a:pos x="166824" y="282893"/>
                </a:cxn>
                <a:cxn ang="0">
                  <a:pos x="120887" y="282893"/>
                </a:cxn>
                <a:cxn ang="0">
                  <a:pos x="120887" y="77372"/>
                </a:cxn>
                <a:cxn ang="0">
                  <a:pos x="36266" y="77372"/>
                </a:cxn>
                <a:cxn ang="0">
                  <a:pos x="36266" y="282893"/>
                </a:cxn>
                <a:cxn ang="0">
                  <a:pos x="0" y="282893"/>
                </a:cxn>
                <a:cxn ang="0">
                  <a:pos x="0" y="314325"/>
                </a:cxn>
                <a:cxn ang="0">
                  <a:pos x="420687" y="314325"/>
                </a:cxn>
                <a:cxn ang="0">
                  <a:pos x="420687" y="282893"/>
                </a:cxn>
                <a:cxn ang="0">
                  <a:pos x="384421" y="282893"/>
                </a:cxn>
              </a:cxnLst>
              <a:rect l="0" t="0" r="0" b="0"/>
              <a:pathLst>
                <a:path w="174" h="130">
                  <a:moveTo>
                    <a:pt x="159" y="117"/>
                  </a:moveTo>
                  <a:lnTo>
                    <a:pt x="159" y="0"/>
                  </a:lnTo>
                  <a:lnTo>
                    <a:pt x="124" y="0"/>
                  </a:lnTo>
                  <a:lnTo>
                    <a:pt x="124" y="117"/>
                  </a:lnTo>
                  <a:lnTo>
                    <a:pt x="104" y="117"/>
                  </a:lnTo>
                  <a:lnTo>
                    <a:pt x="104" y="72"/>
                  </a:lnTo>
                  <a:lnTo>
                    <a:pt x="69" y="72"/>
                  </a:lnTo>
                  <a:lnTo>
                    <a:pt x="69" y="117"/>
                  </a:lnTo>
                  <a:lnTo>
                    <a:pt x="50" y="117"/>
                  </a:lnTo>
                  <a:lnTo>
                    <a:pt x="50" y="32"/>
                  </a:lnTo>
                  <a:lnTo>
                    <a:pt x="15" y="32"/>
                  </a:lnTo>
                  <a:lnTo>
                    <a:pt x="15" y="117"/>
                  </a:lnTo>
                  <a:lnTo>
                    <a:pt x="0" y="117"/>
                  </a:lnTo>
                  <a:lnTo>
                    <a:pt x="0" y="130"/>
                  </a:lnTo>
                  <a:lnTo>
                    <a:pt x="174" y="130"/>
                  </a:lnTo>
                  <a:lnTo>
                    <a:pt x="174" y="117"/>
                  </a:lnTo>
                  <a:lnTo>
                    <a:pt x="159" y="117"/>
                  </a:lnTo>
                  <a:close/>
                </a:path>
              </a:pathLst>
            </a:custGeom>
            <a:solidFill>
              <a:schemeClr val="bg1"/>
            </a:solidFill>
            <a:ln w="9525">
              <a:noFill/>
            </a:ln>
          </p:spPr>
          <p:txBody>
            <a:bodyPr/>
            <a:lstStyle/>
            <a:p>
              <a:endParaRPr lang="zh-CN" altLang="en-US">
                <a:cs typeface="+mn-ea"/>
                <a:sym typeface="+mn-lt"/>
              </a:endParaRPr>
            </a:p>
          </p:txBody>
        </p:sp>
      </p:grpSp>
      <p:sp>
        <p:nvSpPr>
          <p:cNvPr id="20493" name="TextBox 13"/>
          <p:cNvSpPr txBox="1"/>
          <p:nvPr/>
        </p:nvSpPr>
        <p:spPr>
          <a:xfrm>
            <a:off x="2151948" y="1032351"/>
            <a:ext cx="1401112" cy="307777"/>
          </a:xfrm>
          <a:prstGeom prst="rect">
            <a:avLst/>
          </a:prstGeom>
          <a:noFill/>
          <a:ln w="9525">
            <a:noFill/>
            <a:miter/>
          </a:ln>
        </p:spPr>
        <p:txBody>
          <a:bodyPr wrap="square" lIns="0" tIns="0" rIns="0" bIns="0">
            <a:spAutoFit/>
          </a:bodyPr>
          <a:lstStyle/>
          <a:p>
            <a:pPr defTabSz="683419">
              <a:spcBef>
                <a:spcPct val="20000"/>
              </a:spcBef>
            </a:pPr>
            <a:r>
              <a:rPr lang="zh-CN" altLang="en-US" sz="2000" b="1" dirty="0">
                <a:solidFill>
                  <a:srgbClr val="1B4367"/>
                </a:solidFill>
                <a:cs typeface="+mn-ea"/>
                <a:sym typeface="+mn-lt"/>
              </a:rPr>
              <a:t>目的</a:t>
            </a:r>
          </a:p>
        </p:txBody>
      </p:sp>
      <p:sp>
        <p:nvSpPr>
          <p:cNvPr id="20494" name="TextBox 13"/>
          <p:cNvSpPr txBox="1"/>
          <p:nvPr/>
        </p:nvSpPr>
        <p:spPr>
          <a:xfrm>
            <a:off x="2151948" y="1340128"/>
            <a:ext cx="2157202" cy="2911182"/>
          </a:xfrm>
          <a:prstGeom prst="rect">
            <a:avLst/>
          </a:prstGeom>
          <a:noFill/>
          <a:ln w="9525">
            <a:noFill/>
            <a:miter/>
          </a:ln>
        </p:spPr>
        <p:txBody>
          <a:bodyPr wrap="square" lIns="0" tIns="0" rIns="0" bIns="0">
            <a:spAutoFit/>
          </a:bodyPr>
          <a:lstStyle/>
          <a:p>
            <a:pPr>
              <a:lnSpc>
                <a:spcPct val="150000"/>
              </a:lnSpc>
            </a:pPr>
            <a:r>
              <a:rPr lang="zh-CN" altLang="en-US" sz="1600" dirty="0">
                <a:solidFill>
                  <a:schemeClr val="tx1">
                    <a:lumMod val="75000"/>
                    <a:lumOff val="25000"/>
                  </a:schemeClr>
                </a:solidFill>
                <a:cs typeface="+mn-ea"/>
                <a:sym typeface="+mn-lt"/>
              </a:rPr>
              <a:t>本研究借助大数据和人工智能的手段，有效地从矿物成分上区分蛇纹石多型，进而研究蛇纹石多型与元素成分存在何种联系以及反演当时发生蛇纹石化的环境和物质转移部分</a:t>
            </a:r>
          </a:p>
        </p:txBody>
      </p:sp>
      <p:sp>
        <p:nvSpPr>
          <p:cNvPr id="24"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选题背景与意义</a:t>
            </a:r>
          </a:p>
        </p:txBody>
      </p:sp>
      <p:grpSp>
        <p:nvGrpSpPr>
          <p:cNvPr id="4" name="组合 3"/>
          <p:cNvGrpSpPr/>
          <p:nvPr/>
        </p:nvGrpSpPr>
        <p:grpSpPr>
          <a:xfrm>
            <a:off x="4755722" y="1121666"/>
            <a:ext cx="1201103" cy="1202531"/>
            <a:chOff x="4856202" y="1222146"/>
            <a:chExt cx="1201103" cy="1202531"/>
          </a:xfrm>
          <a:solidFill>
            <a:srgbClr val="1B4367"/>
          </a:solidFill>
        </p:grpSpPr>
        <p:sp>
          <p:nvSpPr>
            <p:cNvPr id="20487" name="Rectangle 6"/>
            <p:cNvSpPr/>
            <p:nvPr/>
          </p:nvSpPr>
          <p:spPr>
            <a:xfrm>
              <a:off x="4856202" y="1222146"/>
              <a:ext cx="1201103" cy="1202531"/>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25" name="KSO_Shape"/>
            <p:cNvSpPr>
              <a:spLocks/>
            </p:cNvSpPr>
            <p:nvPr/>
          </p:nvSpPr>
          <p:spPr bwMode="auto">
            <a:xfrm>
              <a:off x="5275038" y="1500840"/>
              <a:ext cx="363431" cy="645143"/>
            </a:xfrm>
            <a:custGeom>
              <a:avLst/>
              <a:gdLst>
                <a:gd name="T0" fmla="*/ 2147483646 w 3056"/>
                <a:gd name="T1" fmla="*/ 2147483646 h 5429"/>
                <a:gd name="T2" fmla="*/ 2147483646 w 3056"/>
                <a:gd name="T3" fmla="*/ 2147483646 h 5429"/>
                <a:gd name="T4" fmla="*/ 2147483646 w 3056"/>
                <a:gd name="T5" fmla="*/ 388832290 h 5429"/>
                <a:gd name="T6" fmla="*/ 2147483646 w 3056"/>
                <a:gd name="T7" fmla="*/ 345615213 h 5429"/>
                <a:gd name="T8" fmla="*/ 2147483646 w 3056"/>
                <a:gd name="T9" fmla="*/ 2147483646 h 5429"/>
                <a:gd name="T10" fmla="*/ 2147483646 w 3056"/>
                <a:gd name="T11" fmla="*/ 2147483646 h 5429"/>
                <a:gd name="T12" fmla="*/ 2147483646 w 3056"/>
                <a:gd name="T13" fmla="*/ 2147483646 h 5429"/>
                <a:gd name="T14" fmla="*/ 2147483646 w 3056"/>
                <a:gd name="T15" fmla="*/ 2147483646 h 5429"/>
                <a:gd name="T16" fmla="*/ 2147483646 w 3056"/>
                <a:gd name="T17" fmla="*/ 2147483646 h 5429"/>
                <a:gd name="T18" fmla="*/ 2147483646 w 3056"/>
                <a:gd name="T19" fmla="*/ 2147483646 h 5429"/>
                <a:gd name="T20" fmla="*/ 475747481 w 3056"/>
                <a:gd name="T21" fmla="*/ 2147483646 h 5429"/>
                <a:gd name="T22" fmla="*/ 432463999 w 3056"/>
                <a:gd name="T23" fmla="*/ 2147483646 h 5429"/>
                <a:gd name="T24" fmla="*/ 2147483646 w 3056"/>
                <a:gd name="T25" fmla="*/ 2147483646 h 5429"/>
                <a:gd name="T26" fmla="*/ 2147483646 w 3056"/>
                <a:gd name="T27" fmla="*/ 2147483646 h 5429"/>
                <a:gd name="T28" fmla="*/ 2147483646 w 3056"/>
                <a:gd name="T29" fmla="*/ 2147483646 h 5429"/>
                <a:gd name="T30" fmla="*/ 2147483646 w 3056"/>
                <a:gd name="T31" fmla="*/ 2147483646 h 5429"/>
                <a:gd name="T32" fmla="*/ 2147483646 w 3056"/>
                <a:gd name="T33" fmla="*/ 2147483646 h 5429"/>
                <a:gd name="T34" fmla="*/ 2147483646 w 3056"/>
                <a:gd name="T35" fmla="*/ 2147483646 h 5429"/>
                <a:gd name="T36" fmla="*/ 2147483646 w 3056"/>
                <a:gd name="T37" fmla="*/ 2147483646 h 5429"/>
                <a:gd name="T38" fmla="*/ 2147483646 w 3056"/>
                <a:gd name="T39" fmla="*/ 2147483646 h 5429"/>
                <a:gd name="T40" fmla="*/ 2147483646 w 3056"/>
                <a:gd name="T41" fmla="*/ 2147483646 h 5429"/>
                <a:gd name="T42" fmla="*/ 2147483646 w 3056"/>
                <a:gd name="T43" fmla="*/ 2147483646 h 5429"/>
                <a:gd name="T44" fmla="*/ 2147483646 w 3056"/>
                <a:gd name="T45" fmla="*/ 2147483646 h 5429"/>
                <a:gd name="T46" fmla="*/ 2147483646 w 3056"/>
                <a:gd name="T47" fmla="*/ 2147483646 h 5429"/>
                <a:gd name="T48" fmla="*/ 2147483646 w 3056"/>
                <a:gd name="T49" fmla="*/ 2147483646 h 5429"/>
                <a:gd name="T50" fmla="*/ 2147483646 w 3056"/>
                <a:gd name="T51" fmla="*/ 2147483646 h 5429"/>
                <a:gd name="T52" fmla="*/ 2147483646 w 3056"/>
                <a:gd name="T53" fmla="*/ 2147483646 h 5429"/>
                <a:gd name="T54" fmla="*/ 2147483646 w 3056"/>
                <a:gd name="T55" fmla="*/ 2147483646 h 5429"/>
                <a:gd name="T56" fmla="*/ 2147483646 w 3056"/>
                <a:gd name="T57" fmla="*/ 2147483646 h 5429"/>
                <a:gd name="T58" fmla="*/ 2147483646 w 3056"/>
                <a:gd name="T59" fmla="*/ 2147483646 h 5429"/>
                <a:gd name="T60" fmla="*/ 2147483646 w 3056"/>
                <a:gd name="T61" fmla="*/ 2147483646 h 5429"/>
                <a:gd name="T62" fmla="*/ 2147483646 w 3056"/>
                <a:gd name="T63" fmla="*/ 2147483646 h 5429"/>
                <a:gd name="T64" fmla="*/ 2147483646 w 3056"/>
                <a:gd name="T65" fmla="*/ 2147483646 h 5429"/>
                <a:gd name="T66" fmla="*/ 2147483646 w 3056"/>
                <a:gd name="T67" fmla="*/ 2147483646 h 5429"/>
                <a:gd name="T68" fmla="*/ 2147483646 w 3056"/>
                <a:gd name="T69" fmla="*/ 2147483646 h 5429"/>
                <a:gd name="T70" fmla="*/ 2147483646 w 3056"/>
                <a:gd name="T71" fmla="*/ 2147483646 h 5429"/>
                <a:gd name="T72" fmla="*/ 2147483646 w 3056"/>
                <a:gd name="T73" fmla="*/ 2147483646 h 5429"/>
                <a:gd name="T74" fmla="*/ 2147483646 w 3056"/>
                <a:gd name="T75" fmla="*/ 2147483646 h 5429"/>
                <a:gd name="T76" fmla="*/ 2147483646 w 3056"/>
                <a:gd name="T77" fmla="*/ 2147483646 h 5429"/>
                <a:gd name="T78" fmla="*/ 2147483646 w 3056"/>
                <a:gd name="T79" fmla="*/ 2147483646 h 5429"/>
                <a:gd name="T80" fmla="*/ 2147483646 w 3056"/>
                <a:gd name="T81" fmla="*/ 2147483646 h 5429"/>
                <a:gd name="T82" fmla="*/ 2147483646 w 3056"/>
                <a:gd name="T83" fmla="*/ 2147483646 h 5429"/>
                <a:gd name="T84" fmla="*/ 2147483646 w 3056"/>
                <a:gd name="T85" fmla="*/ 2147483646 h 5429"/>
                <a:gd name="T86" fmla="*/ 2147483646 w 3056"/>
                <a:gd name="T87" fmla="*/ 2147483646 h 5429"/>
                <a:gd name="T88" fmla="*/ 2147483646 w 3056"/>
                <a:gd name="T89" fmla="*/ 2147483646 h 5429"/>
                <a:gd name="T90" fmla="*/ 2147483646 w 3056"/>
                <a:gd name="T91" fmla="*/ 2147483646 h 5429"/>
                <a:gd name="T92" fmla="*/ 2147483646 w 3056"/>
                <a:gd name="T93" fmla="*/ 2147483646 h 5429"/>
                <a:gd name="T94" fmla="*/ 2147483646 w 3056"/>
                <a:gd name="T95" fmla="*/ 2147483646 h 5429"/>
                <a:gd name="T96" fmla="*/ 2147483646 w 3056"/>
                <a:gd name="T97" fmla="*/ 2147483646 h 5429"/>
                <a:gd name="T98" fmla="*/ 2147483646 w 3056"/>
                <a:gd name="T99" fmla="*/ 2147483646 h 5429"/>
                <a:gd name="T100" fmla="*/ 2147483646 w 3056"/>
                <a:gd name="T101" fmla="*/ 2147483646 h 5429"/>
                <a:gd name="T102" fmla="*/ 2147483646 w 3056"/>
                <a:gd name="T103" fmla="*/ 2147483646 h 5429"/>
                <a:gd name="T104" fmla="*/ 2147483646 w 3056"/>
                <a:gd name="T105" fmla="*/ 2147483646 h 5429"/>
                <a:gd name="T106" fmla="*/ 2147483646 w 3056"/>
                <a:gd name="T107" fmla="*/ 2147483646 h 5429"/>
                <a:gd name="T108" fmla="*/ 2147483646 w 3056"/>
                <a:gd name="T109" fmla="*/ 2147483646 h 5429"/>
                <a:gd name="T110" fmla="*/ 2147483646 w 3056"/>
                <a:gd name="T111" fmla="*/ 2147483646 h 5429"/>
                <a:gd name="T112" fmla="*/ 2147483646 w 3056"/>
                <a:gd name="T113" fmla="*/ 2147483646 h 5429"/>
                <a:gd name="T114" fmla="*/ 2147483646 w 3056"/>
                <a:gd name="T115" fmla="*/ 2147483646 h 5429"/>
                <a:gd name="T116" fmla="*/ 2147483646 w 3056"/>
                <a:gd name="T117" fmla="*/ 2147483646 h 5429"/>
                <a:gd name="T118" fmla="*/ 2147483646 w 3056"/>
                <a:gd name="T119" fmla="*/ 2147483646 h 5429"/>
                <a:gd name="T120" fmla="*/ 2147483646 w 3056"/>
                <a:gd name="T121" fmla="*/ 2147483646 h 542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056" h="5429">
                  <a:moveTo>
                    <a:pt x="2609" y="448"/>
                  </a:moveTo>
                  <a:lnTo>
                    <a:pt x="2609" y="448"/>
                  </a:lnTo>
                  <a:lnTo>
                    <a:pt x="2575" y="415"/>
                  </a:lnTo>
                  <a:lnTo>
                    <a:pt x="2538" y="383"/>
                  </a:lnTo>
                  <a:lnTo>
                    <a:pt x="2503" y="352"/>
                  </a:lnTo>
                  <a:lnTo>
                    <a:pt x="2465" y="322"/>
                  </a:lnTo>
                  <a:lnTo>
                    <a:pt x="2426" y="293"/>
                  </a:lnTo>
                  <a:lnTo>
                    <a:pt x="2388" y="265"/>
                  </a:lnTo>
                  <a:lnTo>
                    <a:pt x="2348" y="239"/>
                  </a:lnTo>
                  <a:lnTo>
                    <a:pt x="2307" y="213"/>
                  </a:lnTo>
                  <a:lnTo>
                    <a:pt x="2266" y="190"/>
                  </a:lnTo>
                  <a:lnTo>
                    <a:pt x="2224" y="168"/>
                  </a:lnTo>
                  <a:lnTo>
                    <a:pt x="2182" y="146"/>
                  </a:lnTo>
                  <a:lnTo>
                    <a:pt x="2138" y="127"/>
                  </a:lnTo>
                  <a:lnTo>
                    <a:pt x="2095" y="108"/>
                  </a:lnTo>
                  <a:lnTo>
                    <a:pt x="2049" y="91"/>
                  </a:lnTo>
                  <a:lnTo>
                    <a:pt x="2005" y="75"/>
                  </a:lnTo>
                  <a:lnTo>
                    <a:pt x="1960" y="61"/>
                  </a:lnTo>
                  <a:lnTo>
                    <a:pt x="1907" y="46"/>
                  </a:lnTo>
                  <a:lnTo>
                    <a:pt x="1853" y="34"/>
                  </a:lnTo>
                  <a:lnTo>
                    <a:pt x="1800" y="24"/>
                  </a:lnTo>
                  <a:lnTo>
                    <a:pt x="1746" y="15"/>
                  </a:lnTo>
                  <a:lnTo>
                    <a:pt x="1692" y="9"/>
                  </a:lnTo>
                  <a:lnTo>
                    <a:pt x="1638" y="3"/>
                  </a:lnTo>
                  <a:lnTo>
                    <a:pt x="1582" y="1"/>
                  </a:lnTo>
                  <a:lnTo>
                    <a:pt x="1527" y="0"/>
                  </a:lnTo>
                  <a:lnTo>
                    <a:pt x="1490" y="0"/>
                  </a:lnTo>
                  <a:lnTo>
                    <a:pt x="1451" y="2"/>
                  </a:lnTo>
                  <a:lnTo>
                    <a:pt x="1413" y="4"/>
                  </a:lnTo>
                  <a:lnTo>
                    <a:pt x="1376" y="8"/>
                  </a:lnTo>
                  <a:lnTo>
                    <a:pt x="1338" y="11"/>
                  </a:lnTo>
                  <a:lnTo>
                    <a:pt x="1302" y="17"/>
                  </a:lnTo>
                  <a:lnTo>
                    <a:pt x="1264" y="22"/>
                  </a:lnTo>
                  <a:lnTo>
                    <a:pt x="1227" y="29"/>
                  </a:lnTo>
                  <a:lnTo>
                    <a:pt x="1191" y="36"/>
                  </a:lnTo>
                  <a:lnTo>
                    <a:pt x="1154" y="45"/>
                  </a:lnTo>
                  <a:lnTo>
                    <a:pt x="1118" y="55"/>
                  </a:lnTo>
                  <a:lnTo>
                    <a:pt x="1083" y="65"/>
                  </a:lnTo>
                  <a:lnTo>
                    <a:pt x="1047" y="76"/>
                  </a:lnTo>
                  <a:lnTo>
                    <a:pt x="1012" y="88"/>
                  </a:lnTo>
                  <a:lnTo>
                    <a:pt x="977" y="102"/>
                  </a:lnTo>
                  <a:lnTo>
                    <a:pt x="942" y="115"/>
                  </a:lnTo>
                  <a:lnTo>
                    <a:pt x="909" y="130"/>
                  </a:lnTo>
                  <a:lnTo>
                    <a:pt x="875" y="146"/>
                  </a:lnTo>
                  <a:lnTo>
                    <a:pt x="841" y="161"/>
                  </a:lnTo>
                  <a:lnTo>
                    <a:pt x="808" y="179"/>
                  </a:lnTo>
                  <a:lnTo>
                    <a:pt x="775" y="197"/>
                  </a:lnTo>
                  <a:lnTo>
                    <a:pt x="743" y="216"/>
                  </a:lnTo>
                  <a:lnTo>
                    <a:pt x="712" y="235"/>
                  </a:lnTo>
                  <a:lnTo>
                    <a:pt x="680" y="255"/>
                  </a:lnTo>
                  <a:lnTo>
                    <a:pt x="649" y="277"/>
                  </a:lnTo>
                  <a:lnTo>
                    <a:pt x="619" y="300"/>
                  </a:lnTo>
                  <a:lnTo>
                    <a:pt x="589" y="322"/>
                  </a:lnTo>
                  <a:lnTo>
                    <a:pt x="559" y="345"/>
                  </a:lnTo>
                  <a:lnTo>
                    <a:pt x="531" y="370"/>
                  </a:lnTo>
                  <a:lnTo>
                    <a:pt x="502" y="395"/>
                  </a:lnTo>
                  <a:lnTo>
                    <a:pt x="474" y="421"/>
                  </a:lnTo>
                  <a:lnTo>
                    <a:pt x="447" y="448"/>
                  </a:lnTo>
                  <a:lnTo>
                    <a:pt x="420" y="475"/>
                  </a:lnTo>
                  <a:lnTo>
                    <a:pt x="395" y="503"/>
                  </a:lnTo>
                  <a:lnTo>
                    <a:pt x="369" y="531"/>
                  </a:lnTo>
                  <a:lnTo>
                    <a:pt x="345" y="561"/>
                  </a:lnTo>
                  <a:lnTo>
                    <a:pt x="322" y="589"/>
                  </a:lnTo>
                  <a:lnTo>
                    <a:pt x="298" y="619"/>
                  </a:lnTo>
                  <a:lnTo>
                    <a:pt x="276" y="650"/>
                  </a:lnTo>
                  <a:lnTo>
                    <a:pt x="255" y="681"/>
                  </a:lnTo>
                  <a:lnTo>
                    <a:pt x="235" y="712"/>
                  </a:lnTo>
                  <a:lnTo>
                    <a:pt x="215" y="744"/>
                  </a:lnTo>
                  <a:lnTo>
                    <a:pt x="197" y="776"/>
                  </a:lnTo>
                  <a:lnTo>
                    <a:pt x="179" y="808"/>
                  </a:lnTo>
                  <a:lnTo>
                    <a:pt x="161" y="841"/>
                  </a:lnTo>
                  <a:lnTo>
                    <a:pt x="145" y="875"/>
                  </a:lnTo>
                  <a:lnTo>
                    <a:pt x="129" y="909"/>
                  </a:lnTo>
                  <a:lnTo>
                    <a:pt x="115" y="943"/>
                  </a:lnTo>
                  <a:lnTo>
                    <a:pt x="101" y="977"/>
                  </a:lnTo>
                  <a:lnTo>
                    <a:pt x="88" y="1012"/>
                  </a:lnTo>
                  <a:lnTo>
                    <a:pt x="76" y="1047"/>
                  </a:lnTo>
                  <a:lnTo>
                    <a:pt x="65" y="1082"/>
                  </a:lnTo>
                  <a:lnTo>
                    <a:pt x="55" y="1118"/>
                  </a:lnTo>
                  <a:lnTo>
                    <a:pt x="45" y="1154"/>
                  </a:lnTo>
                  <a:lnTo>
                    <a:pt x="36" y="1191"/>
                  </a:lnTo>
                  <a:lnTo>
                    <a:pt x="28" y="1227"/>
                  </a:lnTo>
                  <a:lnTo>
                    <a:pt x="22" y="1264"/>
                  </a:lnTo>
                  <a:lnTo>
                    <a:pt x="16" y="1301"/>
                  </a:lnTo>
                  <a:lnTo>
                    <a:pt x="11" y="1338"/>
                  </a:lnTo>
                  <a:lnTo>
                    <a:pt x="7" y="1376"/>
                  </a:lnTo>
                  <a:lnTo>
                    <a:pt x="4" y="1413"/>
                  </a:lnTo>
                  <a:lnTo>
                    <a:pt x="2" y="1452"/>
                  </a:lnTo>
                  <a:lnTo>
                    <a:pt x="0" y="1489"/>
                  </a:lnTo>
                  <a:lnTo>
                    <a:pt x="0" y="1527"/>
                  </a:lnTo>
                  <a:lnTo>
                    <a:pt x="6" y="1667"/>
                  </a:lnTo>
                  <a:lnTo>
                    <a:pt x="10" y="1707"/>
                  </a:lnTo>
                  <a:lnTo>
                    <a:pt x="15" y="1746"/>
                  </a:lnTo>
                  <a:lnTo>
                    <a:pt x="22" y="1785"/>
                  </a:lnTo>
                  <a:lnTo>
                    <a:pt x="28" y="1823"/>
                  </a:lnTo>
                  <a:lnTo>
                    <a:pt x="36" y="1862"/>
                  </a:lnTo>
                  <a:lnTo>
                    <a:pt x="45" y="1900"/>
                  </a:lnTo>
                  <a:lnTo>
                    <a:pt x="55" y="1937"/>
                  </a:lnTo>
                  <a:lnTo>
                    <a:pt x="66" y="1975"/>
                  </a:lnTo>
                  <a:lnTo>
                    <a:pt x="78" y="2012"/>
                  </a:lnTo>
                  <a:lnTo>
                    <a:pt x="92" y="2049"/>
                  </a:lnTo>
                  <a:lnTo>
                    <a:pt x="105" y="2085"/>
                  </a:lnTo>
                  <a:lnTo>
                    <a:pt x="119" y="2122"/>
                  </a:lnTo>
                  <a:lnTo>
                    <a:pt x="136" y="2157"/>
                  </a:lnTo>
                  <a:lnTo>
                    <a:pt x="152" y="2193"/>
                  </a:lnTo>
                  <a:lnTo>
                    <a:pt x="170" y="2228"/>
                  </a:lnTo>
                  <a:lnTo>
                    <a:pt x="189" y="2262"/>
                  </a:lnTo>
                  <a:lnTo>
                    <a:pt x="195" y="2277"/>
                  </a:lnTo>
                  <a:lnTo>
                    <a:pt x="213" y="2312"/>
                  </a:lnTo>
                  <a:lnTo>
                    <a:pt x="242" y="2366"/>
                  </a:lnTo>
                  <a:lnTo>
                    <a:pt x="278" y="2439"/>
                  </a:lnTo>
                  <a:lnTo>
                    <a:pt x="323" y="2528"/>
                  </a:lnTo>
                  <a:lnTo>
                    <a:pt x="371" y="2631"/>
                  </a:lnTo>
                  <a:lnTo>
                    <a:pt x="422" y="2743"/>
                  </a:lnTo>
                  <a:lnTo>
                    <a:pt x="450" y="2804"/>
                  </a:lnTo>
                  <a:lnTo>
                    <a:pt x="476" y="2867"/>
                  </a:lnTo>
                  <a:lnTo>
                    <a:pt x="503" y="2931"/>
                  </a:lnTo>
                  <a:lnTo>
                    <a:pt x="530" y="2998"/>
                  </a:lnTo>
                  <a:lnTo>
                    <a:pt x="556" y="3065"/>
                  </a:lnTo>
                  <a:lnTo>
                    <a:pt x="582" y="3134"/>
                  </a:lnTo>
                  <a:lnTo>
                    <a:pt x="607" y="3202"/>
                  </a:lnTo>
                  <a:lnTo>
                    <a:pt x="630" y="3273"/>
                  </a:lnTo>
                  <a:lnTo>
                    <a:pt x="653" y="3343"/>
                  </a:lnTo>
                  <a:lnTo>
                    <a:pt x="674" y="3413"/>
                  </a:lnTo>
                  <a:lnTo>
                    <a:pt x="693" y="3483"/>
                  </a:lnTo>
                  <a:lnTo>
                    <a:pt x="711" y="3553"/>
                  </a:lnTo>
                  <a:lnTo>
                    <a:pt x="726" y="3621"/>
                  </a:lnTo>
                  <a:lnTo>
                    <a:pt x="739" y="3690"/>
                  </a:lnTo>
                  <a:lnTo>
                    <a:pt x="750" y="3756"/>
                  </a:lnTo>
                  <a:lnTo>
                    <a:pt x="754" y="3788"/>
                  </a:lnTo>
                  <a:lnTo>
                    <a:pt x="757" y="3822"/>
                  </a:lnTo>
                  <a:lnTo>
                    <a:pt x="760" y="3854"/>
                  </a:lnTo>
                  <a:lnTo>
                    <a:pt x="762" y="3885"/>
                  </a:lnTo>
                  <a:lnTo>
                    <a:pt x="763" y="3915"/>
                  </a:lnTo>
                  <a:lnTo>
                    <a:pt x="764" y="3946"/>
                  </a:lnTo>
                  <a:lnTo>
                    <a:pt x="783" y="4137"/>
                  </a:lnTo>
                  <a:lnTo>
                    <a:pt x="789" y="4160"/>
                  </a:lnTo>
                  <a:lnTo>
                    <a:pt x="796" y="4181"/>
                  </a:lnTo>
                  <a:lnTo>
                    <a:pt x="804" y="4202"/>
                  </a:lnTo>
                  <a:lnTo>
                    <a:pt x="813" y="4220"/>
                  </a:lnTo>
                  <a:lnTo>
                    <a:pt x="823" y="4237"/>
                  </a:lnTo>
                  <a:lnTo>
                    <a:pt x="833" y="4253"/>
                  </a:lnTo>
                  <a:lnTo>
                    <a:pt x="844" y="4267"/>
                  </a:lnTo>
                  <a:lnTo>
                    <a:pt x="855" y="4280"/>
                  </a:lnTo>
                  <a:lnTo>
                    <a:pt x="867" y="4291"/>
                  </a:lnTo>
                  <a:lnTo>
                    <a:pt x="880" y="4301"/>
                  </a:lnTo>
                  <a:lnTo>
                    <a:pt x="895" y="4309"/>
                  </a:lnTo>
                  <a:lnTo>
                    <a:pt x="909" y="4316"/>
                  </a:lnTo>
                  <a:lnTo>
                    <a:pt x="924" y="4321"/>
                  </a:lnTo>
                  <a:lnTo>
                    <a:pt x="941" y="4325"/>
                  </a:lnTo>
                  <a:lnTo>
                    <a:pt x="959" y="4328"/>
                  </a:lnTo>
                  <a:lnTo>
                    <a:pt x="976" y="4328"/>
                  </a:lnTo>
                  <a:lnTo>
                    <a:pt x="2079" y="4328"/>
                  </a:lnTo>
                  <a:lnTo>
                    <a:pt x="2097" y="4328"/>
                  </a:lnTo>
                  <a:lnTo>
                    <a:pt x="2114" y="4325"/>
                  </a:lnTo>
                  <a:lnTo>
                    <a:pt x="2130" y="4321"/>
                  </a:lnTo>
                  <a:lnTo>
                    <a:pt x="2145" y="4316"/>
                  </a:lnTo>
                  <a:lnTo>
                    <a:pt x="2161" y="4309"/>
                  </a:lnTo>
                  <a:lnTo>
                    <a:pt x="2174" y="4301"/>
                  </a:lnTo>
                  <a:lnTo>
                    <a:pt x="2187" y="4291"/>
                  </a:lnTo>
                  <a:lnTo>
                    <a:pt x="2201" y="4280"/>
                  </a:lnTo>
                  <a:lnTo>
                    <a:pt x="2212" y="4267"/>
                  </a:lnTo>
                  <a:lnTo>
                    <a:pt x="2223" y="4253"/>
                  </a:lnTo>
                  <a:lnTo>
                    <a:pt x="2233" y="4237"/>
                  </a:lnTo>
                  <a:lnTo>
                    <a:pt x="2243" y="4220"/>
                  </a:lnTo>
                  <a:lnTo>
                    <a:pt x="2251" y="4202"/>
                  </a:lnTo>
                  <a:lnTo>
                    <a:pt x="2259" y="4181"/>
                  </a:lnTo>
                  <a:lnTo>
                    <a:pt x="2266" y="4160"/>
                  </a:lnTo>
                  <a:lnTo>
                    <a:pt x="2272" y="4137"/>
                  </a:lnTo>
                  <a:lnTo>
                    <a:pt x="2291" y="3946"/>
                  </a:lnTo>
                  <a:lnTo>
                    <a:pt x="2293" y="3915"/>
                  </a:lnTo>
                  <a:lnTo>
                    <a:pt x="2294" y="3885"/>
                  </a:lnTo>
                  <a:lnTo>
                    <a:pt x="2295" y="3854"/>
                  </a:lnTo>
                  <a:lnTo>
                    <a:pt x="2298" y="3822"/>
                  </a:lnTo>
                  <a:lnTo>
                    <a:pt x="2301" y="3788"/>
                  </a:lnTo>
                  <a:lnTo>
                    <a:pt x="2306" y="3756"/>
                  </a:lnTo>
                  <a:lnTo>
                    <a:pt x="2316" y="3690"/>
                  </a:lnTo>
                  <a:lnTo>
                    <a:pt x="2329" y="3621"/>
                  </a:lnTo>
                  <a:lnTo>
                    <a:pt x="2345" y="3553"/>
                  </a:lnTo>
                  <a:lnTo>
                    <a:pt x="2362" y="3483"/>
                  </a:lnTo>
                  <a:lnTo>
                    <a:pt x="2381" y="3413"/>
                  </a:lnTo>
                  <a:lnTo>
                    <a:pt x="2402" y="3343"/>
                  </a:lnTo>
                  <a:lnTo>
                    <a:pt x="2425" y="3273"/>
                  </a:lnTo>
                  <a:lnTo>
                    <a:pt x="2449" y="3202"/>
                  </a:lnTo>
                  <a:lnTo>
                    <a:pt x="2474" y="3134"/>
                  </a:lnTo>
                  <a:lnTo>
                    <a:pt x="2499" y="3065"/>
                  </a:lnTo>
                  <a:lnTo>
                    <a:pt x="2526" y="2998"/>
                  </a:lnTo>
                  <a:lnTo>
                    <a:pt x="2552" y="2931"/>
                  </a:lnTo>
                  <a:lnTo>
                    <a:pt x="2579" y="2867"/>
                  </a:lnTo>
                  <a:lnTo>
                    <a:pt x="2607" y="2804"/>
                  </a:lnTo>
                  <a:lnTo>
                    <a:pt x="2633" y="2743"/>
                  </a:lnTo>
                  <a:lnTo>
                    <a:pt x="2685" y="2631"/>
                  </a:lnTo>
                  <a:lnTo>
                    <a:pt x="2735" y="2528"/>
                  </a:lnTo>
                  <a:lnTo>
                    <a:pt x="2778" y="2439"/>
                  </a:lnTo>
                  <a:lnTo>
                    <a:pt x="2816" y="2366"/>
                  </a:lnTo>
                  <a:lnTo>
                    <a:pt x="2846" y="2312"/>
                  </a:lnTo>
                  <a:lnTo>
                    <a:pt x="2872" y="2262"/>
                  </a:lnTo>
                  <a:lnTo>
                    <a:pt x="2890" y="2228"/>
                  </a:lnTo>
                  <a:lnTo>
                    <a:pt x="2906" y="2193"/>
                  </a:lnTo>
                  <a:lnTo>
                    <a:pt x="2923" y="2157"/>
                  </a:lnTo>
                  <a:lnTo>
                    <a:pt x="2937" y="2122"/>
                  </a:lnTo>
                  <a:lnTo>
                    <a:pt x="2952" y="2085"/>
                  </a:lnTo>
                  <a:lnTo>
                    <a:pt x="2965" y="2049"/>
                  </a:lnTo>
                  <a:lnTo>
                    <a:pt x="2978" y="2012"/>
                  </a:lnTo>
                  <a:lnTo>
                    <a:pt x="2989" y="1975"/>
                  </a:lnTo>
                  <a:lnTo>
                    <a:pt x="3000" y="1937"/>
                  </a:lnTo>
                  <a:lnTo>
                    <a:pt x="3010" y="1900"/>
                  </a:lnTo>
                  <a:lnTo>
                    <a:pt x="3019" y="1862"/>
                  </a:lnTo>
                  <a:lnTo>
                    <a:pt x="3027" y="1823"/>
                  </a:lnTo>
                  <a:lnTo>
                    <a:pt x="3034" y="1785"/>
                  </a:lnTo>
                  <a:lnTo>
                    <a:pt x="3040" y="1746"/>
                  </a:lnTo>
                  <a:lnTo>
                    <a:pt x="3045" y="1707"/>
                  </a:lnTo>
                  <a:lnTo>
                    <a:pt x="3049" y="1667"/>
                  </a:lnTo>
                  <a:lnTo>
                    <a:pt x="3056" y="1527"/>
                  </a:lnTo>
                  <a:lnTo>
                    <a:pt x="3055" y="1489"/>
                  </a:lnTo>
                  <a:lnTo>
                    <a:pt x="3054" y="1452"/>
                  </a:lnTo>
                  <a:lnTo>
                    <a:pt x="3051" y="1413"/>
                  </a:lnTo>
                  <a:lnTo>
                    <a:pt x="3048" y="1376"/>
                  </a:lnTo>
                  <a:lnTo>
                    <a:pt x="3044" y="1338"/>
                  </a:lnTo>
                  <a:lnTo>
                    <a:pt x="3039" y="1301"/>
                  </a:lnTo>
                  <a:lnTo>
                    <a:pt x="3034" y="1264"/>
                  </a:lnTo>
                  <a:lnTo>
                    <a:pt x="3026" y="1227"/>
                  </a:lnTo>
                  <a:lnTo>
                    <a:pt x="3018" y="1191"/>
                  </a:lnTo>
                  <a:lnTo>
                    <a:pt x="3010" y="1154"/>
                  </a:lnTo>
                  <a:lnTo>
                    <a:pt x="3000" y="1118"/>
                  </a:lnTo>
                  <a:lnTo>
                    <a:pt x="2990" y="1082"/>
                  </a:lnTo>
                  <a:lnTo>
                    <a:pt x="2979" y="1047"/>
                  </a:lnTo>
                  <a:lnTo>
                    <a:pt x="2967" y="1012"/>
                  </a:lnTo>
                  <a:lnTo>
                    <a:pt x="2954" y="977"/>
                  </a:lnTo>
                  <a:lnTo>
                    <a:pt x="2941" y="943"/>
                  </a:lnTo>
                  <a:lnTo>
                    <a:pt x="2925" y="909"/>
                  </a:lnTo>
                  <a:lnTo>
                    <a:pt x="2910" y="875"/>
                  </a:lnTo>
                  <a:lnTo>
                    <a:pt x="2894" y="841"/>
                  </a:lnTo>
                  <a:lnTo>
                    <a:pt x="2877" y="808"/>
                  </a:lnTo>
                  <a:lnTo>
                    <a:pt x="2859" y="776"/>
                  </a:lnTo>
                  <a:lnTo>
                    <a:pt x="2840" y="744"/>
                  </a:lnTo>
                  <a:lnTo>
                    <a:pt x="2820" y="712"/>
                  </a:lnTo>
                  <a:lnTo>
                    <a:pt x="2800" y="681"/>
                  </a:lnTo>
                  <a:lnTo>
                    <a:pt x="2779" y="650"/>
                  </a:lnTo>
                  <a:lnTo>
                    <a:pt x="2757" y="619"/>
                  </a:lnTo>
                  <a:lnTo>
                    <a:pt x="2734" y="589"/>
                  </a:lnTo>
                  <a:lnTo>
                    <a:pt x="2711" y="561"/>
                  </a:lnTo>
                  <a:lnTo>
                    <a:pt x="2686" y="531"/>
                  </a:lnTo>
                  <a:lnTo>
                    <a:pt x="2661" y="503"/>
                  </a:lnTo>
                  <a:lnTo>
                    <a:pt x="2635" y="475"/>
                  </a:lnTo>
                  <a:lnTo>
                    <a:pt x="2609" y="448"/>
                  </a:lnTo>
                  <a:close/>
                  <a:moveTo>
                    <a:pt x="2661" y="1641"/>
                  </a:moveTo>
                  <a:lnTo>
                    <a:pt x="2661" y="1641"/>
                  </a:lnTo>
                  <a:lnTo>
                    <a:pt x="2658" y="1669"/>
                  </a:lnTo>
                  <a:lnTo>
                    <a:pt x="2654" y="1697"/>
                  </a:lnTo>
                  <a:lnTo>
                    <a:pt x="2650" y="1725"/>
                  </a:lnTo>
                  <a:lnTo>
                    <a:pt x="2644" y="1753"/>
                  </a:lnTo>
                  <a:lnTo>
                    <a:pt x="2639" y="1781"/>
                  </a:lnTo>
                  <a:lnTo>
                    <a:pt x="2632" y="1809"/>
                  </a:lnTo>
                  <a:lnTo>
                    <a:pt x="2624" y="1837"/>
                  </a:lnTo>
                  <a:lnTo>
                    <a:pt x="2617" y="1863"/>
                  </a:lnTo>
                  <a:lnTo>
                    <a:pt x="2608" y="1891"/>
                  </a:lnTo>
                  <a:lnTo>
                    <a:pt x="2599" y="1918"/>
                  </a:lnTo>
                  <a:lnTo>
                    <a:pt x="2589" y="1945"/>
                  </a:lnTo>
                  <a:lnTo>
                    <a:pt x="2579" y="1972"/>
                  </a:lnTo>
                  <a:lnTo>
                    <a:pt x="2567" y="1998"/>
                  </a:lnTo>
                  <a:lnTo>
                    <a:pt x="2556" y="2025"/>
                  </a:lnTo>
                  <a:lnTo>
                    <a:pt x="2543" y="2051"/>
                  </a:lnTo>
                  <a:lnTo>
                    <a:pt x="2529" y="2078"/>
                  </a:lnTo>
                  <a:lnTo>
                    <a:pt x="2485" y="2158"/>
                  </a:lnTo>
                  <a:lnTo>
                    <a:pt x="2450" y="2227"/>
                  </a:lnTo>
                  <a:lnTo>
                    <a:pt x="2408" y="2311"/>
                  </a:lnTo>
                  <a:lnTo>
                    <a:pt x="2359" y="2409"/>
                  </a:lnTo>
                  <a:lnTo>
                    <a:pt x="2307" y="2519"/>
                  </a:lnTo>
                  <a:lnTo>
                    <a:pt x="2253" y="2641"/>
                  </a:lnTo>
                  <a:lnTo>
                    <a:pt x="2225" y="2705"/>
                  </a:lnTo>
                  <a:lnTo>
                    <a:pt x="2197" y="2771"/>
                  </a:lnTo>
                  <a:lnTo>
                    <a:pt x="2170" y="2838"/>
                  </a:lnTo>
                  <a:lnTo>
                    <a:pt x="2142" y="2908"/>
                  </a:lnTo>
                  <a:lnTo>
                    <a:pt x="2116" y="2979"/>
                  </a:lnTo>
                  <a:lnTo>
                    <a:pt x="2090" y="3051"/>
                  </a:lnTo>
                  <a:lnTo>
                    <a:pt x="2065" y="3124"/>
                  </a:lnTo>
                  <a:lnTo>
                    <a:pt x="2040" y="3198"/>
                  </a:lnTo>
                  <a:lnTo>
                    <a:pt x="2018" y="3272"/>
                  </a:lnTo>
                  <a:lnTo>
                    <a:pt x="1996" y="3346"/>
                  </a:lnTo>
                  <a:lnTo>
                    <a:pt x="1977" y="3420"/>
                  </a:lnTo>
                  <a:lnTo>
                    <a:pt x="1960" y="3494"/>
                  </a:lnTo>
                  <a:lnTo>
                    <a:pt x="1944" y="3568"/>
                  </a:lnTo>
                  <a:lnTo>
                    <a:pt x="1930" y="3641"/>
                  </a:lnTo>
                  <a:lnTo>
                    <a:pt x="1919" y="3714"/>
                  </a:lnTo>
                  <a:lnTo>
                    <a:pt x="1911" y="3785"/>
                  </a:lnTo>
                  <a:lnTo>
                    <a:pt x="1908" y="3820"/>
                  </a:lnTo>
                  <a:lnTo>
                    <a:pt x="1905" y="3856"/>
                  </a:lnTo>
                  <a:lnTo>
                    <a:pt x="1903" y="3890"/>
                  </a:lnTo>
                  <a:lnTo>
                    <a:pt x="1902" y="3924"/>
                  </a:lnTo>
                  <a:lnTo>
                    <a:pt x="1901" y="3939"/>
                  </a:lnTo>
                  <a:lnTo>
                    <a:pt x="1722" y="3939"/>
                  </a:lnTo>
                  <a:lnTo>
                    <a:pt x="1722" y="3230"/>
                  </a:lnTo>
                  <a:lnTo>
                    <a:pt x="1333" y="3230"/>
                  </a:lnTo>
                  <a:lnTo>
                    <a:pt x="1333" y="3939"/>
                  </a:lnTo>
                  <a:lnTo>
                    <a:pt x="1154" y="3939"/>
                  </a:lnTo>
                  <a:lnTo>
                    <a:pt x="1152" y="3924"/>
                  </a:lnTo>
                  <a:lnTo>
                    <a:pt x="1151" y="3873"/>
                  </a:lnTo>
                  <a:lnTo>
                    <a:pt x="1148" y="3820"/>
                  </a:lnTo>
                  <a:lnTo>
                    <a:pt x="1142" y="3767"/>
                  </a:lnTo>
                  <a:lnTo>
                    <a:pt x="1136" y="3714"/>
                  </a:lnTo>
                  <a:lnTo>
                    <a:pt x="1128" y="3659"/>
                  </a:lnTo>
                  <a:lnTo>
                    <a:pt x="1118" y="3604"/>
                  </a:lnTo>
                  <a:lnTo>
                    <a:pt x="1108" y="3547"/>
                  </a:lnTo>
                  <a:lnTo>
                    <a:pt x="1096" y="3491"/>
                  </a:lnTo>
                  <a:lnTo>
                    <a:pt x="1081" y="3434"/>
                  </a:lnTo>
                  <a:lnTo>
                    <a:pt x="1067" y="3377"/>
                  </a:lnTo>
                  <a:lnTo>
                    <a:pt x="1052" y="3319"/>
                  </a:lnTo>
                  <a:lnTo>
                    <a:pt x="1035" y="3261"/>
                  </a:lnTo>
                  <a:lnTo>
                    <a:pt x="1016" y="3203"/>
                  </a:lnTo>
                  <a:lnTo>
                    <a:pt x="997" y="3145"/>
                  </a:lnTo>
                  <a:lnTo>
                    <a:pt x="977" y="3086"/>
                  </a:lnTo>
                  <a:lnTo>
                    <a:pt x="958" y="3029"/>
                  </a:lnTo>
                  <a:lnTo>
                    <a:pt x="937" y="2970"/>
                  </a:lnTo>
                  <a:lnTo>
                    <a:pt x="914" y="2911"/>
                  </a:lnTo>
                  <a:lnTo>
                    <a:pt x="868" y="2796"/>
                  </a:lnTo>
                  <a:lnTo>
                    <a:pt x="820" y="2681"/>
                  </a:lnTo>
                  <a:lnTo>
                    <a:pt x="771" y="2570"/>
                  </a:lnTo>
                  <a:lnTo>
                    <a:pt x="721" y="2459"/>
                  </a:lnTo>
                  <a:lnTo>
                    <a:pt x="669" y="2353"/>
                  </a:lnTo>
                  <a:lnTo>
                    <a:pt x="618" y="2249"/>
                  </a:lnTo>
                  <a:lnTo>
                    <a:pt x="568" y="2150"/>
                  </a:lnTo>
                  <a:lnTo>
                    <a:pt x="567" y="2144"/>
                  </a:lnTo>
                  <a:lnTo>
                    <a:pt x="530" y="2075"/>
                  </a:lnTo>
                  <a:lnTo>
                    <a:pt x="515" y="2050"/>
                  </a:lnTo>
                  <a:lnTo>
                    <a:pt x="503" y="2024"/>
                  </a:lnTo>
                  <a:lnTo>
                    <a:pt x="491" y="1998"/>
                  </a:lnTo>
                  <a:lnTo>
                    <a:pt x="479" y="1972"/>
                  </a:lnTo>
                  <a:lnTo>
                    <a:pt x="468" y="1945"/>
                  </a:lnTo>
                  <a:lnTo>
                    <a:pt x="458" y="1918"/>
                  </a:lnTo>
                  <a:lnTo>
                    <a:pt x="449" y="1892"/>
                  </a:lnTo>
                  <a:lnTo>
                    <a:pt x="440" y="1864"/>
                  </a:lnTo>
                  <a:lnTo>
                    <a:pt x="431" y="1838"/>
                  </a:lnTo>
                  <a:lnTo>
                    <a:pt x="424" y="1810"/>
                  </a:lnTo>
                  <a:lnTo>
                    <a:pt x="418" y="1782"/>
                  </a:lnTo>
                  <a:lnTo>
                    <a:pt x="411" y="1754"/>
                  </a:lnTo>
                  <a:lnTo>
                    <a:pt x="406" y="1726"/>
                  </a:lnTo>
                  <a:lnTo>
                    <a:pt x="401" y="1697"/>
                  </a:lnTo>
                  <a:lnTo>
                    <a:pt x="398" y="1670"/>
                  </a:lnTo>
                  <a:lnTo>
                    <a:pt x="395" y="1641"/>
                  </a:lnTo>
                  <a:lnTo>
                    <a:pt x="389" y="1519"/>
                  </a:lnTo>
                  <a:lnTo>
                    <a:pt x="389" y="1492"/>
                  </a:lnTo>
                  <a:lnTo>
                    <a:pt x="390" y="1463"/>
                  </a:lnTo>
                  <a:lnTo>
                    <a:pt x="392" y="1435"/>
                  </a:lnTo>
                  <a:lnTo>
                    <a:pt x="395" y="1408"/>
                  </a:lnTo>
                  <a:lnTo>
                    <a:pt x="398" y="1380"/>
                  </a:lnTo>
                  <a:lnTo>
                    <a:pt x="402" y="1352"/>
                  </a:lnTo>
                  <a:lnTo>
                    <a:pt x="407" y="1325"/>
                  </a:lnTo>
                  <a:lnTo>
                    <a:pt x="412" y="1298"/>
                  </a:lnTo>
                  <a:lnTo>
                    <a:pt x="418" y="1270"/>
                  </a:lnTo>
                  <a:lnTo>
                    <a:pt x="424" y="1244"/>
                  </a:lnTo>
                  <a:lnTo>
                    <a:pt x="431" y="1217"/>
                  </a:lnTo>
                  <a:lnTo>
                    <a:pt x="439" y="1191"/>
                  </a:lnTo>
                  <a:lnTo>
                    <a:pt x="448" y="1165"/>
                  </a:lnTo>
                  <a:lnTo>
                    <a:pt x="457" y="1139"/>
                  </a:lnTo>
                  <a:lnTo>
                    <a:pt x="466" y="1113"/>
                  </a:lnTo>
                  <a:lnTo>
                    <a:pt x="476" y="1088"/>
                  </a:lnTo>
                  <a:lnTo>
                    <a:pt x="487" y="1063"/>
                  </a:lnTo>
                  <a:lnTo>
                    <a:pt x="499" y="1038"/>
                  </a:lnTo>
                  <a:lnTo>
                    <a:pt x="511" y="1013"/>
                  </a:lnTo>
                  <a:lnTo>
                    <a:pt x="524" y="989"/>
                  </a:lnTo>
                  <a:lnTo>
                    <a:pt x="537" y="965"/>
                  </a:lnTo>
                  <a:lnTo>
                    <a:pt x="551" y="941"/>
                  </a:lnTo>
                  <a:lnTo>
                    <a:pt x="565" y="918"/>
                  </a:lnTo>
                  <a:lnTo>
                    <a:pt x="580" y="895"/>
                  </a:lnTo>
                  <a:lnTo>
                    <a:pt x="596" y="871"/>
                  </a:lnTo>
                  <a:lnTo>
                    <a:pt x="612" y="849"/>
                  </a:lnTo>
                  <a:lnTo>
                    <a:pt x="629" y="827"/>
                  </a:lnTo>
                  <a:lnTo>
                    <a:pt x="647" y="806"/>
                  </a:lnTo>
                  <a:lnTo>
                    <a:pt x="664" y="784"/>
                  </a:lnTo>
                  <a:lnTo>
                    <a:pt x="683" y="763"/>
                  </a:lnTo>
                  <a:lnTo>
                    <a:pt x="702" y="743"/>
                  </a:lnTo>
                  <a:lnTo>
                    <a:pt x="722" y="723"/>
                  </a:lnTo>
                  <a:lnTo>
                    <a:pt x="743" y="703"/>
                  </a:lnTo>
                  <a:lnTo>
                    <a:pt x="764" y="683"/>
                  </a:lnTo>
                  <a:lnTo>
                    <a:pt x="785" y="665"/>
                  </a:lnTo>
                  <a:lnTo>
                    <a:pt x="806" y="647"/>
                  </a:lnTo>
                  <a:lnTo>
                    <a:pt x="828" y="629"/>
                  </a:lnTo>
                  <a:lnTo>
                    <a:pt x="850" y="611"/>
                  </a:lnTo>
                  <a:lnTo>
                    <a:pt x="874" y="596"/>
                  </a:lnTo>
                  <a:lnTo>
                    <a:pt x="896" y="579"/>
                  </a:lnTo>
                  <a:lnTo>
                    <a:pt x="920" y="565"/>
                  </a:lnTo>
                  <a:lnTo>
                    <a:pt x="943" y="550"/>
                  </a:lnTo>
                  <a:lnTo>
                    <a:pt x="968" y="536"/>
                  </a:lnTo>
                  <a:lnTo>
                    <a:pt x="992" y="523"/>
                  </a:lnTo>
                  <a:lnTo>
                    <a:pt x="1016" y="510"/>
                  </a:lnTo>
                  <a:lnTo>
                    <a:pt x="1041" y="498"/>
                  </a:lnTo>
                  <a:lnTo>
                    <a:pt x="1066" y="486"/>
                  </a:lnTo>
                  <a:lnTo>
                    <a:pt x="1091" y="475"/>
                  </a:lnTo>
                  <a:lnTo>
                    <a:pt x="1117" y="464"/>
                  </a:lnTo>
                  <a:lnTo>
                    <a:pt x="1143" y="456"/>
                  </a:lnTo>
                  <a:lnTo>
                    <a:pt x="1170" y="446"/>
                  </a:lnTo>
                  <a:lnTo>
                    <a:pt x="1195" y="438"/>
                  </a:lnTo>
                  <a:lnTo>
                    <a:pt x="1223" y="430"/>
                  </a:lnTo>
                  <a:lnTo>
                    <a:pt x="1250" y="423"/>
                  </a:lnTo>
                  <a:lnTo>
                    <a:pt x="1276" y="417"/>
                  </a:lnTo>
                  <a:lnTo>
                    <a:pt x="1304" y="411"/>
                  </a:lnTo>
                  <a:lnTo>
                    <a:pt x="1331" y="406"/>
                  </a:lnTo>
                  <a:lnTo>
                    <a:pt x="1359" y="401"/>
                  </a:lnTo>
                  <a:lnTo>
                    <a:pt x="1387" y="398"/>
                  </a:lnTo>
                  <a:lnTo>
                    <a:pt x="1414" y="395"/>
                  </a:lnTo>
                  <a:lnTo>
                    <a:pt x="1443" y="392"/>
                  </a:lnTo>
                  <a:lnTo>
                    <a:pt x="1471" y="390"/>
                  </a:lnTo>
                  <a:lnTo>
                    <a:pt x="1500" y="389"/>
                  </a:lnTo>
                  <a:lnTo>
                    <a:pt x="1527" y="389"/>
                  </a:lnTo>
                  <a:lnTo>
                    <a:pt x="1569" y="389"/>
                  </a:lnTo>
                  <a:lnTo>
                    <a:pt x="1610" y="391"/>
                  </a:lnTo>
                  <a:lnTo>
                    <a:pt x="1651" y="396"/>
                  </a:lnTo>
                  <a:lnTo>
                    <a:pt x="1691" y="400"/>
                  </a:lnTo>
                  <a:lnTo>
                    <a:pt x="1732" y="407"/>
                  </a:lnTo>
                  <a:lnTo>
                    <a:pt x="1771" y="415"/>
                  </a:lnTo>
                  <a:lnTo>
                    <a:pt x="1810" y="423"/>
                  </a:lnTo>
                  <a:lnTo>
                    <a:pt x="1849" y="435"/>
                  </a:lnTo>
                  <a:lnTo>
                    <a:pt x="1882" y="444"/>
                  </a:lnTo>
                  <a:lnTo>
                    <a:pt x="1917" y="457"/>
                  </a:lnTo>
                  <a:lnTo>
                    <a:pt x="1950" y="470"/>
                  </a:lnTo>
                  <a:lnTo>
                    <a:pt x="1983" y="483"/>
                  </a:lnTo>
                  <a:lnTo>
                    <a:pt x="2015" y="498"/>
                  </a:lnTo>
                  <a:lnTo>
                    <a:pt x="2047" y="514"/>
                  </a:lnTo>
                  <a:lnTo>
                    <a:pt x="2078" y="531"/>
                  </a:lnTo>
                  <a:lnTo>
                    <a:pt x="2109" y="548"/>
                  </a:lnTo>
                  <a:lnTo>
                    <a:pt x="2139" y="567"/>
                  </a:lnTo>
                  <a:lnTo>
                    <a:pt x="2169" y="586"/>
                  </a:lnTo>
                  <a:lnTo>
                    <a:pt x="2197" y="607"/>
                  </a:lnTo>
                  <a:lnTo>
                    <a:pt x="2226" y="628"/>
                  </a:lnTo>
                  <a:lnTo>
                    <a:pt x="2254" y="650"/>
                  </a:lnTo>
                  <a:lnTo>
                    <a:pt x="2281" y="673"/>
                  </a:lnTo>
                  <a:lnTo>
                    <a:pt x="2308" y="698"/>
                  </a:lnTo>
                  <a:lnTo>
                    <a:pt x="2333" y="723"/>
                  </a:lnTo>
                  <a:lnTo>
                    <a:pt x="2353" y="743"/>
                  </a:lnTo>
                  <a:lnTo>
                    <a:pt x="2372" y="763"/>
                  </a:lnTo>
                  <a:lnTo>
                    <a:pt x="2391" y="784"/>
                  </a:lnTo>
                  <a:lnTo>
                    <a:pt x="2409" y="806"/>
                  </a:lnTo>
                  <a:lnTo>
                    <a:pt x="2426" y="827"/>
                  </a:lnTo>
                  <a:lnTo>
                    <a:pt x="2443" y="849"/>
                  </a:lnTo>
                  <a:lnTo>
                    <a:pt x="2460" y="872"/>
                  </a:lnTo>
                  <a:lnTo>
                    <a:pt x="2475" y="895"/>
                  </a:lnTo>
                  <a:lnTo>
                    <a:pt x="2489" y="918"/>
                  </a:lnTo>
                  <a:lnTo>
                    <a:pt x="2505" y="941"/>
                  </a:lnTo>
                  <a:lnTo>
                    <a:pt x="2518" y="965"/>
                  </a:lnTo>
                  <a:lnTo>
                    <a:pt x="2531" y="989"/>
                  </a:lnTo>
                  <a:lnTo>
                    <a:pt x="2545" y="1013"/>
                  </a:lnTo>
                  <a:lnTo>
                    <a:pt x="2557" y="1038"/>
                  </a:lnTo>
                  <a:lnTo>
                    <a:pt x="2568" y="1063"/>
                  </a:lnTo>
                  <a:lnTo>
                    <a:pt x="2579" y="1088"/>
                  </a:lnTo>
                  <a:lnTo>
                    <a:pt x="2589" y="1113"/>
                  </a:lnTo>
                  <a:lnTo>
                    <a:pt x="2599" y="1139"/>
                  </a:lnTo>
                  <a:lnTo>
                    <a:pt x="2608" y="1164"/>
                  </a:lnTo>
                  <a:lnTo>
                    <a:pt x="2617" y="1191"/>
                  </a:lnTo>
                  <a:lnTo>
                    <a:pt x="2624" y="1217"/>
                  </a:lnTo>
                  <a:lnTo>
                    <a:pt x="2631" y="1244"/>
                  </a:lnTo>
                  <a:lnTo>
                    <a:pt x="2638" y="1270"/>
                  </a:lnTo>
                  <a:lnTo>
                    <a:pt x="2643" y="1297"/>
                  </a:lnTo>
                  <a:lnTo>
                    <a:pt x="2649" y="1325"/>
                  </a:lnTo>
                  <a:lnTo>
                    <a:pt x="2653" y="1352"/>
                  </a:lnTo>
                  <a:lnTo>
                    <a:pt x="2658" y="1379"/>
                  </a:lnTo>
                  <a:lnTo>
                    <a:pt x="2660" y="1406"/>
                  </a:lnTo>
                  <a:lnTo>
                    <a:pt x="2663" y="1435"/>
                  </a:lnTo>
                  <a:lnTo>
                    <a:pt x="2664" y="1463"/>
                  </a:lnTo>
                  <a:lnTo>
                    <a:pt x="2666" y="1491"/>
                  </a:lnTo>
                  <a:lnTo>
                    <a:pt x="2666" y="1519"/>
                  </a:lnTo>
                  <a:lnTo>
                    <a:pt x="2661" y="1641"/>
                  </a:lnTo>
                  <a:close/>
                  <a:moveTo>
                    <a:pt x="907" y="4981"/>
                  </a:moveTo>
                  <a:lnTo>
                    <a:pt x="2149" y="4981"/>
                  </a:lnTo>
                  <a:lnTo>
                    <a:pt x="2149" y="4592"/>
                  </a:lnTo>
                  <a:lnTo>
                    <a:pt x="907" y="4592"/>
                  </a:lnTo>
                  <a:lnTo>
                    <a:pt x="907" y="4981"/>
                  </a:lnTo>
                  <a:close/>
                  <a:moveTo>
                    <a:pt x="1177" y="5429"/>
                  </a:moveTo>
                  <a:lnTo>
                    <a:pt x="1879" y="5429"/>
                  </a:lnTo>
                  <a:lnTo>
                    <a:pt x="1879" y="5209"/>
                  </a:lnTo>
                  <a:lnTo>
                    <a:pt x="1177" y="5209"/>
                  </a:lnTo>
                  <a:lnTo>
                    <a:pt x="1177" y="5429"/>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defRPr/>
              </a:pPr>
              <a:endParaRPr lang="zh-CN" altLang="en-US">
                <a:solidFill>
                  <a:srgbClr val="FFFFFF"/>
                </a:solidFill>
              </a:endParaRPr>
            </a:p>
          </p:txBody>
        </p:sp>
      </p:grpSp>
      <p:cxnSp>
        <p:nvCxnSpPr>
          <p:cNvPr id="26" name="直接连接符 25"/>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9" name="TextBox 13"/>
          <p:cNvSpPr txBox="1"/>
          <p:nvPr/>
        </p:nvSpPr>
        <p:spPr>
          <a:xfrm>
            <a:off x="6131100" y="1065054"/>
            <a:ext cx="1401112" cy="307777"/>
          </a:xfrm>
          <a:prstGeom prst="rect">
            <a:avLst/>
          </a:prstGeom>
          <a:noFill/>
          <a:ln w="9525">
            <a:noFill/>
            <a:miter/>
          </a:ln>
        </p:spPr>
        <p:txBody>
          <a:bodyPr wrap="square" lIns="0" tIns="0" rIns="0" bIns="0">
            <a:spAutoFit/>
          </a:bodyPr>
          <a:lstStyle/>
          <a:p>
            <a:pPr defTabSz="683419">
              <a:spcBef>
                <a:spcPct val="20000"/>
              </a:spcBef>
            </a:pPr>
            <a:r>
              <a:rPr lang="zh-CN" altLang="en-US" sz="2000" b="1" dirty="0">
                <a:solidFill>
                  <a:srgbClr val="1B4367"/>
                </a:solidFill>
                <a:cs typeface="+mn-ea"/>
                <a:sym typeface="+mn-lt"/>
              </a:rPr>
              <a:t>意义</a:t>
            </a:r>
          </a:p>
        </p:txBody>
      </p:sp>
      <p:sp>
        <p:nvSpPr>
          <p:cNvPr id="30" name="TextBox 13"/>
          <p:cNvSpPr txBox="1"/>
          <p:nvPr/>
        </p:nvSpPr>
        <p:spPr>
          <a:xfrm>
            <a:off x="6131100" y="1340128"/>
            <a:ext cx="2291540" cy="1433854"/>
          </a:xfrm>
          <a:prstGeom prst="rect">
            <a:avLst/>
          </a:prstGeom>
          <a:noFill/>
          <a:ln w="9525">
            <a:noFill/>
            <a:miter/>
          </a:ln>
        </p:spPr>
        <p:txBody>
          <a:bodyPr wrap="square" lIns="0" tIns="0" rIns="0" bIns="0">
            <a:spAutoFit/>
          </a:bodyPr>
          <a:lstStyle/>
          <a:p>
            <a:pPr>
              <a:lnSpc>
                <a:spcPct val="150000"/>
              </a:lnSpc>
            </a:pPr>
            <a:r>
              <a:rPr lang="zh-CN" altLang="en-US" sz="1600" dirty="0">
                <a:solidFill>
                  <a:schemeClr val="tx1">
                    <a:lumMod val="75000"/>
                    <a:lumOff val="25000"/>
                  </a:schemeClr>
                </a:solidFill>
                <a:cs typeface="+mn-ea"/>
                <a:sym typeface="+mn-lt"/>
              </a:rPr>
              <a:t>研究蛇纹石的化学成分有助于理解蛇纹石化反应对海洋体系内元素迁移和相关构造运动的影响</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4"/>
                                        </p:tgtEl>
                                        <p:attrNameLst>
                                          <p:attrName>ppt_y</p:attrName>
                                        </p:attrNameLst>
                                      </p:cBhvr>
                                      <p:tavLst>
                                        <p:tav tm="0">
                                          <p:val>
                                            <p:strVal val="#ppt_y"/>
                                          </p:val>
                                        </p:tav>
                                        <p:tav tm="100000">
                                          <p:val>
                                            <p:strVal val="#ppt_y"/>
                                          </p:val>
                                        </p:tav>
                                      </p:tavLst>
                                    </p:anim>
                                    <p:anim calcmode="lin" valueType="num">
                                      <p:cBhvr>
                                        <p:cTn id="9"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4"/>
                                        </p:tgtEl>
                                      </p:cBhvr>
                                    </p:animEffect>
                                  </p:childTnLst>
                                </p:cTn>
                              </p:par>
                            </p:childTnLst>
                          </p:cTn>
                        </p:par>
                        <p:par>
                          <p:cTn id="12" fill="hold">
                            <p:stCondLst>
                              <p:cond delay="800"/>
                            </p:stCondLst>
                            <p:childTnLst>
                              <p:par>
                                <p:cTn id="13" presetID="2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300"/>
                                        <p:tgtEl>
                                          <p:spTgt spid="26"/>
                                        </p:tgtEl>
                                      </p:cBhvr>
                                    </p:animEffect>
                                  </p:childTnLst>
                                </p:cTn>
                              </p:par>
                            </p:childTnLst>
                          </p:cTn>
                        </p:par>
                        <p:par>
                          <p:cTn id="16" fill="hold">
                            <p:stCondLst>
                              <p:cond delay="1100"/>
                            </p:stCondLst>
                            <p:childTnLst>
                              <p:par>
                                <p:cTn id="17" presetID="53" presetClass="entr" presetSubtype="52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anim calcmode="lin" valueType="num">
                                      <p:cBhvr>
                                        <p:cTn id="22" dur="500" fill="hold"/>
                                        <p:tgtEl>
                                          <p:spTgt spid="7"/>
                                        </p:tgtEl>
                                        <p:attrNameLst>
                                          <p:attrName>ppt_x</p:attrName>
                                        </p:attrNameLst>
                                      </p:cBhvr>
                                      <p:tavLst>
                                        <p:tav tm="0">
                                          <p:val>
                                            <p:fltVal val="0.5"/>
                                          </p:val>
                                        </p:tav>
                                        <p:tav tm="100000">
                                          <p:val>
                                            <p:strVal val="#ppt_x"/>
                                          </p:val>
                                        </p:tav>
                                      </p:tavLst>
                                    </p:anim>
                                    <p:anim calcmode="lin" valueType="num">
                                      <p:cBhvr>
                                        <p:cTn id="23" dur="500" fill="hold"/>
                                        <p:tgtEl>
                                          <p:spTgt spid="7"/>
                                        </p:tgtEl>
                                        <p:attrNameLst>
                                          <p:attrName>ppt_y</p:attrName>
                                        </p:attrNameLst>
                                      </p:cBhvr>
                                      <p:tavLst>
                                        <p:tav tm="0">
                                          <p:val>
                                            <p:fltVal val="0.5"/>
                                          </p:val>
                                        </p:tav>
                                        <p:tav tm="100000">
                                          <p:val>
                                            <p:strVal val="#ppt_y"/>
                                          </p:val>
                                        </p:tav>
                                      </p:tavLst>
                                    </p:anim>
                                  </p:childTnLst>
                                </p:cTn>
                              </p:par>
                            </p:childTnLst>
                          </p:cTn>
                        </p:par>
                        <p:par>
                          <p:cTn id="24" fill="hold">
                            <p:stCondLst>
                              <p:cond delay="1600"/>
                            </p:stCondLst>
                            <p:childTnLst>
                              <p:par>
                                <p:cTn id="25" presetID="42" presetClass="entr" presetSubtype="0" fill="hold" grpId="0" nodeType="afterEffect">
                                  <p:stCondLst>
                                    <p:cond delay="0"/>
                                  </p:stCondLst>
                                  <p:childTnLst>
                                    <p:set>
                                      <p:cBhvr>
                                        <p:cTn id="26" dur="1" fill="hold">
                                          <p:stCondLst>
                                            <p:cond delay="0"/>
                                          </p:stCondLst>
                                        </p:cTn>
                                        <p:tgtEl>
                                          <p:spTgt spid="20493"/>
                                        </p:tgtEl>
                                        <p:attrNameLst>
                                          <p:attrName>style.visibility</p:attrName>
                                        </p:attrNameLst>
                                      </p:cBhvr>
                                      <p:to>
                                        <p:strVal val="visible"/>
                                      </p:to>
                                    </p:set>
                                    <p:animEffect transition="in" filter="fade">
                                      <p:cBhvr>
                                        <p:cTn id="27" dur="500"/>
                                        <p:tgtEl>
                                          <p:spTgt spid="20493"/>
                                        </p:tgtEl>
                                      </p:cBhvr>
                                    </p:animEffect>
                                    <p:anim calcmode="lin" valueType="num">
                                      <p:cBhvr>
                                        <p:cTn id="28" dur="500" fill="hold"/>
                                        <p:tgtEl>
                                          <p:spTgt spid="20493"/>
                                        </p:tgtEl>
                                        <p:attrNameLst>
                                          <p:attrName>ppt_x</p:attrName>
                                        </p:attrNameLst>
                                      </p:cBhvr>
                                      <p:tavLst>
                                        <p:tav tm="0">
                                          <p:val>
                                            <p:strVal val="#ppt_x"/>
                                          </p:val>
                                        </p:tav>
                                        <p:tav tm="100000">
                                          <p:val>
                                            <p:strVal val="#ppt_x"/>
                                          </p:val>
                                        </p:tav>
                                      </p:tavLst>
                                    </p:anim>
                                    <p:anim calcmode="lin" valueType="num">
                                      <p:cBhvr>
                                        <p:cTn id="29" dur="500" fill="hold"/>
                                        <p:tgtEl>
                                          <p:spTgt spid="20493"/>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0494"/>
                                        </p:tgtEl>
                                        <p:attrNameLst>
                                          <p:attrName>style.visibility</p:attrName>
                                        </p:attrNameLst>
                                      </p:cBhvr>
                                      <p:to>
                                        <p:strVal val="visible"/>
                                      </p:to>
                                    </p:set>
                                    <p:animEffect transition="in" filter="fade">
                                      <p:cBhvr>
                                        <p:cTn id="32" dur="500"/>
                                        <p:tgtEl>
                                          <p:spTgt spid="20494"/>
                                        </p:tgtEl>
                                      </p:cBhvr>
                                    </p:animEffect>
                                    <p:anim calcmode="lin" valueType="num">
                                      <p:cBhvr>
                                        <p:cTn id="33" dur="500" fill="hold"/>
                                        <p:tgtEl>
                                          <p:spTgt spid="20494"/>
                                        </p:tgtEl>
                                        <p:attrNameLst>
                                          <p:attrName>ppt_x</p:attrName>
                                        </p:attrNameLst>
                                      </p:cBhvr>
                                      <p:tavLst>
                                        <p:tav tm="0">
                                          <p:val>
                                            <p:strVal val="#ppt_x"/>
                                          </p:val>
                                        </p:tav>
                                        <p:tav tm="100000">
                                          <p:val>
                                            <p:strVal val="#ppt_x"/>
                                          </p:val>
                                        </p:tav>
                                      </p:tavLst>
                                    </p:anim>
                                    <p:anim calcmode="lin" valueType="num">
                                      <p:cBhvr>
                                        <p:cTn id="34" dur="500" fill="hold"/>
                                        <p:tgtEl>
                                          <p:spTgt spid="20494"/>
                                        </p:tgtEl>
                                        <p:attrNameLst>
                                          <p:attrName>ppt_y</p:attrName>
                                        </p:attrNameLst>
                                      </p:cBhvr>
                                      <p:tavLst>
                                        <p:tav tm="0">
                                          <p:val>
                                            <p:strVal val="#ppt_y+.1"/>
                                          </p:val>
                                        </p:tav>
                                        <p:tav tm="100000">
                                          <p:val>
                                            <p:strVal val="#ppt_y"/>
                                          </p:val>
                                        </p:tav>
                                      </p:tavLst>
                                    </p:anim>
                                  </p:childTnLst>
                                </p:cTn>
                              </p:par>
                            </p:childTnLst>
                          </p:cTn>
                        </p:par>
                        <p:par>
                          <p:cTn id="35" fill="hold">
                            <p:stCondLst>
                              <p:cond delay="2100"/>
                            </p:stCondLst>
                            <p:childTnLst>
                              <p:par>
                                <p:cTn id="36" presetID="53" presetClass="entr" presetSubtype="528" fill="hold" nodeType="after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500" fill="hold"/>
                                        <p:tgtEl>
                                          <p:spTgt spid="4"/>
                                        </p:tgtEl>
                                        <p:attrNameLst>
                                          <p:attrName>ppt_w</p:attrName>
                                        </p:attrNameLst>
                                      </p:cBhvr>
                                      <p:tavLst>
                                        <p:tav tm="0">
                                          <p:val>
                                            <p:fltVal val="0"/>
                                          </p:val>
                                        </p:tav>
                                        <p:tav tm="100000">
                                          <p:val>
                                            <p:strVal val="#ppt_w"/>
                                          </p:val>
                                        </p:tav>
                                      </p:tavLst>
                                    </p:anim>
                                    <p:anim calcmode="lin" valueType="num">
                                      <p:cBhvr>
                                        <p:cTn id="39" dur="500" fill="hold"/>
                                        <p:tgtEl>
                                          <p:spTgt spid="4"/>
                                        </p:tgtEl>
                                        <p:attrNameLst>
                                          <p:attrName>ppt_h</p:attrName>
                                        </p:attrNameLst>
                                      </p:cBhvr>
                                      <p:tavLst>
                                        <p:tav tm="0">
                                          <p:val>
                                            <p:fltVal val="0"/>
                                          </p:val>
                                        </p:tav>
                                        <p:tav tm="100000">
                                          <p:val>
                                            <p:strVal val="#ppt_h"/>
                                          </p:val>
                                        </p:tav>
                                      </p:tavLst>
                                    </p:anim>
                                    <p:animEffect transition="in" filter="fade">
                                      <p:cBhvr>
                                        <p:cTn id="40" dur="500"/>
                                        <p:tgtEl>
                                          <p:spTgt spid="4"/>
                                        </p:tgtEl>
                                      </p:cBhvr>
                                    </p:animEffect>
                                    <p:anim calcmode="lin" valueType="num">
                                      <p:cBhvr>
                                        <p:cTn id="41" dur="500" fill="hold"/>
                                        <p:tgtEl>
                                          <p:spTgt spid="4"/>
                                        </p:tgtEl>
                                        <p:attrNameLst>
                                          <p:attrName>ppt_x</p:attrName>
                                        </p:attrNameLst>
                                      </p:cBhvr>
                                      <p:tavLst>
                                        <p:tav tm="0">
                                          <p:val>
                                            <p:fltVal val="0.5"/>
                                          </p:val>
                                        </p:tav>
                                        <p:tav tm="100000">
                                          <p:val>
                                            <p:strVal val="#ppt_x"/>
                                          </p:val>
                                        </p:tav>
                                      </p:tavLst>
                                    </p:anim>
                                    <p:anim calcmode="lin" valueType="num">
                                      <p:cBhvr>
                                        <p:cTn id="42" dur="500" fill="hold"/>
                                        <p:tgtEl>
                                          <p:spTgt spid="4"/>
                                        </p:tgtEl>
                                        <p:attrNameLst>
                                          <p:attrName>ppt_y</p:attrName>
                                        </p:attrNameLst>
                                      </p:cBhvr>
                                      <p:tavLst>
                                        <p:tav tm="0">
                                          <p:val>
                                            <p:fltVal val="0.5"/>
                                          </p:val>
                                        </p:tav>
                                        <p:tav tm="100000">
                                          <p:val>
                                            <p:strVal val="#ppt_y"/>
                                          </p:val>
                                        </p:tav>
                                      </p:tavLst>
                                    </p:anim>
                                  </p:childTnLst>
                                </p:cTn>
                              </p:par>
                            </p:childTnLst>
                          </p:cTn>
                        </p:par>
                        <p:par>
                          <p:cTn id="43" fill="hold">
                            <p:stCondLst>
                              <p:cond delay="2600"/>
                            </p:stCondLst>
                            <p:childTnLst>
                              <p:par>
                                <p:cTn id="44" presetID="42" presetClass="entr" presetSubtype="0" fill="hold" grpId="0"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anim calcmode="lin" valueType="num">
                                      <p:cBhvr>
                                        <p:cTn id="47" dur="500" fill="hold"/>
                                        <p:tgtEl>
                                          <p:spTgt spid="29"/>
                                        </p:tgtEl>
                                        <p:attrNameLst>
                                          <p:attrName>ppt_x</p:attrName>
                                        </p:attrNameLst>
                                      </p:cBhvr>
                                      <p:tavLst>
                                        <p:tav tm="0">
                                          <p:val>
                                            <p:strVal val="#ppt_x"/>
                                          </p:val>
                                        </p:tav>
                                        <p:tav tm="100000">
                                          <p:val>
                                            <p:strVal val="#ppt_x"/>
                                          </p:val>
                                        </p:tav>
                                      </p:tavLst>
                                    </p:anim>
                                    <p:anim calcmode="lin" valueType="num">
                                      <p:cBhvr>
                                        <p:cTn id="48" dur="500" fill="hold"/>
                                        <p:tgtEl>
                                          <p:spTgt spid="2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anim calcmode="lin" valueType="num">
                                      <p:cBhvr>
                                        <p:cTn id="52" dur="500" fill="hold"/>
                                        <p:tgtEl>
                                          <p:spTgt spid="30"/>
                                        </p:tgtEl>
                                        <p:attrNameLst>
                                          <p:attrName>ppt_x</p:attrName>
                                        </p:attrNameLst>
                                      </p:cBhvr>
                                      <p:tavLst>
                                        <p:tav tm="0">
                                          <p:val>
                                            <p:strVal val="#ppt_x"/>
                                          </p:val>
                                        </p:tav>
                                        <p:tav tm="100000">
                                          <p:val>
                                            <p:strVal val="#ppt_x"/>
                                          </p:val>
                                        </p:tav>
                                      </p:tavLst>
                                    </p:anim>
                                    <p:anim calcmode="lin" valueType="num">
                                      <p:cBhvr>
                                        <p:cTn id="53" dur="5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3" grpId="0"/>
      <p:bldP spid="20494" grpId="0"/>
      <p:bldP spid="24" grpId="0"/>
      <p:bldP spid="29"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2"/>
          <p:cNvSpPr txBox="1"/>
          <p:nvPr/>
        </p:nvSpPr>
        <p:spPr>
          <a:xfrm>
            <a:off x="1906916" y="2850357"/>
            <a:ext cx="1995488" cy="282416"/>
          </a:xfrm>
          <a:prstGeom prst="rect">
            <a:avLst/>
          </a:prstGeom>
        </p:spPr>
        <p:txBody>
          <a:bodyPr vert="horz" lIns="68580" tIns="34290" rIns="68580" bIns="34290"/>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400" b="1" dirty="0">
                <a:solidFill>
                  <a:srgbClr val="1B4367"/>
                </a:solidFill>
                <a:cs typeface="+mn-ea"/>
                <a:sym typeface="+mn-lt"/>
              </a:rPr>
              <a:t>蛇纹石研究</a:t>
            </a:r>
          </a:p>
        </p:txBody>
      </p:sp>
      <p:sp>
        <p:nvSpPr>
          <p:cNvPr id="3" name="Text Placeholder 8"/>
          <p:cNvSpPr txBox="1"/>
          <p:nvPr/>
        </p:nvSpPr>
        <p:spPr>
          <a:xfrm>
            <a:off x="1906915" y="3195981"/>
            <a:ext cx="2446010" cy="906780"/>
          </a:xfrm>
          <a:prstGeom prst="rect">
            <a:avLst/>
          </a:prstGeom>
        </p:spPr>
        <p:txBody>
          <a:bodyPr vert="horz" lIns="68580" tIns="34290" rIns="68580" bIns="34290"/>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200" dirty="0">
                <a:solidFill>
                  <a:schemeClr val="tx1">
                    <a:lumMod val="75000"/>
                    <a:lumOff val="25000"/>
                  </a:schemeClr>
                </a:solidFill>
                <a:cs typeface="+mn-ea"/>
                <a:sym typeface="+mn-lt"/>
              </a:rPr>
              <a:t>绝大部分学者通过蛇纹石的物理性质来区分蛇纹石的不同多型。</a:t>
            </a:r>
          </a:p>
          <a:p>
            <a:r>
              <a:rPr lang="zh-CN" altLang="en-US" sz="1200" dirty="0">
                <a:solidFill>
                  <a:schemeClr val="tx1">
                    <a:lumMod val="75000"/>
                    <a:lumOff val="25000"/>
                  </a:schemeClr>
                </a:solidFill>
                <a:cs typeface="+mn-ea"/>
                <a:sym typeface="+mn-lt"/>
              </a:rPr>
              <a:t>对蛇纹石元素成分的研究还停留在基础认识阶段。</a:t>
            </a:r>
            <a:endParaRPr lang="en-US" altLang="zh-CN" sz="1200" dirty="0">
              <a:solidFill>
                <a:schemeClr val="tx1">
                  <a:lumMod val="75000"/>
                  <a:lumOff val="25000"/>
                </a:schemeClr>
              </a:solidFill>
              <a:cs typeface="+mn-ea"/>
              <a:sym typeface="+mn-lt"/>
            </a:endParaRPr>
          </a:p>
          <a:p>
            <a:endParaRPr lang="zh-CN" altLang="en-US" sz="1200" dirty="0">
              <a:solidFill>
                <a:schemeClr val="tx1">
                  <a:lumMod val="75000"/>
                  <a:lumOff val="25000"/>
                </a:schemeClr>
              </a:solidFill>
              <a:cs typeface="+mn-ea"/>
              <a:sym typeface="+mn-lt"/>
            </a:endParaRPr>
          </a:p>
        </p:txBody>
      </p:sp>
      <p:sp>
        <p:nvSpPr>
          <p:cNvPr id="37"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文献综述</a:t>
            </a:r>
          </a:p>
        </p:txBody>
      </p:sp>
      <p:grpSp>
        <p:nvGrpSpPr>
          <p:cNvPr id="19" name="组合 18"/>
          <p:cNvGrpSpPr/>
          <p:nvPr/>
        </p:nvGrpSpPr>
        <p:grpSpPr>
          <a:xfrm>
            <a:off x="1249193" y="2969162"/>
            <a:ext cx="602227" cy="602227"/>
            <a:chOff x="1201568" y="2978687"/>
            <a:chExt cx="602227" cy="602227"/>
          </a:xfrm>
          <a:solidFill>
            <a:schemeClr val="bg1"/>
          </a:solidFill>
        </p:grpSpPr>
        <p:sp>
          <p:nvSpPr>
            <p:cNvPr id="40" name="泪滴形 39"/>
            <p:cNvSpPr/>
            <p:nvPr/>
          </p:nvSpPr>
          <p:spPr>
            <a:xfrm>
              <a:off x="1201568" y="2978687"/>
              <a:ext cx="602227" cy="602227"/>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61" name="Freeform 36"/>
            <p:cNvSpPr/>
            <p:nvPr/>
          </p:nvSpPr>
          <p:spPr>
            <a:xfrm>
              <a:off x="1311282" y="3111644"/>
              <a:ext cx="382799" cy="336313"/>
            </a:xfrm>
            <a:custGeom>
              <a:avLst/>
              <a:gdLst/>
              <a:ahLst/>
              <a:cxnLst>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134" h="117">
                  <a:moveTo>
                    <a:pt x="134" y="20"/>
                  </a:moveTo>
                  <a:cubicBezTo>
                    <a:pt x="134" y="9"/>
                    <a:pt x="125" y="0"/>
                    <a:pt x="114" y="0"/>
                  </a:cubicBezTo>
                  <a:cubicBezTo>
                    <a:pt x="103" y="0"/>
                    <a:pt x="94" y="9"/>
                    <a:pt x="94" y="20"/>
                  </a:cubicBezTo>
                  <a:cubicBezTo>
                    <a:pt x="94" y="26"/>
                    <a:pt x="96" y="31"/>
                    <a:pt x="100" y="34"/>
                  </a:cubicBezTo>
                  <a:cubicBezTo>
                    <a:pt x="77" y="89"/>
                    <a:pt x="77" y="89"/>
                    <a:pt x="77" y="89"/>
                  </a:cubicBezTo>
                  <a:cubicBezTo>
                    <a:pt x="58" y="47"/>
                    <a:pt x="58" y="47"/>
                    <a:pt x="58" y="47"/>
                  </a:cubicBezTo>
                  <a:cubicBezTo>
                    <a:pt x="42" y="45"/>
                    <a:pt x="42" y="45"/>
                    <a:pt x="42" y="45"/>
                  </a:cubicBezTo>
                  <a:cubicBezTo>
                    <a:pt x="27" y="63"/>
                    <a:pt x="27" y="63"/>
                    <a:pt x="27" y="63"/>
                  </a:cubicBezTo>
                  <a:cubicBezTo>
                    <a:pt x="25" y="62"/>
                    <a:pt x="23" y="62"/>
                    <a:pt x="21" y="62"/>
                  </a:cubicBezTo>
                  <a:cubicBezTo>
                    <a:pt x="9" y="62"/>
                    <a:pt x="0" y="71"/>
                    <a:pt x="0" y="82"/>
                  </a:cubicBezTo>
                  <a:cubicBezTo>
                    <a:pt x="0" y="93"/>
                    <a:pt x="9" y="102"/>
                    <a:pt x="21" y="102"/>
                  </a:cubicBezTo>
                  <a:cubicBezTo>
                    <a:pt x="32" y="102"/>
                    <a:pt x="41" y="93"/>
                    <a:pt x="41" y="82"/>
                  </a:cubicBezTo>
                  <a:cubicBezTo>
                    <a:pt x="41" y="81"/>
                    <a:pt x="41" y="79"/>
                    <a:pt x="40" y="78"/>
                  </a:cubicBezTo>
                  <a:cubicBezTo>
                    <a:pt x="47" y="70"/>
                    <a:pt x="47" y="70"/>
                    <a:pt x="47" y="70"/>
                  </a:cubicBezTo>
                  <a:cubicBezTo>
                    <a:pt x="69" y="117"/>
                    <a:pt x="69" y="117"/>
                    <a:pt x="69" y="117"/>
                  </a:cubicBezTo>
                  <a:cubicBezTo>
                    <a:pt x="86" y="117"/>
                    <a:pt x="86" y="117"/>
                    <a:pt x="86" y="117"/>
                  </a:cubicBezTo>
                  <a:cubicBezTo>
                    <a:pt x="119" y="39"/>
                    <a:pt x="119" y="39"/>
                    <a:pt x="119" y="39"/>
                  </a:cubicBezTo>
                  <a:cubicBezTo>
                    <a:pt x="128" y="37"/>
                    <a:pt x="134" y="29"/>
                    <a:pt x="134" y="20"/>
                  </a:cubicBezTo>
                  <a:close/>
                </a:path>
              </a:pathLst>
            </a:custGeom>
            <a:grpFill/>
            <a:ln w="9525">
              <a:noFill/>
            </a:ln>
          </p:spPr>
          <p:txBody>
            <a:bodyPr/>
            <a:lstStyle/>
            <a:p>
              <a:endParaRPr lang="zh-CN" altLang="en-US">
                <a:cs typeface="+mn-ea"/>
                <a:sym typeface="+mn-lt"/>
              </a:endParaRPr>
            </a:p>
          </p:txBody>
        </p:sp>
      </p:grpSp>
      <p:sp>
        <p:nvSpPr>
          <p:cNvPr id="50" name="Text Placeholder 2"/>
          <p:cNvSpPr txBox="1"/>
          <p:nvPr/>
        </p:nvSpPr>
        <p:spPr>
          <a:xfrm>
            <a:off x="5450216" y="2850357"/>
            <a:ext cx="1995488" cy="282416"/>
          </a:xfrm>
          <a:prstGeom prst="rect">
            <a:avLst/>
          </a:prstGeom>
        </p:spPr>
        <p:txBody>
          <a:bodyPr vert="horz" lIns="68580" tIns="34290" rIns="68580" bIns="34290"/>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400" b="1" dirty="0">
                <a:solidFill>
                  <a:srgbClr val="1B4367"/>
                </a:solidFill>
                <a:cs typeface="+mn-ea"/>
                <a:sym typeface="+mn-lt"/>
              </a:rPr>
              <a:t>现存问题</a:t>
            </a:r>
          </a:p>
        </p:txBody>
      </p:sp>
      <p:sp>
        <p:nvSpPr>
          <p:cNvPr id="51" name="Text Placeholder 8"/>
          <p:cNvSpPr txBox="1"/>
          <p:nvPr/>
        </p:nvSpPr>
        <p:spPr>
          <a:xfrm>
            <a:off x="5450215" y="3195981"/>
            <a:ext cx="2446010" cy="906780"/>
          </a:xfrm>
          <a:prstGeom prst="rect">
            <a:avLst/>
          </a:prstGeom>
        </p:spPr>
        <p:txBody>
          <a:bodyPr vert="horz" lIns="68580" tIns="34290" rIns="68580" bIns="34290"/>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pPr>
              <a:lnSpc>
                <a:spcPts val="1500"/>
              </a:lnSpc>
            </a:pPr>
            <a:r>
              <a:rPr lang="zh-CN" altLang="en-US" sz="1200" dirty="0">
                <a:solidFill>
                  <a:schemeClr val="tx1">
                    <a:lumMod val="75000"/>
                    <a:lumOff val="25000"/>
                  </a:schemeClr>
                </a:solidFill>
                <a:cs typeface="+mn-ea"/>
                <a:sym typeface="+mn-lt"/>
              </a:rPr>
              <a:t>虽然支持向量机和</a:t>
            </a:r>
            <a:r>
              <a:rPr lang="en-US" altLang="zh-CN" sz="1200" dirty="0">
                <a:solidFill>
                  <a:schemeClr val="tx1">
                    <a:lumMod val="75000"/>
                    <a:lumOff val="25000"/>
                  </a:schemeClr>
                </a:solidFill>
                <a:cs typeface="+mn-ea"/>
                <a:sym typeface="+mn-lt"/>
              </a:rPr>
              <a:t>K</a:t>
            </a:r>
            <a:r>
              <a:rPr lang="zh-CN" altLang="en-US" sz="1200" dirty="0">
                <a:solidFill>
                  <a:schemeClr val="tx1">
                    <a:lumMod val="75000"/>
                    <a:lumOff val="25000"/>
                  </a:schemeClr>
                </a:solidFill>
                <a:cs typeface="+mn-ea"/>
                <a:sym typeface="+mn-lt"/>
              </a:rPr>
              <a:t>均值聚类等大数据分析手段在多个领域中发挥了重大作用，推动了不少研究进展，但是在地质学和地球化学的领域中，鲜有学者使用这类方法来进行矿物识别、矿物成分分析等工作。</a:t>
            </a:r>
            <a:endParaRPr lang="en-US" altLang="zh-CN" sz="1200" dirty="0">
              <a:solidFill>
                <a:schemeClr val="tx1">
                  <a:lumMod val="75000"/>
                  <a:lumOff val="25000"/>
                </a:schemeClr>
              </a:solidFill>
              <a:cs typeface="+mn-ea"/>
              <a:sym typeface="+mn-lt"/>
            </a:endParaRPr>
          </a:p>
          <a:p>
            <a:pPr>
              <a:lnSpc>
                <a:spcPts val="1500"/>
              </a:lnSpc>
            </a:pPr>
            <a:r>
              <a:rPr lang="zh-CN" altLang="en-US" sz="1200" dirty="0">
                <a:solidFill>
                  <a:schemeClr val="tx1">
                    <a:lumMod val="75000"/>
                    <a:lumOff val="25000"/>
                  </a:schemeClr>
                </a:solidFill>
                <a:cs typeface="+mn-ea"/>
                <a:sym typeface="+mn-lt"/>
              </a:rPr>
              <a:t>目前影响蛇纹石多型的关键因素仍需进一步研究。</a:t>
            </a:r>
          </a:p>
        </p:txBody>
      </p:sp>
      <p:grpSp>
        <p:nvGrpSpPr>
          <p:cNvPr id="16" name="组合 15"/>
          <p:cNvGrpSpPr/>
          <p:nvPr/>
        </p:nvGrpSpPr>
        <p:grpSpPr>
          <a:xfrm>
            <a:off x="4792493" y="2969162"/>
            <a:ext cx="602227" cy="602227"/>
            <a:chOff x="4440068" y="3016787"/>
            <a:chExt cx="602227" cy="602227"/>
          </a:xfrm>
          <a:solidFill>
            <a:schemeClr val="bg1"/>
          </a:solidFill>
        </p:grpSpPr>
        <p:sp>
          <p:nvSpPr>
            <p:cNvPr id="53" name="泪滴形 52"/>
            <p:cNvSpPr/>
            <p:nvPr/>
          </p:nvSpPr>
          <p:spPr>
            <a:xfrm>
              <a:off x="4440068" y="3016787"/>
              <a:ext cx="602227" cy="602227"/>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4571197" y="3149450"/>
              <a:ext cx="339968" cy="336901"/>
              <a:chOff x="4735830" y="4453890"/>
              <a:chExt cx="176213" cy="174625"/>
            </a:xfrm>
            <a:grpFill/>
          </p:grpSpPr>
          <p:sp>
            <p:nvSpPr>
              <p:cNvPr id="31757" name="Oval 42"/>
              <p:cNvSpPr/>
              <p:nvPr/>
            </p:nvSpPr>
            <p:spPr>
              <a:xfrm>
                <a:off x="4735830" y="4472940"/>
                <a:ext cx="73025" cy="69850"/>
              </a:xfrm>
              <a:prstGeom prst="ellipse">
                <a:avLst/>
              </a:prstGeom>
              <a:grpFill/>
              <a:ln w="9525">
                <a:noFill/>
              </a:ln>
            </p:spPr>
            <p:txBody>
              <a:bodyPr/>
              <a:lstStyle/>
              <a:p>
                <a:pPr lvl="0" eaLnBrk="1" hangingPunct="1"/>
                <a:endParaRPr lang="zh-CN" altLang="en-US" dirty="0">
                  <a:cs typeface="+mn-ea"/>
                  <a:sym typeface="+mn-lt"/>
                </a:endParaRPr>
              </a:p>
            </p:txBody>
          </p:sp>
          <p:sp>
            <p:nvSpPr>
              <p:cNvPr id="31758" name="Oval 43"/>
              <p:cNvSpPr/>
              <p:nvPr/>
            </p:nvSpPr>
            <p:spPr>
              <a:xfrm>
                <a:off x="4823143" y="4453890"/>
                <a:ext cx="88900" cy="88900"/>
              </a:xfrm>
              <a:prstGeom prst="ellipse">
                <a:avLst/>
              </a:prstGeom>
              <a:grpFill/>
              <a:ln w="9525">
                <a:noFill/>
              </a:ln>
            </p:spPr>
            <p:txBody>
              <a:bodyPr/>
              <a:lstStyle/>
              <a:p>
                <a:pPr lvl="0" eaLnBrk="1" hangingPunct="1"/>
                <a:endParaRPr lang="zh-CN" altLang="en-US" dirty="0">
                  <a:cs typeface="+mn-ea"/>
                  <a:sym typeface="+mn-lt"/>
                </a:endParaRPr>
              </a:p>
            </p:txBody>
          </p:sp>
          <p:sp>
            <p:nvSpPr>
              <p:cNvPr id="31759" name="Oval 44"/>
              <p:cNvSpPr/>
              <p:nvPr/>
            </p:nvSpPr>
            <p:spPr>
              <a:xfrm>
                <a:off x="4735830" y="4557078"/>
                <a:ext cx="73025" cy="71437"/>
              </a:xfrm>
              <a:prstGeom prst="ellipse">
                <a:avLst/>
              </a:prstGeom>
              <a:grpFill/>
              <a:ln w="9525">
                <a:noFill/>
              </a:ln>
            </p:spPr>
            <p:txBody>
              <a:bodyPr/>
              <a:lstStyle/>
              <a:p>
                <a:pPr lvl="0" eaLnBrk="1" hangingPunct="1"/>
                <a:endParaRPr lang="zh-CN" altLang="en-US" dirty="0">
                  <a:cs typeface="+mn-ea"/>
                  <a:sym typeface="+mn-lt"/>
                </a:endParaRPr>
              </a:p>
            </p:txBody>
          </p:sp>
          <p:sp>
            <p:nvSpPr>
              <p:cNvPr id="31760" name="Oval 45"/>
              <p:cNvSpPr/>
              <p:nvPr/>
            </p:nvSpPr>
            <p:spPr>
              <a:xfrm>
                <a:off x="4823143" y="4557078"/>
                <a:ext cx="71437" cy="71437"/>
              </a:xfrm>
              <a:prstGeom prst="ellipse">
                <a:avLst/>
              </a:prstGeom>
              <a:grpFill/>
              <a:ln w="9525">
                <a:noFill/>
              </a:ln>
            </p:spPr>
            <p:txBody>
              <a:bodyPr/>
              <a:lstStyle/>
              <a:p>
                <a:pPr lvl="0" eaLnBrk="1" hangingPunct="1"/>
                <a:endParaRPr lang="zh-CN" altLang="en-US" dirty="0">
                  <a:cs typeface="+mn-ea"/>
                  <a:sym typeface="+mn-lt"/>
                </a:endParaRPr>
              </a:p>
            </p:txBody>
          </p:sp>
        </p:grpSp>
      </p:grpSp>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74" name="Text Placeholder 2">
            <a:extLst>
              <a:ext uri="{FF2B5EF4-FFF2-40B4-BE49-F238E27FC236}">
                <a16:creationId xmlns:a16="http://schemas.microsoft.com/office/drawing/2014/main" id="{D5990726-E46A-4DF2-B153-D4968E9B1C3B}"/>
              </a:ext>
            </a:extLst>
          </p:cNvPr>
          <p:cNvSpPr txBox="1"/>
          <p:nvPr/>
        </p:nvSpPr>
        <p:spPr>
          <a:xfrm>
            <a:off x="1906916" y="1188959"/>
            <a:ext cx="1995488" cy="282416"/>
          </a:xfrm>
          <a:prstGeom prst="rect">
            <a:avLst/>
          </a:prstGeom>
        </p:spPr>
        <p:txBody>
          <a:bodyPr vert="horz" lIns="68580" tIns="34290" rIns="68580" bIns="34290"/>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400" b="1" dirty="0">
                <a:solidFill>
                  <a:srgbClr val="1B4367"/>
                </a:solidFill>
                <a:latin typeface="+mn-lt"/>
                <a:ea typeface="+mn-ea"/>
                <a:cs typeface="+mn-ea"/>
                <a:sym typeface="+mn-lt"/>
              </a:rPr>
              <a:t>支持向量机</a:t>
            </a:r>
          </a:p>
        </p:txBody>
      </p:sp>
      <p:sp>
        <p:nvSpPr>
          <p:cNvPr id="75" name="Text Placeholder 8">
            <a:extLst>
              <a:ext uri="{FF2B5EF4-FFF2-40B4-BE49-F238E27FC236}">
                <a16:creationId xmlns:a16="http://schemas.microsoft.com/office/drawing/2014/main" id="{A680F847-BF1A-4380-BD71-E712199F59CE}"/>
              </a:ext>
            </a:extLst>
          </p:cNvPr>
          <p:cNvSpPr txBox="1"/>
          <p:nvPr/>
        </p:nvSpPr>
        <p:spPr>
          <a:xfrm>
            <a:off x="1906915" y="1520058"/>
            <a:ext cx="2446010" cy="906780"/>
          </a:xfrm>
          <a:prstGeom prst="rect">
            <a:avLst/>
          </a:prstGeom>
        </p:spPr>
        <p:txBody>
          <a:bodyPr vert="horz" lIns="68580" tIns="34290" rIns="68580" bIns="34290"/>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altLang="zh-CN" sz="1200" dirty="0">
                <a:solidFill>
                  <a:schemeClr val="tx1">
                    <a:lumMod val="75000"/>
                    <a:lumOff val="25000"/>
                  </a:schemeClr>
                </a:solidFill>
                <a:cs typeface="+mn-ea"/>
                <a:sym typeface="+mn-lt"/>
              </a:rPr>
              <a:t>SVM</a:t>
            </a:r>
            <a:r>
              <a:rPr lang="zh-CN" altLang="en-US" sz="1200" dirty="0">
                <a:solidFill>
                  <a:schemeClr val="tx1">
                    <a:lumMod val="75000"/>
                    <a:lumOff val="25000"/>
                  </a:schemeClr>
                </a:solidFill>
                <a:cs typeface="+mn-ea"/>
                <a:sym typeface="+mn-lt"/>
              </a:rPr>
              <a:t>方法在理论上具有突出的优势，有关</a:t>
            </a:r>
            <a:r>
              <a:rPr lang="en-US" altLang="zh-CN" sz="1200" dirty="0">
                <a:solidFill>
                  <a:schemeClr val="tx1">
                    <a:lumMod val="75000"/>
                    <a:lumOff val="25000"/>
                  </a:schemeClr>
                </a:solidFill>
                <a:cs typeface="+mn-ea"/>
                <a:sym typeface="+mn-lt"/>
              </a:rPr>
              <a:t>SVM</a:t>
            </a:r>
            <a:r>
              <a:rPr lang="zh-CN" altLang="en-US" sz="1200" dirty="0">
                <a:solidFill>
                  <a:schemeClr val="tx1">
                    <a:lumMod val="75000"/>
                    <a:lumOff val="25000"/>
                  </a:schemeClr>
                </a:solidFill>
                <a:cs typeface="+mn-ea"/>
                <a:sym typeface="+mn-lt"/>
              </a:rPr>
              <a:t>的应用研究得到了很多领域的学者的重视，在人脸检测、验证和识别、说话人</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语音识别、文字</a:t>
            </a:r>
            <a:r>
              <a:rPr lang="en-US" altLang="zh-CN" sz="1200" dirty="0">
                <a:solidFill>
                  <a:schemeClr val="tx1">
                    <a:lumMod val="75000"/>
                    <a:lumOff val="25000"/>
                  </a:schemeClr>
                </a:solidFill>
                <a:cs typeface="+mn-ea"/>
                <a:sym typeface="+mn-lt"/>
              </a:rPr>
              <a:t>/</a:t>
            </a:r>
            <a:r>
              <a:rPr lang="zh-CN" altLang="en-US" sz="1200" dirty="0">
                <a:solidFill>
                  <a:schemeClr val="tx1">
                    <a:lumMod val="75000"/>
                    <a:lumOff val="25000"/>
                  </a:schemeClr>
                </a:solidFill>
                <a:cs typeface="+mn-ea"/>
                <a:sym typeface="+mn-lt"/>
              </a:rPr>
              <a:t>手写体识别、图像处理、及其他应用研究等方面取得了大量的研究成果。</a:t>
            </a:r>
          </a:p>
        </p:txBody>
      </p:sp>
      <p:grpSp>
        <p:nvGrpSpPr>
          <p:cNvPr id="76" name="组合 75">
            <a:extLst>
              <a:ext uri="{FF2B5EF4-FFF2-40B4-BE49-F238E27FC236}">
                <a16:creationId xmlns:a16="http://schemas.microsoft.com/office/drawing/2014/main" id="{099EAE18-3815-44D1-8079-FB19E7874BC1}"/>
              </a:ext>
            </a:extLst>
          </p:cNvPr>
          <p:cNvGrpSpPr/>
          <p:nvPr/>
        </p:nvGrpSpPr>
        <p:grpSpPr>
          <a:xfrm>
            <a:off x="1249193" y="1314056"/>
            <a:ext cx="602227" cy="602227"/>
            <a:chOff x="1201568" y="1323581"/>
            <a:chExt cx="602227" cy="602227"/>
          </a:xfrm>
          <a:solidFill>
            <a:schemeClr val="bg1"/>
          </a:solidFill>
        </p:grpSpPr>
        <p:sp>
          <p:nvSpPr>
            <p:cNvPr id="77" name="泪滴形 76">
              <a:extLst>
                <a:ext uri="{FF2B5EF4-FFF2-40B4-BE49-F238E27FC236}">
                  <a16:creationId xmlns:a16="http://schemas.microsoft.com/office/drawing/2014/main" id="{A805DEEA-8F6C-4C42-BFB1-11D11840262F}"/>
                </a:ext>
              </a:extLst>
            </p:cNvPr>
            <p:cNvSpPr/>
            <p:nvPr/>
          </p:nvSpPr>
          <p:spPr>
            <a:xfrm>
              <a:off x="1201568" y="1323581"/>
              <a:ext cx="602227" cy="602227"/>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a:extLst>
                <a:ext uri="{FF2B5EF4-FFF2-40B4-BE49-F238E27FC236}">
                  <a16:creationId xmlns:a16="http://schemas.microsoft.com/office/drawing/2014/main" id="{2E196098-9206-42BD-ABA7-74A7ED36FB7E}"/>
                </a:ext>
              </a:extLst>
            </p:cNvPr>
            <p:cNvGrpSpPr/>
            <p:nvPr/>
          </p:nvGrpSpPr>
          <p:grpSpPr>
            <a:xfrm>
              <a:off x="1370273" y="1442634"/>
              <a:ext cx="264816" cy="364121"/>
              <a:chOff x="6766243" y="2767965"/>
              <a:chExt cx="139700" cy="192088"/>
            </a:xfrm>
            <a:grpFill/>
          </p:grpSpPr>
          <p:sp>
            <p:nvSpPr>
              <p:cNvPr id="79" name="Rectangle 27">
                <a:extLst>
                  <a:ext uri="{FF2B5EF4-FFF2-40B4-BE49-F238E27FC236}">
                    <a16:creationId xmlns:a16="http://schemas.microsoft.com/office/drawing/2014/main" id="{93B6F066-D307-42CC-A972-BEDB025F948A}"/>
                  </a:ext>
                </a:extLst>
              </p:cNvPr>
              <p:cNvSpPr/>
              <p:nvPr/>
            </p:nvSpPr>
            <p:spPr>
              <a:xfrm>
                <a:off x="6766243" y="2807653"/>
                <a:ext cx="22225" cy="152400"/>
              </a:xfrm>
              <a:prstGeom prst="rect">
                <a:avLst/>
              </a:prstGeom>
              <a:grpFill/>
              <a:ln w="9525">
                <a:noFill/>
                <a:miter/>
              </a:ln>
            </p:spPr>
            <p:txBody>
              <a:bodyPr/>
              <a:lstStyle/>
              <a:p>
                <a:pPr lvl="0" eaLnBrk="1" hangingPunct="1"/>
                <a:endParaRPr lang="zh-CN" altLang="en-US" dirty="0">
                  <a:cs typeface="+mn-ea"/>
                  <a:sym typeface="+mn-lt"/>
                </a:endParaRPr>
              </a:p>
            </p:txBody>
          </p:sp>
          <p:sp>
            <p:nvSpPr>
              <p:cNvPr id="80" name="Rectangle 28">
                <a:extLst>
                  <a:ext uri="{FF2B5EF4-FFF2-40B4-BE49-F238E27FC236}">
                    <a16:creationId xmlns:a16="http://schemas.microsoft.com/office/drawing/2014/main" id="{AABB84CC-AC9D-451B-8322-88B68DDD290C}"/>
                  </a:ext>
                </a:extLst>
              </p:cNvPr>
              <p:cNvSpPr/>
              <p:nvPr/>
            </p:nvSpPr>
            <p:spPr>
              <a:xfrm>
                <a:off x="6807518" y="2783840"/>
                <a:ext cx="20637" cy="176213"/>
              </a:xfrm>
              <a:prstGeom prst="rect">
                <a:avLst/>
              </a:prstGeom>
              <a:grpFill/>
              <a:ln w="9525">
                <a:noFill/>
                <a:miter/>
              </a:ln>
            </p:spPr>
            <p:txBody>
              <a:bodyPr/>
              <a:lstStyle/>
              <a:p>
                <a:pPr lvl="0" eaLnBrk="1" hangingPunct="1"/>
                <a:endParaRPr lang="zh-CN" altLang="en-US" dirty="0">
                  <a:cs typeface="+mn-ea"/>
                  <a:sym typeface="+mn-lt"/>
                </a:endParaRPr>
              </a:p>
            </p:txBody>
          </p:sp>
          <p:sp>
            <p:nvSpPr>
              <p:cNvPr id="81" name="Rectangle 29">
                <a:extLst>
                  <a:ext uri="{FF2B5EF4-FFF2-40B4-BE49-F238E27FC236}">
                    <a16:creationId xmlns:a16="http://schemas.microsoft.com/office/drawing/2014/main" id="{9AC92075-0498-462F-849A-7A02E07796E3}"/>
                  </a:ext>
                </a:extLst>
              </p:cNvPr>
              <p:cNvSpPr/>
              <p:nvPr/>
            </p:nvSpPr>
            <p:spPr>
              <a:xfrm>
                <a:off x="6844030" y="2767965"/>
                <a:ext cx="22225" cy="192088"/>
              </a:xfrm>
              <a:prstGeom prst="rect">
                <a:avLst/>
              </a:prstGeom>
              <a:grpFill/>
              <a:ln w="9525">
                <a:noFill/>
                <a:miter/>
              </a:ln>
            </p:spPr>
            <p:txBody>
              <a:bodyPr/>
              <a:lstStyle/>
              <a:p>
                <a:pPr lvl="0" eaLnBrk="1" hangingPunct="1"/>
                <a:endParaRPr lang="zh-CN" altLang="en-US" dirty="0">
                  <a:cs typeface="+mn-ea"/>
                  <a:sym typeface="+mn-lt"/>
                </a:endParaRPr>
              </a:p>
            </p:txBody>
          </p:sp>
          <p:sp>
            <p:nvSpPr>
              <p:cNvPr id="82" name="Rectangle 30">
                <a:extLst>
                  <a:ext uri="{FF2B5EF4-FFF2-40B4-BE49-F238E27FC236}">
                    <a16:creationId xmlns:a16="http://schemas.microsoft.com/office/drawing/2014/main" id="{FE4F5673-554A-486B-8D70-1968A78B19ED}"/>
                  </a:ext>
                </a:extLst>
              </p:cNvPr>
              <p:cNvSpPr/>
              <p:nvPr/>
            </p:nvSpPr>
            <p:spPr>
              <a:xfrm>
                <a:off x="6882130" y="2866390"/>
                <a:ext cx="23813" cy="93663"/>
              </a:xfrm>
              <a:prstGeom prst="rect">
                <a:avLst/>
              </a:prstGeom>
              <a:grpFill/>
              <a:ln w="9525">
                <a:noFill/>
                <a:miter/>
              </a:ln>
            </p:spPr>
            <p:txBody>
              <a:bodyPr/>
              <a:lstStyle/>
              <a:p>
                <a:pPr lvl="0" eaLnBrk="1" hangingPunct="1"/>
                <a:endParaRPr lang="zh-CN" altLang="en-US" dirty="0">
                  <a:cs typeface="+mn-ea"/>
                  <a:sym typeface="+mn-lt"/>
                </a:endParaRPr>
              </a:p>
            </p:txBody>
          </p:sp>
        </p:grpSp>
      </p:grpSp>
      <p:sp>
        <p:nvSpPr>
          <p:cNvPr id="83" name="Text Placeholder 2">
            <a:extLst>
              <a:ext uri="{FF2B5EF4-FFF2-40B4-BE49-F238E27FC236}">
                <a16:creationId xmlns:a16="http://schemas.microsoft.com/office/drawing/2014/main" id="{BEB8F4D4-557D-4D2D-938A-744B0F5D5D87}"/>
              </a:ext>
            </a:extLst>
          </p:cNvPr>
          <p:cNvSpPr txBox="1"/>
          <p:nvPr/>
        </p:nvSpPr>
        <p:spPr>
          <a:xfrm>
            <a:off x="5450216" y="1188959"/>
            <a:ext cx="1995488" cy="282416"/>
          </a:xfrm>
          <a:prstGeom prst="rect">
            <a:avLst/>
          </a:prstGeom>
        </p:spPr>
        <p:txBody>
          <a:bodyPr vert="horz" lIns="68580" tIns="34290" rIns="68580" bIns="34290"/>
          <a:lstStyle>
            <a:defPPr>
              <a:defRPr lang="zh-CN"/>
            </a:defPPr>
            <a:lvl1pPr indent="0" defTabSz="457200">
              <a:lnSpc>
                <a:spcPct val="140000"/>
              </a:lnSpc>
              <a:spcBef>
                <a:spcPct val="20000"/>
              </a:spcBef>
              <a:buFont typeface="Arial"/>
              <a:buNone/>
              <a:defRPr sz="2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en-US" altLang="zh-CN" sz="1400" b="1" dirty="0">
                <a:solidFill>
                  <a:srgbClr val="1B4367"/>
                </a:solidFill>
                <a:latin typeface="+mn-lt"/>
                <a:ea typeface="+mn-ea"/>
                <a:cs typeface="+mn-ea"/>
                <a:sym typeface="+mn-lt"/>
              </a:rPr>
              <a:t>K</a:t>
            </a:r>
            <a:r>
              <a:rPr lang="zh-CN" altLang="en-US" sz="1400" b="1" dirty="0">
                <a:solidFill>
                  <a:srgbClr val="1B4367"/>
                </a:solidFill>
                <a:latin typeface="+mn-lt"/>
                <a:ea typeface="+mn-ea"/>
                <a:cs typeface="+mn-ea"/>
                <a:sym typeface="+mn-lt"/>
              </a:rPr>
              <a:t>均值</a:t>
            </a:r>
          </a:p>
        </p:txBody>
      </p:sp>
      <p:sp>
        <p:nvSpPr>
          <p:cNvPr id="84" name="Text Placeholder 8">
            <a:extLst>
              <a:ext uri="{FF2B5EF4-FFF2-40B4-BE49-F238E27FC236}">
                <a16:creationId xmlns:a16="http://schemas.microsoft.com/office/drawing/2014/main" id="{79FF6EBF-B723-4AB9-837A-F2F33D5FB324}"/>
              </a:ext>
            </a:extLst>
          </p:cNvPr>
          <p:cNvSpPr txBox="1"/>
          <p:nvPr/>
        </p:nvSpPr>
        <p:spPr>
          <a:xfrm>
            <a:off x="5450215" y="1520058"/>
            <a:ext cx="2446010" cy="906780"/>
          </a:xfrm>
          <a:prstGeom prst="rect">
            <a:avLst/>
          </a:prstGeom>
        </p:spPr>
        <p:txBody>
          <a:bodyPr vert="horz" lIns="68580" tIns="34290" rIns="68580" bIns="34290"/>
          <a:lstStyle>
            <a:defPPr>
              <a:defRPr lang="zh-CN"/>
            </a:defPPr>
            <a:lvl1pPr indent="0" defTabSz="457200">
              <a:spcBef>
                <a:spcPct val="20000"/>
              </a:spcBef>
              <a:buFont typeface="Arial"/>
              <a:buNone/>
              <a:defRPr sz="1400" baseline="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itchFamily="34" charset="-122"/>
                <a:ea typeface="微软雅黑" pitchFamily="34" charset="-122"/>
                <a:cs typeface="Roboto condensed"/>
              </a:defRPr>
            </a:lvl1pPr>
            <a:lvl2pPr marL="742950" indent="-285750" defTabSz="457200">
              <a:spcBef>
                <a:spcPct val="20000"/>
              </a:spcBef>
              <a:buFont typeface="Arial"/>
              <a:buChar char="–"/>
              <a:defRPr sz="2800"/>
            </a:lvl2pPr>
            <a:lvl3pPr marL="1143000" indent="-228600" defTabSz="457200">
              <a:spcBef>
                <a:spcPct val="20000"/>
              </a:spcBef>
              <a:buFont typeface="Arial"/>
              <a:buChar char="•"/>
              <a:defRPr sz="2400"/>
            </a:lvl3pPr>
            <a:lvl4pPr marL="1600200" indent="-228600" defTabSz="457200">
              <a:spcBef>
                <a:spcPct val="20000"/>
              </a:spcBef>
              <a:buFont typeface="Arial"/>
              <a:buChar char="–"/>
              <a:defRPr sz="2000"/>
            </a:lvl4pPr>
            <a:lvl5pPr marL="2057400" indent="-228600" defTabSz="457200">
              <a:spcBef>
                <a:spcPct val="20000"/>
              </a:spcBef>
              <a:buFont typeface="Arial"/>
              <a:buChar char="»"/>
              <a:defRPr sz="2000"/>
            </a:lvl5pPr>
            <a:lvl6pPr marL="2514600" indent="-228600" defTabSz="457200">
              <a:spcBef>
                <a:spcPct val="20000"/>
              </a:spcBef>
              <a:buFont typeface="Arial"/>
              <a:buChar char="•"/>
              <a:defRPr sz="2000"/>
            </a:lvl6pPr>
            <a:lvl7pPr marL="2971800" indent="-228600" defTabSz="457200">
              <a:spcBef>
                <a:spcPct val="20000"/>
              </a:spcBef>
              <a:buFont typeface="Arial"/>
              <a:buChar char="•"/>
              <a:defRPr sz="2000"/>
            </a:lvl7pPr>
            <a:lvl8pPr marL="3429000" indent="-228600" defTabSz="457200">
              <a:spcBef>
                <a:spcPct val="20000"/>
              </a:spcBef>
              <a:buFont typeface="Arial"/>
              <a:buChar char="•"/>
              <a:defRPr sz="2000"/>
            </a:lvl8pPr>
            <a:lvl9pPr marL="3886200" indent="-228600" defTabSz="457200">
              <a:spcBef>
                <a:spcPct val="20000"/>
              </a:spcBef>
              <a:buFont typeface="Arial"/>
              <a:buChar char="•"/>
              <a:defRPr sz="2000"/>
            </a:lvl9pPr>
          </a:lstStyle>
          <a:p>
            <a:r>
              <a:rPr lang="zh-CN" altLang="en-US" sz="1200" dirty="0">
                <a:solidFill>
                  <a:schemeClr val="tx1">
                    <a:lumMod val="75000"/>
                    <a:lumOff val="25000"/>
                  </a:schemeClr>
                </a:solidFill>
                <a:cs typeface="+mn-ea"/>
                <a:sym typeface="+mn-lt"/>
              </a:rPr>
              <a:t>聚类分析是数据挖掘中的一个重要研究领域，是一种数据划分或分组处理的重要手段和方法。聚类无论在商务领域，还是在生物学、</a:t>
            </a:r>
            <a:r>
              <a:rPr lang="en-US" altLang="zh-CN" sz="1200" dirty="0">
                <a:solidFill>
                  <a:schemeClr val="tx1">
                    <a:lumMod val="75000"/>
                    <a:lumOff val="25000"/>
                  </a:schemeClr>
                </a:solidFill>
                <a:cs typeface="+mn-ea"/>
                <a:sym typeface="+mn-lt"/>
              </a:rPr>
              <a:t>Web</a:t>
            </a:r>
            <a:r>
              <a:rPr lang="zh-CN" altLang="en-US" sz="1200" dirty="0">
                <a:solidFill>
                  <a:schemeClr val="tx1">
                    <a:lumMod val="75000"/>
                    <a:lumOff val="25000"/>
                  </a:schemeClr>
                </a:solidFill>
                <a:cs typeface="+mn-ea"/>
                <a:sym typeface="+mn-lt"/>
              </a:rPr>
              <a:t>文档分类、图像处理等其他领域都得到了有效的应用。</a:t>
            </a:r>
          </a:p>
        </p:txBody>
      </p:sp>
      <p:grpSp>
        <p:nvGrpSpPr>
          <p:cNvPr id="85" name="组合 84">
            <a:extLst>
              <a:ext uri="{FF2B5EF4-FFF2-40B4-BE49-F238E27FC236}">
                <a16:creationId xmlns:a16="http://schemas.microsoft.com/office/drawing/2014/main" id="{6B419C00-F9F1-4134-BAD1-922D10482F08}"/>
              </a:ext>
            </a:extLst>
          </p:cNvPr>
          <p:cNvGrpSpPr/>
          <p:nvPr/>
        </p:nvGrpSpPr>
        <p:grpSpPr>
          <a:xfrm>
            <a:off x="4792493" y="1314056"/>
            <a:ext cx="602227" cy="602227"/>
            <a:chOff x="4440068" y="1361681"/>
            <a:chExt cx="602227" cy="602227"/>
          </a:xfrm>
          <a:solidFill>
            <a:schemeClr val="bg1"/>
          </a:solidFill>
        </p:grpSpPr>
        <p:sp>
          <p:nvSpPr>
            <p:cNvPr id="86" name="泪滴形 85">
              <a:extLst>
                <a:ext uri="{FF2B5EF4-FFF2-40B4-BE49-F238E27FC236}">
                  <a16:creationId xmlns:a16="http://schemas.microsoft.com/office/drawing/2014/main" id="{9587D161-385B-43F7-8448-0B14AF349878}"/>
                </a:ext>
              </a:extLst>
            </p:cNvPr>
            <p:cNvSpPr/>
            <p:nvPr/>
          </p:nvSpPr>
          <p:spPr>
            <a:xfrm>
              <a:off x="4440068" y="1361681"/>
              <a:ext cx="602227" cy="602227"/>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组合 86">
              <a:extLst>
                <a:ext uri="{FF2B5EF4-FFF2-40B4-BE49-F238E27FC236}">
                  <a16:creationId xmlns:a16="http://schemas.microsoft.com/office/drawing/2014/main" id="{9C6A8D0D-BDC5-45A4-B536-572B543976F9}"/>
                </a:ext>
              </a:extLst>
            </p:cNvPr>
            <p:cNvGrpSpPr/>
            <p:nvPr/>
          </p:nvGrpSpPr>
          <p:grpSpPr>
            <a:xfrm>
              <a:off x="4565190" y="1486803"/>
              <a:ext cx="351983" cy="351983"/>
              <a:chOff x="4953318" y="2640965"/>
              <a:chExt cx="227012" cy="227013"/>
            </a:xfrm>
            <a:grpFill/>
          </p:grpSpPr>
          <p:sp>
            <p:nvSpPr>
              <p:cNvPr id="90" name="Freeform 21">
                <a:extLst>
                  <a:ext uri="{FF2B5EF4-FFF2-40B4-BE49-F238E27FC236}">
                    <a16:creationId xmlns:a16="http://schemas.microsoft.com/office/drawing/2014/main" id="{9930EA34-76C2-4E35-A1D6-CBC386483D62}"/>
                  </a:ext>
                </a:extLst>
              </p:cNvPr>
              <p:cNvSpPr/>
              <p:nvPr/>
            </p:nvSpPr>
            <p:spPr>
              <a:xfrm>
                <a:off x="4953318" y="2658428"/>
                <a:ext cx="211137" cy="209550"/>
              </a:xfrm>
              <a:custGeom>
                <a:avLst/>
                <a:gdLst/>
                <a:ahLst/>
                <a:cxnLst>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0"/>
                  </a:cxn>
                </a:cxnLst>
                <a:rect l="0" t="0" r="0" b="0"/>
                <a:pathLst>
                  <a:path w="129" h="128">
                    <a:moveTo>
                      <a:pt x="62" y="0"/>
                    </a:moveTo>
                    <a:cubicBezTo>
                      <a:pt x="48" y="1"/>
                      <a:pt x="35" y="7"/>
                      <a:pt x="24" y="18"/>
                    </a:cubicBezTo>
                    <a:cubicBezTo>
                      <a:pt x="0" y="42"/>
                      <a:pt x="0" y="80"/>
                      <a:pt x="24" y="104"/>
                    </a:cubicBezTo>
                    <a:cubicBezTo>
                      <a:pt x="48" y="128"/>
                      <a:pt x="87" y="128"/>
                      <a:pt x="111" y="104"/>
                    </a:cubicBezTo>
                    <a:cubicBezTo>
                      <a:pt x="122" y="94"/>
                      <a:pt x="127" y="80"/>
                      <a:pt x="129" y="66"/>
                    </a:cubicBezTo>
                    <a:cubicBezTo>
                      <a:pt x="62" y="66"/>
                      <a:pt x="62" y="66"/>
                      <a:pt x="62" y="66"/>
                    </a:cubicBezTo>
                    <a:lnTo>
                      <a:pt x="62" y="0"/>
                    </a:lnTo>
                    <a:close/>
                  </a:path>
                </a:pathLst>
              </a:custGeom>
              <a:grpFill/>
              <a:ln w="9525">
                <a:noFill/>
              </a:ln>
            </p:spPr>
            <p:txBody>
              <a:bodyPr/>
              <a:lstStyle/>
              <a:p>
                <a:endParaRPr lang="zh-CN" altLang="en-US">
                  <a:cs typeface="+mn-ea"/>
                  <a:sym typeface="+mn-lt"/>
                </a:endParaRPr>
              </a:p>
            </p:txBody>
          </p:sp>
          <p:sp>
            <p:nvSpPr>
              <p:cNvPr id="91" name="Freeform 22">
                <a:extLst>
                  <a:ext uri="{FF2B5EF4-FFF2-40B4-BE49-F238E27FC236}">
                    <a16:creationId xmlns:a16="http://schemas.microsoft.com/office/drawing/2014/main" id="{147EB36B-4DD2-4C97-A434-D3AB17E60AE9}"/>
                  </a:ext>
                </a:extLst>
              </p:cNvPr>
              <p:cNvSpPr/>
              <p:nvPr/>
            </p:nvSpPr>
            <p:spPr>
              <a:xfrm>
                <a:off x="5070793" y="2640965"/>
                <a:ext cx="109537" cy="109538"/>
              </a:xfrm>
              <a:custGeom>
                <a:avLst/>
                <a:gdLst/>
                <a:ahLst/>
                <a:cxnLst>
                  <a:cxn ang="0">
                    <a:pos x="2147483647" y="2147483647"/>
                  </a:cxn>
                  <a:cxn ang="0">
                    <a:pos x="0" y="2147483647"/>
                  </a:cxn>
                  <a:cxn ang="0">
                    <a:pos x="0" y="2147483647"/>
                  </a:cxn>
                  <a:cxn ang="0">
                    <a:pos x="2147483647" y="2147483647"/>
                  </a:cxn>
                  <a:cxn ang="0">
                    <a:pos x="2147483647" y="2147483647"/>
                  </a:cxn>
                </a:cxnLst>
                <a:rect l="0" t="0" r="0" b="0"/>
                <a:pathLst>
                  <a:path w="68" h="68">
                    <a:moveTo>
                      <a:pt x="49" y="20"/>
                    </a:moveTo>
                    <a:cubicBezTo>
                      <a:pt x="35" y="6"/>
                      <a:pt x="18" y="0"/>
                      <a:pt x="0" y="2"/>
                    </a:cubicBezTo>
                    <a:cubicBezTo>
                      <a:pt x="0" y="68"/>
                      <a:pt x="0" y="68"/>
                      <a:pt x="0" y="68"/>
                    </a:cubicBezTo>
                    <a:cubicBezTo>
                      <a:pt x="66" y="68"/>
                      <a:pt x="66" y="68"/>
                      <a:pt x="66" y="68"/>
                    </a:cubicBezTo>
                    <a:cubicBezTo>
                      <a:pt x="68" y="51"/>
                      <a:pt x="62" y="33"/>
                      <a:pt x="49" y="20"/>
                    </a:cubicBezTo>
                    <a:close/>
                  </a:path>
                </a:pathLst>
              </a:custGeom>
              <a:grpFill/>
              <a:ln w="9525">
                <a:noFill/>
              </a:ln>
            </p:spPr>
            <p:txBody>
              <a:bodyPr/>
              <a:lstStyle/>
              <a:p>
                <a:endParaRPr lang="zh-CN" altLang="en-US">
                  <a:cs typeface="+mn-ea"/>
                  <a:sym typeface="+mn-lt"/>
                </a:endParaRPr>
              </a:p>
            </p:txBody>
          </p: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7"/>
                                        </p:tgtEl>
                                        <p:attrNameLst>
                                          <p:attrName>ppt_y</p:attrName>
                                        </p:attrNameLst>
                                      </p:cBhvr>
                                      <p:tavLst>
                                        <p:tav tm="0">
                                          <p:val>
                                            <p:strVal val="#ppt_y"/>
                                          </p:val>
                                        </p:tav>
                                        <p:tav tm="100000">
                                          <p:val>
                                            <p:strVal val="#ppt_y"/>
                                          </p:val>
                                        </p:tav>
                                      </p:tavLst>
                                    </p:anim>
                                    <p:anim calcmode="lin" valueType="num">
                                      <p:cBhvr>
                                        <p:cTn id="9"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7"/>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300"/>
                                        <p:tgtEl>
                                          <p:spTgt spid="33"/>
                                        </p:tgtEl>
                                      </p:cBhvr>
                                    </p:animEffect>
                                  </p:childTnLst>
                                </p:cTn>
                              </p:par>
                            </p:childTnLst>
                          </p:cTn>
                        </p:par>
                        <p:par>
                          <p:cTn id="16" fill="hold">
                            <p:stCondLst>
                              <p:cond delay="950"/>
                            </p:stCondLst>
                            <p:childTnLst>
                              <p:par>
                                <p:cTn id="17" presetID="53" presetClass="entr" presetSubtype="528"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anim calcmode="lin" valueType="num">
                                      <p:cBhvr>
                                        <p:cTn id="22" dur="500" fill="hold"/>
                                        <p:tgtEl>
                                          <p:spTgt spid="19"/>
                                        </p:tgtEl>
                                        <p:attrNameLst>
                                          <p:attrName>ppt_x</p:attrName>
                                        </p:attrNameLst>
                                      </p:cBhvr>
                                      <p:tavLst>
                                        <p:tav tm="0">
                                          <p:val>
                                            <p:fltVal val="0.5"/>
                                          </p:val>
                                        </p:tav>
                                        <p:tav tm="100000">
                                          <p:val>
                                            <p:strVal val="#ppt_x"/>
                                          </p:val>
                                        </p:tav>
                                      </p:tavLst>
                                    </p:anim>
                                    <p:anim calcmode="lin" valueType="num">
                                      <p:cBhvr>
                                        <p:cTn id="23" dur="500" fill="hold"/>
                                        <p:tgtEl>
                                          <p:spTgt spid="19"/>
                                        </p:tgtEl>
                                        <p:attrNameLst>
                                          <p:attrName>ppt_y</p:attrName>
                                        </p:attrNameLst>
                                      </p:cBhvr>
                                      <p:tavLst>
                                        <p:tav tm="0">
                                          <p:val>
                                            <p:fltVal val="0.5"/>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1+#ppt_w/2"/>
                                          </p:val>
                                        </p:tav>
                                        <p:tav tm="100000">
                                          <p:val>
                                            <p:strVal val="#ppt_x"/>
                                          </p:val>
                                        </p:tav>
                                      </p:tavLst>
                                    </p:anim>
                                    <p:anim calcmode="lin" valueType="num">
                                      <p:cBhvr additive="base">
                                        <p:cTn id="27" dur="500" fill="hold"/>
                                        <p:tgtEl>
                                          <p:spTgt spid="2"/>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3"/>
                                        </p:tgtEl>
                                        <p:attrNameLst>
                                          <p:attrName>style.visibility</p:attrName>
                                        </p:attrNameLst>
                                      </p:cBhvr>
                                      <p:to>
                                        <p:strVal val="visible"/>
                                      </p:to>
                                    </p:set>
                                    <p:anim calcmode="lin" valueType="num">
                                      <p:cBhvr additive="base">
                                        <p:cTn id="30" dur="500" fill="hold"/>
                                        <p:tgtEl>
                                          <p:spTgt spid="3"/>
                                        </p:tgtEl>
                                        <p:attrNameLst>
                                          <p:attrName>ppt_x</p:attrName>
                                        </p:attrNameLst>
                                      </p:cBhvr>
                                      <p:tavLst>
                                        <p:tav tm="0">
                                          <p:val>
                                            <p:strVal val="1+#ppt_w/2"/>
                                          </p:val>
                                        </p:tav>
                                        <p:tav tm="100000">
                                          <p:val>
                                            <p:strVal val="#ppt_x"/>
                                          </p:val>
                                        </p:tav>
                                      </p:tavLst>
                                    </p:anim>
                                    <p:anim calcmode="lin" valueType="num">
                                      <p:cBhvr additive="base">
                                        <p:cTn id="31" dur="500" fill="hold"/>
                                        <p:tgtEl>
                                          <p:spTgt spid="3"/>
                                        </p:tgtEl>
                                        <p:attrNameLst>
                                          <p:attrName>ppt_y</p:attrName>
                                        </p:attrNameLst>
                                      </p:cBhvr>
                                      <p:tavLst>
                                        <p:tav tm="0">
                                          <p:val>
                                            <p:strVal val="#ppt_y"/>
                                          </p:val>
                                        </p:tav>
                                        <p:tav tm="100000">
                                          <p:val>
                                            <p:strVal val="#ppt_y"/>
                                          </p:val>
                                        </p:tav>
                                      </p:tavLst>
                                    </p:anim>
                                  </p:childTnLst>
                                </p:cTn>
                              </p:par>
                            </p:childTnLst>
                          </p:cTn>
                        </p:par>
                        <p:par>
                          <p:cTn id="32" fill="hold">
                            <p:stCondLst>
                              <p:cond delay="1450"/>
                            </p:stCondLst>
                            <p:childTnLst>
                              <p:par>
                                <p:cTn id="33" presetID="53" presetClass="entr" presetSubtype="528" fill="hold" nodeType="after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p:cTn id="35" dur="500" fill="hold"/>
                                        <p:tgtEl>
                                          <p:spTgt spid="16"/>
                                        </p:tgtEl>
                                        <p:attrNameLst>
                                          <p:attrName>ppt_w</p:attrName>
                                        </p:attrNameLst>
                                      </p:cBhvr>
                                      <p:tavLst>
                                        <p:tav tm="0">
                                          <p:val>
                                            <p:fltVal val="0"/>
                                          </p:val>
                                        </p:tav>
                                        <p:tav tm="100000">
                                          <p:val>
                                            <p:strVal val="#ppt_w"/>
                                          </p:val>
                                        </p:tav>
                                      </p:tavLst>
                                    </p:anim>
                                    <p:anim calcmode="lin" valueType="num">
                                      <p:cBhvr>
                                        <p:cTn id="36" dur="500" fill="hold"/>
                                        <p:tgtEl>
                                          <p:spTgt spid="16"/>
                                        </p:tgtEl>
                                        <p:attrNameLst>
                                          <p:attrName>ppt_h</p:attrName>
                                        </p:attrNameLst>
                                      </p:cBhvr>
                                      <p:tavLst>
                                        <p:tav tm="0">
                                          <p:val>
                                            <p:fltVal val="0"/>
                                          </p:val>
                                        </p:tav>
                                        <p:tav tm="100000">
                                          <p:val>
                                            <p:strVal val="#ppt_h"/>
                                          </p:val>
                                        </p:tav>
                                      </p:tavLst>
                                    </p:anim>
                                    <p:animEffect transition="in" filter="fade">
                                      <p:cBhvr>
                                        <p:cTn id="37" dur="500"/>
                                        <p:tgtEl>
                                          <p:spTgt spid="16"/>
                                        </p:tgtEl>
                                      </p:cBhvr>
                                    </p:animEffect>
                                    <p:anim calcmode="lin" valueType="num">
                                      <p:cBhvr>
                                        <p:cTn id="38" dur="500" fill="hold"/>
                                        <p:tgtEl>
                                          <p:spTgt spid="16"/>
                                        </p:tgtEl>
                                        <p:attrNameLst>
                                          <p:attrName>ppt_x</p:attrName>
                                        </p:attrNameLst>
                                      </p:cBhvr>
                                      <p:tavLst>
                                        <p:tav tm="0">
                                          <p:val>
                                            <p:fltVal val="0.5"/>
                                          </p:val>
                                        </p:tav>
                                        <p:tav tm="100000">
                                          <p:val>
                                            <p:strVal val="#ppt_x"/>
                                          </p:val>
                                        </p:tav>
                                      </p:tavLst>
                                    </p:anim>
                                    <p:anim calcmode="lin" valueType="num">
                                      <p:cBhvr>
                                        <p:cTn id="39" dur="500" fill="hold"/>
                                        <p:tgtEl>
                                          <p:spTgt spid="16"/>
                                        </p:tgtEl>
                                        <p:attrNameLst>
                                          <p:attrName>ppt_y</p:attrName>
                                        </p:attrNameLst>
                                      </p:cBhvr>
                                      <p:tavLst>
                                        <p:tav tm="0">
                                          <p:val>
                                            <p:fltVal val="0.5"/>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50"/>
                                        </p:tgtEl>
                                        <p:attrNameLst>
                                          <p:attrName>style.visibility</p:attrName>
                                        </p:attrNameLst>
                                      </p:cBhvr>
                                      <p:to>
                                        <p:strVal val="visible"/>
                                      </p:to>
                                    </p:set>
                                    <p:anim calcmode="lin" valueType="num">
                                      <p:cBhvr additive="base">
                                        <p:cTn id="42" dur="500" fill="hold"/>
                                        <p:tgtEl>
                                          <p:spTgt spid="50"/>
                                        </p:tgtEl>
                                        <p:attrNameLst>
                                          <p:attrName>ppt_x</p:attrName>
                                        </p:attrNameLst>
                                      </p:cBhvr>
                                      <p:tavLst>
                                        <p:tav tm="0">
                                          <p:val>
                                            <p:strVal val="1+#ppt_w/2"/>
                                          </p:val>
                                        </p:tav>
                                        <p:tav tm="100000">
                                          <p:val>
                                            <p:strVal val="#ppt_x"/>
                                          </p:val>
                                        </p:tav>
                                      </p:tavLst>
                                    </p:anim>
                                    <p:anim calcmode="lin" valueType="num">
                                      <p:cBhvr additive="base">
                                        <p:cTn id="43" dur="500" fill="hold"/>
                                        <p:tgtEl>
                                          <p:spTgt spid="50"/>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0"/>
                                  </p:stCondLst>
                                  <p:childTnLst>
                                    <p:set>
                                      <p:cBhvr>
                                        <p:cTn id="45" dur="1" fill="hold">
                                          <p:stCondLst>
                                            <p:cond delay="0"/>
                                          </p:stCondLst>
                                        </p:cTn>
                                        <p:tgtEl>
                                          <p:spTgt spid="51"/>
                                        </p:tgtEl>
                                        <p:attrNameLst>
                                          <p:attrName>style.visibility</p:attrName>
                                        </p:attrNameLst>
                                      </p:cBhvr>
                                      <p:to>
                                        <p:strVal val="visible"/>
                                      </p:to>
                                    </p:set>
                                    <p:anim calcmode="lin" valueType="num">
                                      <p:cBhvr additive="base">
                                        <p:cTn id="46" dur="500" fill="hold"/>
                                        <p:tgtEl>
                                          <p:spTgt spid="51"/>
                                        </p:tgtEl>
                                        <p:attrNameLst>
                                          <p:attrName>ppt_x</p:attrName>
                                        </p:attrNameLst>
                                      </p:cBhvr>
                                      <p:tavLst>
                                        <p:tav tm="0">
                                          <p:val>
                                            <p:strVal val="1+#ppt_w/2"/>
                                          </p:val>
                                        </p:tav>
                                        <p:tav tm="100000">
                                          <p:val>
                                            <p:strVal val="#ppt_x"/>
                                          </p:val>
                                        </p:tav>
                                      </p:tavLst>
                                    </p:anim>
                                    <p:anim calcmode="lin" valueType="num">
                                      <p:cBhvr additive="base">
                                        <p:cTn id="47" dur="500" fill="hold"/>
                                        <p:tgtEl>
                                          <p:spTgt spid="51"/>
                                        </p:tgtEl>
                                        <p:attrNameLst>
                                          <p:attrName>ppt_y</p:attrName>
                                        </p:attrNameLst>
                                      </p:cBhvr>
                                      <p:tavLst>
                                        <p:tav tm="0">
                                          <p:val>
                                            <p:strVal val="#ppt_y"/>
                                          </p:val>
                                        </p:tav>
                                        <p:tav tm="100000">
                                          <p:val>
                                            <p:strVal val="#ppt_y"/>
                                          </p:val>
                                        </p:tav>
                                      </p:tavLst>
                                    </p:anim>
                                  </p:childTnLst>
                                </p:cTn>
                              </p:par>
                            </p:childTnLst>
                          </p:cTn>
                        </p:par>
                        <p:par>
                          <p:cTn id="48" fill="hold">
                            <p:stCondLst>
                              <p:cond delay="1950"/>
                            </p:stCondLst>
                            <p:childTnLst>
                              <p:par>
                                <p:cTn id="49" presetID="53" presetClass="entr" presetSubtype="528" fill="hold" nodeType="afterEffect">
                                  <p:stCondLst>
                                    <p:cond delay="0"/>
                                  </p:stCondLst>
                                  <p:childTnLst>
                                    <p:set>
                                      <p:cBhvr>
                                        <p:cTn id="50" dur="1" fill="hold">
                                          <p:stCondLst>
                                            <p:cond delay="0"/>
                                          </p:stCondLst>
                                        </p:cTn>
                                        <p:tgtEl>
                                          <p:spTgt spid="76"/>
                                        </p:tgtEl>
                                        <p:attrNameLst>
                                          <p:attrName>style.visibility</p:attrName>
                                        </p:attrNameLst>
                                      </p:cBhvr>
                                      <p:to>
                                        <p:strVal val="visible"/>
                                      </p:to>
                                    </p:set>
                                    <p:anim calcmode="lin" valueType="num">
                                      <p:cBhvr>
                                        <p:cTn id="51" dur="500" fill="hold"/>
                                        <p:tgtEl>
                                          <p:spTgt spid="76"/>
                                        </p:tgtEl>
                                        <p:attrNameLst>
                                          <p:attrName>ppt_w</p:attrName>
                                        </p:attrNameLst>
                                      </p:cBhvr>
                                      <p:tavLst>
                                        <p:tav tm="0">
                                          <p:val>
                                            <p:fltVal val="0"/>
                                          </p:val>
                                        </p:tav>
                                        <p:tav tm="100000">
                                          <p:val>
                                            <p:strVal val="#ppt_w"/>
                                          </p:val>
                                        </p:tav>
                                      </p:tavLst>
                                    </p:anim>
                                    <p:anim calcmode="lin" valueType="num">
                                      <p:cBhvr>
                                        <p:cTn id="52" dur="500" fill="hold"/>
                                        <p:tgtEl>
                                          <p:spTgt spid="76"/>
                                        </p:tgtEl>
                                        <p:attrNameLst>
                                          <p:attrName>ppt_h</p:attrName>
                                        </p:attrNameLst>
                                      </p:cBhvr>
                                      <p:tavLst>
                                        <p:tav tm="0">
                                          <p:val>
                                            <p:fltVal val="0"/>
                                          </p:val>
                                        </p:tav>
                                        <p:tav tm="100000">
                                          <p:val>
                                            <p:strVal val="#ppt_h"/>
                                          </p:val>
                                        </p:tav>
                                      </p:tavLst>
                                    </p:anim>
                                    <p:animEffect transition="in" filter="fade">
                                      <p:cBhvr>
                                        <p:cTn id="53" dur="500"/>
                                        <p:tgtEl>
                                          <p:spTgt spid="76"/>
                                        </p:tgtEl>
                                      </p:cBhvr>
                                    </p:animEffect>
                                    <p:anim calcmode="lin" valueType="num">
                                      <p:cBhvr>
                                        <p:cTn id="54" dur="500" fill="hold"/>
                                        <p:tgtEl>
                                          <p:spTgt spid="76"/>
                                        </p:tgtEl>
                                        <p:attrNameLst>
                                          <p:attrName>ppt_x</p:attrName>
                                        </p:attrNameLst>
                                      </p:cBhvr>
                                      <p:tavLst>
                                        <p:tav tm="0">
                                          <p:val>
                                            <p:fltVal val="0.5"/>
                                          </p:val>
                                        </p:tav>
                                        <p:tav tm="100000">
                                          <p:val>
                                            <p:strVal val="#ppt_x"/>
                                          </p:val>
                                        </p:tav>
                                      </p:tavLst>
                                    </p:anim>
                                    <p:anim calcmode="lin" valueType="num">
                                      <p:cBhvr>
                                        <p:cTn id="55" dur="500" fill="hold"/>
                                        <p:tgtEl>
                                          <p:spTgt spid="76"/>
                                        </p:tgtEl>
                                        <p:attrNameLst>
                                          <p:attrName>ppt_y</p:attrName>
                                        </p:attrNameLst>
                                      </p:cBhvr>
                                      <p:tavLst>
                                        <p:tav tm="0">
                                          <p:val>
                                            <p:fltVal val="0.5"/>
                                          </p:val>
                                        </p:tav>
                                        <p:tav tm="100000">
                                          <p:val>
                                            <p:strVal val="#ppt_y"/>
                                          </p:val>
                                        </p:tav>
                                      </p:tavLst>
                                    </p:anim>
                                  </p:childTnLst>
                                </p:cTn>
                              </p:par>
                              <p:par>
                                <p:cTn id="56" presetID="2" presetClass="entr" presetSubtype="2" fill="hold" grpId="0" nodeType="withEffect">
                                  <p:stCondLst>
                                    <p:cond delay="0"/>
                                  </p:stCondLst>
                                  <p:childTnLst>
                                    <p:set>
                                      <p:cBhvr>
                                        <p:cTn id="57" dur="1" fill="hold">
                                          <p:stCondLst>
                                            <p:cond delay="0"/>
                                          </p:stCondLst>
                                        </p:cTn>
                                        <p:tgtEl>
                                          <p:spTgt spid="74"/>
                                        </p:tgtEl>
                                        <p:attrNameLst>
                                          <p:attrName>style.visibility</p:attrName>
                                        </p:attrNameLst>
                                      </p:cBhvr>
                                      <p:to>
                                        <p:strVal val="visible"/>
                                      </p:to>
                                    </p:set>
                                    <p:anim calcmode="lin" valueType="num">
                                      <p:cBhvr additive="base">
                                        <p:cTn id="58" dur="500" fill="hold"/>
                                        <p:tgtEl>
                                          <p:spTgt spid="74"/>
                                        </p:tgtEl>
                                        <p:attrNameLst>
                                          <p:attrName>ppt_x</p:attrName>
                                        </p:attrNameLst>
                                      </p:cBhvr>
                                      <p:tavLst>
                                        <p:tav tm="0">
                                          <p:val>
                                            <p:strVal val="1+#ppt_w/2"/>
                                          </p:val>
                                        </p:tav>
                                        <p:tav tm="100000">
                                          <p:val>
                                            <p:strVal val="#ppt_x"/>
                                          </p:val>
                                        </p:tav>
                                      </p:tavLst>
                                    </p:anim>
                                    <p:anim calcmode="lin" valueType="num">
                                      <p:cBhvr additive="base">
                                        <p:cTn id="59" dur="500" fill="hold"/>
                                        <p:tgtEl>
                                          <p:spTgt spid="74"/>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75"/>
                                        </p:tgtEl>
                                        <p:attrNameLst>
                                          <p:attrName>style.visibility</p:attrName>
                                        </p:attrNameLst>
                                      </p:cBhvr>
                                      <p:to>
                                        <p:strVal val="visible"/>
                                      </p:to>
                                    </p:set>
                                    <p:anim calcmode="lin" valueType="num">
                                      <p:cBhvr additive="base">
                                        <p:cTn id="62" dur="500" fill="hold"/>
                                        <p:tgtEl>
                                          <p:spTgt spid="75"/>
                                        </p:tgtEl>
                                        <p:attrNameLst>
                                          <p:attrName>ppt_x</p:attrName>
                                        </p:attrNameLst>
                                      </p:cBhvr>
                                      <p:tavLst>
                                        <p:tav tm="0">
                                          <p:val>
                                            <p:strVal val="1+#ppt_w/2"/>
                                          </p:val>
                                        </p:tav>
                                        <p:tav tm="100000">
                                          <p:val>
                                            <p:strVal val="#ppt_x"/>
                                          </p:val>
                                        </p:tav>
                                      </p:tavLst>
                                    </p:anim>
                                    <p:anim calcmode="lin" valueType="num">
                                      <p:cBhvr additive="base">
                                        <p:cTn id="63" dur="500" fill="hold"/>
                                        <p:tgtEl>
                                          <p:spTgt spid="75"/>
                                        </p:tgtEl>
                                        <p:attrNameLst>
                                          <p:attrName>ppt_y</p:attrName>
                                        </p:attrNameLst>
                                      </p:cBhvr>
                                      <p:tavLst>
                                        <p:tav tm="0">
                                          <p:val>
                                            <p:strVal val="#ppt_y"/>
                                          </p:val>
                                        </p:tav>
                                        <p:tav tm="100000">
                                          <p:val>
                                            <p:strVal val="#ppt_y"/>
                                          </p:val>
                                        </p:tav>
                                      </p:tavLst>
                                    </p:anim>
                                  </p:childTnLst>
                                </p:cTn>
                              </p:par>
                            </p:childTnLst>
                          </p:cTn>
                        </p:par>
                        <p:par>
                          <p:cTn id="64" fill="hold">
                            <p:stCondLst>
                              <p:cond delay="2450"/>
                            </p:stCondLst>
                            <p:childTnLst>
                              <p:par>
                                <p:cTn id="65" presetID="53" presetClass="entr" presetSubtype="528" fill="hold" nodeType="afterEffect">
                                  <p:stCondLst>
                                    <p:cond delay="0"/>
                                  </p:stCondLst>
                                  <p:childTnLst>
                                    <p:set>
                                      <p:cBhvr>
                                        <p:cTn id="66" dur="1" fill="hold">
                                          <p:stCondLst>
                                            <p:cond delay="0"/>
                                          </p:stCondLst>
                                        </p:cTn>
                                        <p:tgtEl>
                                          <p:spTgt spid="85"/>
                                        </p:tgtEl>
                                        <p:attrNameLst>
                                          <p:attrName>style.visibility</p:attrName>
                                        </p:attrNameLst>
                                      </p:cBhvr>
                                      <p:to>
                                        <p:strVal val="visible"/>
                                      </p:to>
                                    </p:set>
                                    <p:anim calcmode="lin" valueType="num">
                                      <p:cBhvr>
                                        <p:cTn id="67" dur="500" fill="hold"/>
                                        <p:tgtEl>
                                          <p:spTgt spid="85"/>
                                        </p:tgtEl>
                                        <p:attrNameLst>
                                          <p:attrName>ppt_w</p:attrName>
                                        </p:attrNameLst>
                                      </p:cBhvr>
                                      <p:tavLst>
                                        <p:tav tm="0">
                                          <p:val>
                                            <p:fltVal val="0"/>
                                          </p:val>
                                        </p:tav>
                                        <p:tav tm="100000">
                                          <p:val>
                                            <p:strVal val="#ppt_w"/>
                                          </p:val>
                                        </p:tav>
                                      </p:tavLst>
                                    </p:anim>
                                    <p:anim calcmode="lin" valueType="num">
                                      <p:cBhvr>
                                        <p:cTn id="68" dur="500" fill="hold"/>
                                        <p:tgtEl>
                                          <p:spTgt spid="85"/>
                                        </p:tgtEl>
                                        <p:attrNameLst>
                                          <p:attrName>ppt_h</p:attrName>
                                        </p:attrNameLst>
                                      </p:cBhvr>
                                      <p:tavLst>
                                        <p:tav tm="0">
                                          <p:val>
                                            <p:fltVal val="0"/>
                                          </p:val>
                                        </p:tav>
                                        <p:tav tm="100000">
                                          <p:val>
                                            <p:strVal val="#ppt_h"/>
                                          </p:val>
                                        </p:tav>
                                      </p:tavLst>
                                    </p:anim>
                                    <p:animEffect transition="in" filter="fade">
                                      <p:cBhvr>
                                        <p:cTn id="69" dur="500"/>
                                        <p:tgtEl>
                                          <p:spTgt spid="85"/>
                                        </p:tgtEl>
                                      </p:cBhvr>
                                    </p:animEffect>
                                    <p:anim calcmode="lin" valueType="num">
                                      <p:cBhvr>
                                        <p:cTn id="70" dur="500" fill="hold"/>
                                        <p:tgtEl>
                                          <p:spTgt spid="85"/>
                                        </p:tgtEl>
                                        <p:attrNameLst>
                                          <p:attrName>ppt_x</p:attrName>
                                        </p:attrNameLst>
                                      </p:cBhvr>
                                      <p:tavLst>
                                        <p:tav tm="0">
                                          <p:val>
                                            <p:fltVal val="0.5"/>
                                          </p:val>
                                        </p:tav>
                                        <p:tav tm="100000">
                                          <p:val>
                                            <p:strVal val="#ppt_x"/>
                                          </p:val>
                                        </p:tav>
                                      </p:tavLst>
                                    </p:anim>
                                    <p:anim calcmode="lin" valueType="num">
                                      <p:cBhvr>
                                        <p:cTn id="71" dur="500" fill="hold"/>
                                        <p:tgtEl>
                                          <p:spTgt spid="85"/>
                                        </p:tgtEl>
                                        <p:attrNameLst>
                                          <p:attrName>ppt_y</p:attrName>
                                        </p:attrNameLst>
                                      </p:cBhvr>
                                      <p:tavLst>
                                        <p:tav tm="0">
                                          <p:val>
                                            <p:fltVal val="0.5"/>
                                          </p:val>
                                        </p:tav>
                                        <p:tav tm="100000">
                                          <p:val>
                                            <p:strVal val="#ppt_y"/>
                                          </p:val>
                                        </p:tav>
                                      </p:tavLst>
                                    </p:anim>
                                  </p:childTnLst>
                                </p:cTn>
                              </p:par>
                              <p:par>
                                <p:cTn id="72" presetID="2" presetClass="entr" presetSubtype="2" fill="hold" grpId="0" nodeType="withEffect">
                                  <p:stCondLst>
                                    <p:cond delay="0"/>
                                  </p:stCondLst>
                                  <p:childTnLst>
                                    <p:set>
                                      <p:cBhvr>
                                        <p:cTn id="73" dur="1" fill="hold">
                                          <p:stCondLst>
                                            <p:cond delay="0"/>
                                          </p:stCondLst>
                                        </p:cTn>
                                        <p:tgtEl>
                                          <p:spTgt spid="83"/>
                                        </p:tgtEl>
                                        <p:attrNameLst>
                                          <p:attrName>style.visibility</p:attrName>
                                        </p:attrNameLst>
                                      </p:cBhvr>
                                      <p:to>
                                        <p:strVal val="visible"/>
                                      </p:to>
                                    </p:set>
                                    <p:anim calcmode="lin" valueType="num">
                                      <p:cBhvr additive="base">
                                        <p:cTn id="74" dur="500" fill="hold"/>
                                        <p:tgtEl>
                                          <p:spTgt spid="83"/>
                                        </p:tgtEl>
                                        <p:attrNameLst>
                                          <p:attrName>ppt_x</p:attrName>
                                        </p:attrNameLst>
                                      </p:cBhvr>
                                      <p:tavLst>
                                        <p:tav tm="0">
                                          <p:val>
                                            <p:strVal val="1+#ppt_w/2"/>
                                          </p:val>
                                        </p:tav>
                                        <p:tav tm="100000">
                                          <p:val>
                                            <p:strVal val="#ppt_x"/>
                                          </p:val>
                                        </p:tav>
                                      </p:tavLst>
                                    </p:anim>
                                    <p:anim calcmode="lin" valueType="num">
                                      <p:cBhvr additive="base">
                                        <p:cTn id="75" dur="500" fill="hold"/>
                                        <p:tgtEl>
                                          <p:spTgt spid="83"/>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0"/>
                                  </p:stCondLst>
                                  <p:childTnLst>
                                    <p:set>
                                      <p:cBhvr>
                                        <p:cTn id="77" dur="1" fill="hold">
                                          <p:stCondLst>
                                            <p:cond delay="0"/>
                                          </p:stCondLst>
                                        </p:cTn>
                                        <p:tgtEl>
                                          <p:spTgt spid="84"/>
                                        </p:tgtEl>
                                        <p:attrNameLst>
                                          <p:attrName>style.visibility</p:attrName>
                                        </p:attrNameLst>
                                      </p:cBhvr>
                                      <p:to>
                                        <p:strVal val="visible"/>
                                      </p:to>
                                    </p:set>
                                    <p:anim calcmode="lin" valueType="num">
                                      <p:cBhvr additive="base">
                                        <p:cTn id="78" dur="500" fill="hold"/>
                                        <p:tgtEl>
                                          <p:spTgt spid="84"/>
                                        </p:tgtEl>
                                        <p:attrNameLst>
                                          <p:attrName>ppt_x</p:attrName>
                                        </p:attrNameLst>
                                      </p:cBhvr>
                                      <p:tavLst>
                                        <p:tav tm="0">
                                          <p:val>
                                            <p:strVal val="1+#ppt_w/2"/>
                                          </p:val>
                                        </p:tav>
                                        <p:tav tm="100000">
                                          <p:val>
                                            <p:strVal val="#ppt_x"/>
                                          </p:val>
                                        </p:tav>
                                      </p:tavLst>
                                    </p:anim>
                                    <p:anim calcmode="lin" valueType="num">
                                      <p:cBhvr additive="base">
                                        <p:cTn id="79" dur="500" fill="hold"/>
                                        <p:tgtEl>
                                          <p:spTgt spid="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7" grpId="0"/>
      <p:bldP spid="50" grpId="0"/>
      <p:bldP spid="51" grpId="0"/>
      <p:bldP spid="74" grpId="0"/>
      <p:bldP spid="75" grpId="0"/>
      <p:bldP spid="83" grpId="0"/>
      <p:bldP spid="8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研究内容</a:t>
            </a:r>
          </a:p>
        </p:txBody>
      </p:sp>
      <p:grpSp>
        <p:nvGrpSpPr>
          <p:cNvPr id="48" name="组合 27"/>
          <p:cNvGrpSpPr>
            <a:grpSpLocks/>
          </p:cNvGrpSpPr>
          <p:nvPr/>
        </p:nvGrpSpPr>
        <p:grpSpPr bwMode="auto">
          <a:xfrm>
            <a:off x="843989" y="1008264"/>
            <a:ext cx="1624013" cy="783894"/>
            <a:chOff x="0" y="234675"/>
            <a:chExt cx="2166010" cy="1045342"/>
          </a:xfrm>
          <a:solidFill>
            <a:srgbClr val="1B4367"/>
          </a:solidFill>
        </p:grpSpPr>
        <p:sp>
          <p:nvSpPr>
            <p:cNvPr id="49" name="任意多边形 14"/>
            <p:cNvSpPr>
              <a:spLocks/>
            </p:cNvSpPr>
            <p:nvPr/>
          </p:nvSpPr>
          <p:spPr bwMode="auto">
            <a:xfrm>
              <a:off x="433519" y="234675"/>
              <a:ext cx="1732491" cy="1045342"/>
            </a:xfrm>
            <a:prstGeom prst="roundRect">
              <a:avLst/>
            </a:prstGeom>
            <a:grpFill/>
            <a:ln w="9525">
              <a:solidFill>
                <a:schemeClr val="tx1">
                  <a:lumMod val="75000"/>
                  <a:lumOff val="25000"/>
                </a:schemeClr>
              </a:solidFill>
              <a:miter lim="800000"/>
              <a:headEnd/>
              <a:tailEnd/>
            </a:ln>
          </p:spPr>
          <p:txBody>
            <a:bodyPr lIns="481462" tIns="239269" rIns="478992" bIns="239269" anchor="ctr"/>
            <a:lstStyle/>
            <a:p>
              <a:pPr marL="128588" lvl="1" indent="-128588" defTabSz="633413" eaLnBrk="1" hangingPunct="1">
                <a:lnSpc>
                  <a:spcPct val="90000"/>
                </a:lnSpc>
                <a:spcAft>
                  <a:spcPct val="15000"/>
                </a:spcAft>
                <a:buFont typeface="Arial" charset="0"/>
                <a:buChar char="•"/>
              </a:pPr>
              <a:endParaRPr lang="zh-CN" altLang="en-US" sz="1400">
                <a:solidFill>
                  <a:schemeClr val="bg1"/>
                </a:solidFill>
                <a:latin typeface="微软雅黑" pitchFamily="34" charset="-122"/>
                <a:ea typeface="微软雅黑" pitchFamily="34" charset="-122"/>
              </a:endParaRPr>
            </a:p>
            <a:p>
              <a:pPr marL="128588" lvl="1" indent="-128588" defTabSz="633413" eaLnBrk="1" hangingPunct="1">
                <a:lnSpc>
                  <a:spcPct val="90000"/>
                </a:lnSpc>
                <a:spcAft>
                  <a:spcPct val="15000"/>
                </a:spcAft>
                <a:buFont typeface="Arial" charset="0"/>
                <a:buChar char="•"/>
              </a:pPr>
              <a:endParaRPr lang="zh-CN" altLang="en-US" sz="1400">
                <a:solidFill>
                  <a:schemeClr val="bg1"/>
                </a:solidFill>
                <a:latin typeface="微软雅黑" pitchFamily="34" charset="-122"/>
                <a:ea typeface="微软雅黑" pitchFamily="34" charset="-122"/>
              </a:endParaRPr>
            </a:p>
          </p:txBody>
        </p:sp>
        <p:sp>
          <p:nvSpPr>
            <p:cNvPr id="50" name="任意多边形 15"/>
            <p:cNvSpPr>
              <a:spLocks/>
            </p:cNvSpPr>
            <p:nvPr/>
          </p:nvSpPr>
          <p:spPr bwMode="auto">
            <a:xfrm>
              <a:off x="0" y="323896"/>
              <a:ext cx="867039" cy="866899"/>
            </a:xfrm>
            <a:custGeom>
              <a:avLst/>
              <a:gdLst>
                <a:gd name="T0" fmla="*/ 0 w 866404"/>
                <a:gd name="T1" fmla="*/ 433945 h 866404"/>
                <a:gd name="T2" fmla="*/ 434156 w 866404"/>
                <a:gd name="T3" fmla="*/ 0 h 866404"/>
                <a:gd name="T4" fmla="*/ 868310 w 866404"/>
                <a:gd name="T5" fmla="*/ 433945 h 866404"/>
                <a:gd name="T6" fmla="*/ 434156 w 866404"/>
                <a:gd name="T7" fmla="*/ 867890 h 866404"/>
                <a:gd name="T8" fmla="*/ 0 w 866404"/>
                <a:gd name="T9" fmla="*/ 433945 h 866404"/>
                <a:gd name="T10" fmla="*/ 0 60000 65536"/>
                <a:gd name="T11" fmla="*/ 0 60000 65536"/>
                <a:gd name="T12" fmla="*/ 0 60000 65536"/>
                <a:gd name="T13" fmla="*/ 0 60000 65536"/>
                <a:gd name="T14" fmla="*/ 0 60000 65536"/>
                <a:gd name="T15" fmla="*/ 0 w 866404"/>
                <a:gd name="T16" fmla="*/ 0 h 866404"/>
                <a:gd name="T17" fmla="*/ 866404 w 866404"/>
                <a:gd name="T18" fmla="*/ 866404 h 866404"/>
              </a:gdLst>
              <a:ahLst/>
              <a:cxnLst>
                <a:cxn ang="T10">
                  <a:pos x="T0" y="T1"/>
                </a:cxn>
                <a:cxn ang="T11">
                  <a:pos x="T2" y="T3"/>
                </a:cxn>
                <a:cxn ang="T12">
                  <a:pos x="T4" y="T5"/>
                </a:cxn>
                <a:cxn ang="T13">
                  <a:pos x="T6" y="T7"/>
                </a:cxn>
                <a:cxn ang="T14">
                  <a:pos x="T8" y="T9"/>
                </a:cxn>
              </a:cxnLst>
              <a:rect l="T15" t="T16" r="T17" b="T18"/>
              <a:pathLst>
                <a:path w="866404" h="866404">
                  <a:moveTo>
                    <a:pt x="0" y="433202"/>
                  </a:moveTo>
                  <a:cubicBezTo>
                    <a:pt x="0" y="193951"/>
                    <a:pt x="193951" y="0"/>
                    <a:pt x="433202" y="0"/>
                  </a:cubicBezTo>
                  <a:cubicBezTo>
                    <a:pt x="672453" y="0"/>
                    <a:pt x="866404" y="193951"/>
                    <a:pt x="866404" y="433202"/>
                  </a:cubicBezTo>
                  <a:cubicBezTo>
                    <a:pt x="866404" y="672453"/>
                    <a:pt x="672453" y="866404"/>
                    <a:pt x="433202" y="866404"/>
                  </a:cubicBezTo>
                  <a:cubicBezTo>
                    <a:pt x="193951" y="866404"/>
                    <a:pt x="0" y="672453"/>
                    <a:pt x="0" y="433202"/>
                  </a:cubicBezTo>
                  <a:close/>
                </a:path>
              </a:pathLst>
            </a:custGeom>
            <a:grpFill/>
            <a:ln w="19050">
              <a:solidFill>
                <a:schemeClr val="bg1"/>
              </a:solidFill>
              <a:miter lim="800000"/>
              <a:headEnd/>
              <a:tailEnd/>
            </a:ln>
          </p:spPr>
          <p:txBody>
            <a:bodyPr lIns="139582" tIns="139582" rIns="139582" bIns="139582" anchor="ctr"/>
            <a:lstStyle/>
            <a:p>
              <a:pPr algn="ctr" defTabSz="666750" eaLnBrk="1" hangingPunct="1">
                <a:lnSpc>
                  <a:spcPct val="90000"/>
                </a:lnSpc>
                <a:spcAft>
                  <a:spcPct val="35000"/>
                </a:spcAft>
              </a:pPr>
              <a:r>
                <a:rPr lang="en-US" altLang="zh-CN" sz="2100">
                  <a:solidFill>
                    <a:schemeClr val="bg1"/>
                  </a:solidFill>
                  <a:latin typeface="微软雅黑" pitchFamily="34" charset="-122"/>
                  <a:ea typeface="微软雅黑" pitchFamily="34" charset="-122"/>
                </a:rPr>
                <a:t>01</a:t>
              </a:r>
              <a:endParaRPr lang="zh-CN" altLang="en-US" sz="2100">
                <a:solidFill>
                  <a:schemeClr val="bg1"/>
                </a:solidFill>
                <a:latin typeface="微软雅黑" pitchFamily="34" charset="-122"/>
                <a:ea typeface="微软雅黑" pitchFamily="34" charset="-122"/>
              </a:endParaRPr>
            </a:p>
          </p:txBody>
        </p:sp>
        <p:sp>
          <p:nvSpPr>
            <p:cNvPr id="51" name="Freeform 13"/>
            <p:cNvSpPr>
              <a:spLocks/>
            </p:cNvSpPr>
            <p:nvPr/>
          </p:nvSpPr>
          <p:spPr bwMode="auto">
            <a:xfrm>
              <a:off x="1202687" y="583515"/>
              <a:ext cx="371639" cy="347662"/>
            </a:xfrm>
            <a:custGeom>
              <a:avLst/>
              <a:gdLst>
                <a:gd name="T0" fmla="*/ 489318417 w 257"/>
                <a:gd name="T1" fmla="*/ 49945036 h 241"/>
                <a:gd name="T2" fmla="*/ 384763496 w 257"/>
                <a:gd name="T3" fmla="*/ 0 h 241"/>
                <a:gd name="T4" fmla="*/ 288572622 w 257"/>
                <a:gd name="T5" fmla="*/ 49945036 h 241"/>
                <a:gd name="T6" fmla="*/ 41821679 w 257"/>
                <a:gd name="T7" fmla="*/ 299670218 h 241"/>
                <a:gd name="T8" fmla="*/ 41821679 w 257"/>
                <a:gd name="T9" fmla="*/ 457829019 h 241"/>
                <a:gd name="T10" fmla="*/ 198654783 w 257"/>
                <a:gd name="T11" fmla="*/ 457829019 h 241"/>
                <a:gd name="T12" fmla="*/ 432859656 w 257"/>
                <a:gd name="T13" fmla="*/ 220590818 h 241"/>
                <a:gd name="T14" fmla="*/ 443314715 w 257"/>
                <a:gd name="T15" fmla="*/ 93646583 h 241"/>
                <a:gd name="T16" fmla="*/ 319939243 w 257"/>
                <a:gd name="T17" fmla="*/ 106133563 h 241"/>
                <a:gd name="T18" fmla="*/ 92008851 w 257"/>
                <a:gd name="T19" fmla="*/ 339209918 h 241"/>
                <a:gd name="T20" fmla="*/ 92008851 w 257"/>
                <a:gd name="T21" fmla="*/ 362100792 h 241"/>
                <a:gd name="T22" fmla="*/ 115011425 w 257"/>
                <a:gd name="T23" fmla="*/ 362100792 h 241"/>
                <a:gd name="T24" fmla="*/ 342941817 w 257"/>
                <a:gd name="T25" fmla="*/ 129024437 h 241"/>
                <a:gd name="T26" fmla="*/ 422403152 w 257"/>
                <a:gd name="T27" fmla="*/ 116538899 h 241"/>
                <a:gd name="T28" fmla="*/ 409857082 w 257"/>
                <a:gd name="T29" fmla="*/ 197698501 h 241"/>
                <a:gd name="T30" fmla="*/ 175653655 w 257"/>
                <a:gd name="T31" fmla="*/ 434936703 h 241"/>
                <a:gd name="T32" fmla="*/ 64824253 w 257"/>
                <a:gd name="T33" fmla="*/ 434936703 h 241"/>
                <a:gd name="T34" fmla="*/ 64824253 w 257"/>
                <a:gd name="T35" fmla="*/ 322561092 h 241"/>
                <a:gd name="T36" fmla="*/ 311575196 w 257"/>
                <a:gd name="T37" fmla="*/ 70755709 h 241"/>
                <a:gd name="T38" fmla="*/ 384763496 w 257"/>
                <a:gd name="T39" fmla="*/ 33296210 h 241"/>
                <a:gd name="T40" fmla="*/ 466317289 w 257"/>
                <a:gd name="T41" fmla="*/ 72835910 h 241"/>
                <a:gd name="T42" fmla="*/ 503956945 w 257"/>
                <a:gd name="T43" fmla="*/ 153996955 h 241"/>
                <a:gd name="T44" fmla="*/ 466317289 w 257"/>
                <a:gd name="T45" fmla="*/ 230994711 h 241"/>
                <a:gd name="T46" fmla="*/ 328303290 w 257"/>
                <a:gd name="T47" fmla="*/ 370424484 h 241"/>
                <a:gd name="T48" fmla="*/ 328303290 w 257"/>
                <a:gd name="T49" fmla="*/ 393316801 h 241"/>
                <a:gd name="T50" fmla="*/ 351305864 w 257"/>
                <a:gd name="T51" fmla="*/ 393316801 h 241"/>
                <a:gd name="T52" fmla="*/ 487227405 w 257"/>
                <a:gd name="T53" fmla="*/ 253887028 h 241"/>
                <a:gd name="T54" fmla="*/ 535323565 w 257"/>
                <a:gd name="T55" fmla="*/ 156078599 h 241"/>
                <a:gd name="T56" fmla="*/ 489318417 w 257"/>
                <a:gd name="T57" fmla="*/ 49945036 h 24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57" h="241">
                  <a:moveTo>
                    <a:pt x="234" y="24"/>
                  </a:moveTo>
                  <a:cubicBezTo>
                    <a:pt x="218" y="8"/>
                    <a:pt x="201" y="0"/>
                    <a:pt x="184" y="0"/>
                  </a:cubicBezTo>
                  <a:cubicBezTo>
                    <a:pt x="156" y="2"/>
                    <a:pt x="138" y="23"/>
                    <a:pt x="138" y="24"/>
                  </a:cubicBezTo>
                  <a:cubicBezTo>
                    <a:pt x="20" y="144"/>
                    <a:pt x="20" y="144"/>
                    <a:pt x="20" y="144"/>
                  </a:cubicBezTo>
                  <a:cubicBezTo>
                    <a:pt x="0" y="165"/>
                    <a:pt x="0" y="199"/>
                    <a:pt x="20" y="220"/>
                  </a:cubicBezTo>
                  <a:cubicBezTo>
                    <a:pt x="41" y="241"/>
                    <a:pt x="74" y="241"/>
                    <a:pt x="95" y="220"/>
                  </a:cubicBezTo>
                  <a:cubicBezTo>
                    <a:pt x="207" y="106"/>
                    <a:pt x="207" y="106"/>
                    <a:pt x="207" y="106"/>
                  </a:cubicBezTo>
                  <a:cubicBezTo>
                    <a:pt x="224" y="88"/>
                    <a:pt x="227" y="61"/>
                    <a:pt x="212" y="45"/>
                  </a:cubicBezTo>
                  <a:cubicBezTo>
                    <a:pt x="198" y="30"/>
                    <a:pt x="171" y="33"/>
                    <a:pt x="153" y="51"/>
                  </a:cubicBezTo>
                  <a:cubicBezTo>
                    <a:pt x="44" y="163"/>
                    <a:pt x="44" y="163"/>
                    <a:pt x="44" y="163"/>
                  </a:cubicBezTo>
                  <a:cubicBezTo>
                    <a:pt x="41" y="166"/>
                    <a:pt x="41" y="171"/>
                    <a:pt x="44" y="174"/>
                  </a:cubicBezTo>
                  <a:cubicBezTo>
                    <a:pt x="47" y="177"/>
                    <a:pt x="52" y="177"/>
                    <a:pt x="55" y="174"/>
                  </a:cubicBezTo>
                  <a:cubicBezTo>
                    <a:pt x="164" y="62"/>
                    <a:pt x="164" y="62"/>
                    <a:pt x="164" y="62"/>
                  </a:cubicBezTo>
                  <a:cubicBezTo>
                    <a:pt x="176" y="50"/>
                    <a:pt x="193" y="47"/>
                    <a:pt x="202" y="56"/>
                  </a:cubicBezTo>
                  <a:cubicBezTo>
                    <a:pt x="210" y="65"/>
                    <a:pt x="208" y="83"/>
                    <a:pt x="196" y="95"/>
                  </a:cubicBezTo>
                  <a:cubicBezTo>
                    <a:pt x="84" y="209"/>
                    <a:pt x="84" y="209"/>
                    <a:pt x="84" y="209"/>
                  </a:cubicBezTo>
                  <a:cubicBezTo>
                    <a:pt x="70" y="225"/>
                    <a:pt x="46" y="225"/>
                    <a:pt x="31" y="209"/>
                  </a:cubicBezTo>
                  <a:cubicBezTo>
                    <a:pt x="16" y="194"/>
                    <a:pt x="16" y="170"/>
                    <a:pt x="31" y="155"/>
                  </a:cubicBezTo>
                  <a:cubicBezTo>
                    <a:pt x="149" y="34"/>
                    <a:pt x="149" y="34"/>
                    <a:pt x="149" y="34"/>
                  </a:cubicBezTo>
                  <a:cubicBezTo>
                    <a:pt x="149" y="34"/>
                    <a:pt x="163" y="17"/>
                    <a:pt x="184" y="16"/>
                  </a:cubicBezTo>
                  <a:cubicBezTo>
                    <a:pt x="197" y="15"/>
                    <a:pt x="210" y="22"/>
                    <a:pt x="223" y="35"/>
                  </a:cubicBezTo>
                  <a:cubicBezTo>
                    <a:pt x="236" y="47"/>
                    <a:pt x="242" y="61"/>
                    <a:pt x="241" y="74"/>
                  </a:cubicBezTo>
                  <a:cubicBezTo>
                    <a:pt x="240" y="95"/>
                    <a:pt x="224" y="111"/>
                    <a:pt x="223" y="111"/>
                  </a:cubicBezTo>
                  <a:cubicBezTo>
                    <a:pt x="157" y="178"/>
                    <a:pt x="157" y="178"/>
                    <a:pt x="157" y="178"/>
                  </a:cubicBezTo>
                  <a:cubicBezTo>
                    <a:pt x="155" y="181"/>
                    <a:pt x="155" y="186"/>
                    <a:pt x="157" y="189"/>
                  </a:cubicBezTo>
                  <a:cubicBezTo>
                    <a:pt x="160" y="192"/>
                    <a:pt x="165" y="192"/>
                    <a:pt x="168" y="189"/>
                  </a:cubicBezTo>
                  <a:cubicBezTo>
                    <a:pt x="233" y="122"/>
                    <a:pt x="233" y="122"/>
                    <a:pt x="233" y="122"/>
                  </a:cubicBezTo>
                  <a:cubicBezTo>
                    <a:pt x="234" y="122"/>
                    <a:pt x="255" y="103"/>
                    <a:pt x="256" y="75"/>
                  </a:cubicBezTo>
                  <a:cubicBezTo>
                    <a:pt x="257" y="57"/>
                    <a:pt x="249" y="40"/>
                    <a:pt x="234" y="2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bg1"/>
                </a:solidFill>
                <a:latin typeface="微软雅黑" pitchFamily="34" charset="-122"/>
                <a:ea typeface="微软雅黑" pitchFamily="34" charset="-122"/>
              </a:endParaRPr>
            </a:p>
          </p:txBody>
        </p:sp>
      </p:grpSp>
      <p:grpSp>
        <p:nvGrpSpPr>
          <p:cNvPr id="52" name="组合 29"/>
          <p:cNvGrpSpPr>
            <a:grpSpLocks/>
          </p:cNvGrpSpPr>
          <p:nvPr/>
        </p:nvGrpSpPr>
        <p:grpSpPr bwMode="auto">
          <a:xfrm>
            <a:off x="6266511" y="1009534"/>
            <a:ext cx="1625204" cy="783894"/>
            <a:chOff x="0" y="234675"/>
            <a:chExt cx="2166010" cy="1045342"/>
          </a:xfrm>
          <a:solidFill>
            <a:srgbClr val="1B4367"/>
          </a:solidFill>
        </p:grpSpPr>
        <p:sp>
          <p:nvSpPr>
            <p:cNvPr id="53" name="任意多边形 18"/>
            <p:cNvSpPr>
              <a:spLocks/>
            </p:cNvSpPr>
            <p:nvPr/>
          </p:nvSpPr>
          <p:spPr bwMode="auto">
            <a:xfrm>
              <a:off x="433202" y="234675"/>
              <a:ext cx="1732808" cy="1045342"/>
            </a:xfrm>
            <a:prstGeom prst="roundRect">
              <a:avLst/>
            </a:prstGeom>
            <a:grpFill/>
            <a:ln w="9525">
              <a:solidFill>
                <a:schemeClr val="tx1">
                  <a:lumMod val="75000"/>
                  <a:lumOff val="25000"/>
                </a:schemeClr>
              </a:solidFill>
              <a:miter lim="800000"/>
              <a:headEnd/>
              <a:tailEnd/>
            </a:ln>
          </p:spPr>
          <p:txBody>
            <a:bodyPr lIns="481462" tIns="239269" rIns="478992" bIns="239269" anchor="ctr"/>
            <a:lstStyle/>
            <a:p>
              <a:pPr marL="128588" lvl="1" indent="-128588" defTabSz="633413" eaLnBrk="1" hangingPunct="1">
                <a:lnSpc>
                  <a:spcPct val="90000"/>
                </a:lnSpc>
                <a:spcAft>
                  <a:spcPct val="15000"/>
                </a:spcAft>
                <a:buFont typeface="Arial" charset="0"/>
                <a:buChar char="•"/>
              </a:pPr>
              <a:endParaRPr lang="zh-CN" altLang="en-US" sz="1400">
                <a:solidFill>
                  <a:schemeClr val="bg1"/>
                </a:solidFill>
                <a:latin typeface="微软雅黑" pitchFamily="34" charset="-122"/>
                <a:ea typeface="微软雅黑" pitchFamily="34" charset="-122"/>
              </a:endParaRPr>
            </a:p>
            <a:p>
              <a:pPr marL="128588" lvl="1" indent="-128588" defTabSz="633413" eaLnBrk="1" hangingPunct="1">
                <a:lnSpc>
                  <a:spcPct val="90000"/>
                </a:lnSpc>
                <a:spcAft>
                  <a:spcPct val="15000"/>
                </a:spcAft>
                <a:buFont typeface="Arial" charset="0"/>
                <a:buChar char="•"/>
              </a:pPr>
              <a:endParaRPr lang="zh-CN" altLang="en-US" sz="1400">
                <a:solidFill>
                  <a:schemeClr val="bg1"/>
                </a:solidFill>
                <a:latin typeface="微软雅黑" pitchFamily="34" charset="-122"/>
                <a:ea typeface="微软雅黑" pitchFamily="34" charset="-122"/>
              </a:endParaRPr>
            </a:p>
          </p:txBody>
        </p:sp>
        <p:sp>
          <p:nvSpPr>
            <p:cNvPr id="54" name="任意多边形 19"/>
            <p:cNvSpPr>
              <a:spLocks/>
            </p:cNvSpPr>
            <p:nvPr/>
          </p:nvSpPr>
          <p:spPr bwMode="auto">
            <a:xfrm>
              <a:off x="0" y="323896"/>
              <a:ext cx="866404" cy="866899"/>
            </a:xfrm>
            <a:custGeom>
              <a:avLst/>
              <a:gdLst>
                <a:gd name="T0" fmla="*/ 0 w 866404"/>
                <a:gd name="T1" fmla="*/ 433945 h 866404"/>
                <a:gd name="T2" fmla="*/ 433202 w 866404"/>
                <a:gd name="T3" fmla="*/ 0 h 866404"/>
                <a:gd name="T4" fmla="*/ 866404 w 866404"/>
                <a:gd name="T5" fmla="*/ 433945 h 866404"/>
                <a:gd name="T6" fmla="*/ 433202 w 866404"/>
                <a:gd name="T7" fmla="*/ 867890 h 866404"/>
                <a:gd name="T8" fmla="*/ 0 w 866404"/>
                <a:gd name="T9" fmla="*/ 433945 h 866404"/>
                <a:gd name="T10" fmla="*/ 0 60000 65536"/>
                <a:gd name="T11" fmla="*/ 0 60000 65536"/>
                <a:gd name="T12" fmla="*/ 0 60000 65536"/>
                <a:gd name="T13" fmla="*/ 0 60000 65536"/>
                <a:gd name="T14" fmla="*/ 0 60000 65536"/>
                <a:gd name="T15" fmla="*/ 0 w 866404"/>
                <a:gd name="T16" fmla="*/ 0 h 866404"/>
                <a:gd name="T17" fmla="*/ 866404 w 866404"/>
                <a:gd name="T18" fmla="*/ 866404 h 866404"/>
              </a:gdLst>
              <a:ahLst/>
              <a:cxnLst>
                <a:cxn ang="T10">
                  <a:pos x="T0" y="T1"/>
                </a:cxn>
                <a:cxn ang="T11">
                  <a:pos x="T2" y="T3"/>
                </a:cxn>
                <a:cxn ang="T12">
                  <a:pos x="T4" y="T5"/>
                </a:cxn>
                <a:cxn ang="T13">
                  <a:pos x="T6" y="T7"/>
                </a:cxn>
                <a:cxn ang="T14">
                  <a:pos x="T8" y="T9"/>
                </a:cxn>
              </a:cxnLst>
              <a:rect l="T15" t="T16" r="T17" b="T18"/>
              <a:pathLst>
                <a:path w="866404" h="866404">
                  <a:moveTo>
                    <a:pt x="0" y="433202"/>
                  </a:moveTo>
                  <a:cubicBezTo>
                    <a:pt x="0" y="193951"/>
                    <a:pt x="193951" y="0"/>
                    <a:pt x="433202" y="0"/>
                  </a:cubicBezTo>
                  <a:cubicBezTo>
                    <a:pt x="672453" y="0"/>
                    <a:pt x="866404" y="193951"/>
                    <a:pt x="866404" y="433202"/>
                  </a:cubicBezTo>
                  <a:cubicBezTo>
                    <a:pt x="866404" y="672453"/>
                    <a:pt x="672453" y="866404"/>
                    <a:pt x="433202" y="866404"/>
                  </a:cubicBezTo>
                  <a:cubicBezTo>
                    <a:pt x="193951" y="866404"/>
                    <a:pt x="0" y="672453"/>
                    <a:pt x="0" y="433202"/>
                  </a:cubicBezTo>
                  <a:close/>
                </a:path>
              </a:pathLst>
            </a:custGeom>
            <a:grpFill/>
            <a:ln w="19050">
              <a:solidFill>
                <a:schemeClr val="bg1"/>
              </a:solidFill>
              <a:miter lim="800000"/>
              <a:headEnd/>
              <a:tailEnd/>
            </a:ln>
          </p:spPr>
          <p:txBody>
            <a:bodyPr lIns="139582" tIns="139582" rIns="139582" bIns="139582" anchor="ctr"/>
            <a:lstStyle/>
            <a:p>
              <a:pPr algn="ctr" defTabSz="666750" eaLnBrk="1" hangingPunct="1">
                <a:lnSpc>
                  <a:spcPct val="90000"/>
                </a:lnSpc>
                <a:spcAft>
                  <a:spcPct val="35000"/>
                </a:spcAft>
              </a:pPr>
              <a:r>
                <a:rPr lang="en-US" altLang="zh-CN" sz="2100">
                  <a:solidFill>
                    <a:schemeClr val="bg1"/>
                  </a:solidFill>
                  <a:latin typeface="微软雅黑" pitchFamily="34" charset="-122"/>
                  <a:ea typeface="微软雅黑" pitchFamily="34" charset="-122"/>
                </a:rPr>
                <a:t>03</a:t>
              </a:r>
              <a:endParaRPr lang="zh-CN" altLang="en-US" sz="2100">
                <a:solidFill>
                  <a:schemeClr val="bg1"/>
                </a:solidFill>
                <a:latin typeface="微软雅黑" pitchFamily="34" charset="-122"/>
                <a:ea typeface="微软雅黑" pitchFamily="34" charset="-122"/>
              </a:endParaRPr>
            </a:p>
          </p:txBody>
        </p:sp>
        <p:sp>
          <p:nvSpPr>
            <p:cNvPr id="55" name="Freeform 14"/>
            <p:cNvSpPr>
              <a:spLocks noEditPoints="1"/>
            </p:cNvSpPr>
            <p:nvPr/>
          </p:nvSpPr>
          <p:spPr bwMode="auto">
            <a:xfrm>
              <a:off x="1212278" y="581118"/>
              <a:ext cx="352457" cy="352457"/>
            </a:xfrm>
            <a:custGeom>
              <a:avLst/>
              <a:gdLst>
                <a:gd name="T0" fmla="*/ 327681910 w 147"/>
                <a:gd name="T1" fmla="*/ 845074400 h 147"/>
                <a:gd name="T2" fmla="*/ 0 w 147"/>
                <a:gd name="T3" fmla="*/ 0 h 147"/>
                <a:gd name="T4" fmla="*/ 845074400 w 147"/>
                <a:gd name="T5" fmla="*/ 356425138 h 147"/>
                <a:gd name="T6" fmla="*/ 454156429 w 147"/>
                <a:gd name="T7" fmla="*/ 454156429 h 147"/>
                <a:gd name="T8" fmla="*/ 327681910 w 147"/>
                <a:gd name="T9" fmla="*/ 845074400 h 147"/>
                <a:gd name="T10" fmla="*/ 97728893 w 147"/>
                <a:gd name="T11" fmla="*/ 97728893 h 147"/>
                <a:gd name="T12" fmla="*/ 321932306 w 147"/>
                <a:gd name="T13" fmla="*/ 684107049 h 147"/>
                <a:gd name="T14" fmla="*/ 413913992 w 147"/>
                <a:gd name="T15" fmla="*/ 413913992 h 147"/>
                <a:gd name="T16" fmla="*/ 678359842 w 147"/>
                <a:gd name="T17" fmla="*/ 344928327 h 147"/>
                <a:gd name="T18" fmla="*/ 97728893 w 147"/>
                <a:gd name="T19" fmla="*/ 97728893 h 1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47" h="147">
                  <a:moveTo>
                    <a:pt x="57" y="147"/>
                  </a:moveTo>
                  <a:lnTo>
                    <a:pt x="0" y="0"/>
                  </a:lnTo>
                  <a:lnTo>
                    <a:pt x="147" y="62"/>
                  </a:lnTo>
                  <a:lnTo>
                    <a:pt x="79" y="79"/>
                  </a:lnTo>
                  <a:lnTo>
                    <a:pt x="57" y="147"/>
                  </a:lnTo>
                  <a:close/>
                  <a:moveTo>
                    <a:pt x="17" y="17"/>
                  </a:moveTo>
                  <a:lnTo>
                    <a:pt x="56" y="119"/>
                  </a:lnTo>
                  <a:lnTo>
                    <a:pt x="72" y="72"/>
                  </a:lnTo>
                  <a:lnTo>
                    <a:pt x="118" y="60"/>
                  </a:lnTo>
                  <a:lnTo>
                    <a:pt x="17" y="1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bg1"/>
                </a:solidFill>
                <a:latin typeface="微软雅黑" pitchFamily="34" charset="-122"/>
                <a:ea typeface="微软雅黑" pitchFamily="34" charset="-122"/>
              </a:endParaRPr>
            </a:p>
          </p:txBody>
        </p:sp>
      </p:grpSp>
      <p:grpSp>
        <p:nvGrpSpPr>
          <p:cNvPr id="56" name="组合 28"/>
          <p:cNvGrpSpPr>
            <a:grpSpLocks/>
          </p:cNvGrpSpPr>
          <p:nvPr/>
        </p:nvGrpSpPr>
        <p:grpSpPr bwMode="auto">
          <a:xfrm>
            <a:off x="3554655" y="1008263"/>
            <a:ext cx="1625203" cy="783894"/>
            <a:chOff x="0" y="234675"/>
            <a:chExt cx="2166010" cy="1045342"/>
          </a:xfrm>
          <a:solidFill>
            <a:srgbClr val="1B4367"/>
          </a:solidFill>
        </p:grpSpPr>
        <p:sp>
          <p:nvSpPr>
            <p:cNvPr id="57" name="任意多边形 16"/>
            <p:cNvSpPr>
              <a:spLocks/>
            </p:cNvSpPr>
            <p:nvPr/>
          </p:nvSpPr>
          <p:spPr bwMode="auto">
            <a:xfrm>
              <a:off x="433203" y="234675"/>
              <a:ext cx="1732807" cy="1045342"/>
            </a:xfrm>
            <a:prstGeom prst="roundRect">
              <a:avLst/>
            </a:prstGeom>
            <a:grpFill/>
            <a:ln w="9525">
              <a:solidFill>
                <a:schemeClr val="tx1">
                  <a:lumMod val="75000"/>
                  <a:lumOff val="25000"/>
                </a:schemeClr>
              </a:solidFill>
              <a:miter lim="800000"/>
              <a:headEnd/>
              <a:tailEnd/>
            </a:ln>
          </p:spPr>
          <p:txBody>
            <a:bodyPr lIns="481462" tIns="239269" rIns="478992" bIns="239269" anchor="ctr"/>
            <a:lstStyle/>
            <a:p>
              <a:pPr marL="128588" lvl="1" indent="-128588" defTabSz="633413" eaLnBrk="1" hangingPunct="1">
                <a:lnSpc>
                  <a:spcPct val="90000"/>
                </a:lnSpc>
                <a:spcAft>
                  <a:spcPct val="15000"/>
                </a:spcAft>
                <a:buFont typeface="Arial" charset="0"/>
                <a:buChar char="•"/>
              </a:pPr>
              <a:endParaRPr lang="zh-CN" altLang="en-US" sz="1400" dirty="0">
                <a:solidFill>
                  <a:schemeClr val="bg1"/>
                </a:solidFill>
                <a:latin typeface="微软雅黑" pitchFamily="34" charset="-122"/>
                <a:ea typeface="微软雅黑" pitchFamily="34" charset="-122"/>
              </a:endParaRPr>
            </a:p>
            <a:p>
              <a:pPr marL="128588" lvl="1" indent="-128588" defTabSz="633413" eaLnBrk="1" hangingPunct="1">
                <a:lnSpc>
                  <a:spcPct val="90000"/>
                </a:lnSpc>
                <a:spcAft>
                  <a:spcPct val="15000"/>
                </a:spcAft>
                <a:buFont typeface="Arial" charset="0"/>
                <a:buChar char="•"/>
              </a:pPr>
              <a:endParaRPr lang="zh-CN" altLang="en-US" sz="1400" dirty="0">
                <a:solidFill>
                  <a:schemeClr val="bg1"/>
                </a:solidFill>
                <a:latin typeface="微软雅黑" pitchFamily="34" charset="-122"/>
                <a:ea typeface="微软雅黑" pitchFamily="34" charset="-122"/>
              </a:endParaRPr>
            </a:p>
          </p:txBody>
        </p:sp>
        <p:sp>
          <p:nvSpPr>
            <p:cNvPr id="58" name="任意多边形 17"/>
            <p:cNvSpPr>
              <a:spLocks/>
            </p:cNvSpPr>
            <p:nvPr/>
          </p:nvSpPr>
          <p:spPr bwMode="auto">
            <a:xfrm>
              <a:off x="0" y="323896"/>
              <a:ext cx="866404" cy="866899"/>
            </a:xfrm>
            <a:custGeom>
              <a:avLst/>
              <a:gdLst>
                <a:gd name="T0" fmla="*/ 0 w 866404"/>
                <a:gd name="T1" fmla="*/ 433945 h 866404"/>
                <a:gd name="T2" fmla="*/ 433202 w 866404"/>
                <a:gd name="T3" fmla="*/ 0 h 866404"/>
                <a:gd name="T4" fmla="*/ 866404 w 866404"/>
                <a:gd name="T5" fmla="*/ 433945 h 866404"/>
                <a:gd name="T6" fmla="*/ 433202 w 866404"/>
                <a:gd name="T7" fmla="*/ 867890 h 866404"/>
                <a:gd name="T8" fmla="*/ 0 w 866404"/>
                <a:gd name="T9" fmla="*/ 433945 h 866404"/>
                <a:gd name="T10" fmla="*/ 0 60000 65536"/>
                <a:gd name="T11" fmla="*/ 0 60000 65536"/>
                <a:gd name="T12" fmla="*/ 0 60000 65536"/>
                <a:gd name="T13" fmla="*/ 0 60000 65536"/>
                <a:gd name="T14" fmla="*/ 0 60000 65536"/>
                <a:gd name="T15" fmla="*/ 0 w 866404"/>
                <a:gd name="T16" fmla="*/ 0 h 866404"/>
                <a:gd name="T17" fmla="*/ 866404 w 866404"/>
                <a:gd name="T18" fmla="*/ 866404 h 866404"/>
              </a:gdLst>
              <a:ahLst/>
              <a:cxnLst>
                <a:cxn ang="T10">
                  <a:pos x="T0" y="T1"/>
                </a:cxn>
                <a:cxn ang="T11">
                  <a:pos x="T2" y="T3"/>
                </a:cxn>
                <a:cxn ang="T12">
                  <a:pos x="T4" y="T5"/>
                </a:cxn>
                <a:cxn ang="T13">
                  <a:pos x="T6" y="T7"/>
                </a:cxn>
                <a:cxn ang="T14">
                  <a:pos x="T8" y="T9"/>
                </a:cxn>
              </a:cxnLst>
              <a:rect l="T15" t="T16" r="T17" b="T18"/>
              <a:pathLst>
                <a:path w="866404" h="866404">
                  <a:moveTo>
                    <a:pt x="0" y="433202"/>
                  </a:moveTo>
                  <a:cubicBezTo>
                    <a:pt x="0" y="193951"/>
                    <a:pt x="193951" y="0"/>
                    <a:pt x="433202" y="0"/>
                  </a:cubicBezTo>
                  <a:cubicBezTo>
                    <a:pt x="672453" y="0"/>
                    <a:pt x="866404" y="193951"/>
                    <a:pt x="866404" y="433202"/>
                  </a:cubicBezTo>
                  <a:cubicBezTo>
                    <a:pt x="866404" y="672453"/>
                    <a:pt x="672453" y="866404"/>
                    <a:pt x="433202" y="866404"/>
                  </a:cubicBezTo>
                  <a:cubicBezTo>
                    <a:pt x="193951" y="866404"/>
                    <a:pt x="0" y="672453"/>
                    <a:pt x="0" y="433202"/>
                  </a:cubicBezTo>
                  <a:close/>
                </a:path>
              </a:pathLst>
            </a:custGeom>
            <a:grpFill/>
            <a:ln w="19050">
              <a:solidFill>
                <a:schemeClr val="bg1"/>
              </a:solidFill>
              <a:miter lim="800000"/>
              <a:headEnd/>
              <a:tailEnd/>
            </a:ln>
          </p:spPr>
          <p:txBody>
            <a:bodyPr lIns="139582" tIns="139582" rIns="139582" bIns="139582" anchor="ctr"/>
            <a:lstStyle/>
            <a:p>
              <a:pPr algn="ctr" defTabSz="666750" eaLnBrk="1" hangingPunct="1">
                <a:lnSpc>
                  <a:spcPct val="90000"/>
                </a:lnSpc>
                <a:spcAft>
                  <a:spcPct val="35000"/>
                </a:spcAft>
              </a:pPr>
              <a:r>
                <a:rPr lang="en-US" altLang="zh-CN" sz="2100">
                  <a:solidFill>
                    <a:schemeClr val="bg1"/>
                  </a:solidFill>
                  <a:latin typeface="微软雅黑" pitchFamily="34" charset="-122"/>
                  <a:ea typeface="微软雅黑" pitchFamily="34" charset="-122"/>
                </a:rPr>
                <a:t>02</a:t>
              </a:r>
              <a:endParaRPr lang="zh-CN" altLang="en-US" sz="2100">
                <a:solidFill>
                  <a:schemeClr val="bg1"/>
                </a:solidFill>
                <a:latin typeface="微软雅黑" pitchFamily="34" charset="-122"/>
                <a:ea typeface="微软雅黑" pitchFamily="34" charset="-122"/>
              </a:endParaRPr>
            </a:p>
          </p:txBody>
        </p:sp>
        <p:sp>
          <p:nvSpPr>
            <p:cNvPr id="59" name="Freeform 19"/>
            <p:cNvSpPr>
              <a:spLocks noEditPoints="1"/>
            </p:cNvSpPr>
            <p:nvPr/>
          </p:nvSpPr>
          <p:spPr bwMode="auto">
            <a:xfrm>
              <a:off x="1157132" y="608691"/>
              <a:ext cx="462749" cy="297310"/>
            </a:xfrm>
            <a:custGeom>
              <a:avLst/>
              <a:gdLst>
                <a:gd name="T0" fmla="*/ 516520434 w 320"/>
                <a:gd name="T1" fmla="*/ 429093379 h 206"/>
                <a:gd name="T2" fmla="*/ 98284995 w 320"/>
                <a:gd name="T3" fmla="*/ 429093379 h 206"/>
                <a:gd name="T4" fmla="*/ 0 w 320"/>
                <a:gd name="T5" fmla="*/ 306197548 h 206"/>
                <a:gd name="T6" fmla="*/ 127562546 w 320"/>
                <a:gd name="T7" fmla="*/ 185384331 h 206"/>
                <a:gd name="T8" fmla="*/ 340862359 w 320"/>
                <a:gd name="T9" fmla="*/ 0 h 206"/>
                <a:gd name="T10" fmla="*/ 549980079 w 320"/>
                <a:gd name="T11" fmla="*/ 141642236 h 206"/>
                <a:gd name="T12" fmla="*/ 669176991 w 320"/>
                <a:gd name="T13" fmla="*/ 283284473 h 206"/>
                <a:gd name="T14" fmla="*/ 516520434 w 320"/>
                <a:gd name="T15" fmla="*/ 429093379 h 206"/>
                <a:gd name="T16" fmla="*/ 102467090 w 320"/>
                <a:gd name="T17" fmla="*/ 397848407 h 206"/>
                <a:gd name="T18" fmla="*/ 516520434 w 320"/>
                <a:gd name="T19" fmla="*/ 397848407 h 206"/>
                <a:gd name="T20" fmla="*/ 637809839 w 320"/>
                <a:gd name="T21" fmla="*/ 283284473 h 206"/>
                <a:gd name="T22" fmla="*/ 535341303 w 320"/>
                <a:gd name="T23" fmla="*/ 170804595 h 206"/>
                <a:gd name="T24" fmla="*/ 524886068 w 320"/>
                <a:gd name="T25" fmla="*/ 170804595 h 206"/>
                <a:gd name="T26" fmla="*/ 522795021 w 320"/>
                <a:gd name="T27" fmla="*/ 160388642 h 206"/>
                <a:gd name="T28" fmla="*/ 340862359 w 320"/>
                <a:gd name="T29" fmla="*/ 33327585 h 206"/>
                <a:gd name="T30" fmla="*/ 156838651 w 320"/>
                <a:gd name="T31" fmla="*/ 204132180 h 206"/>
                <a:gd name="T32" fmla="*/ 156838651 w 320"/>
                <a:gd name="T33" fmla="*/ 222878586 h 206"/>
                <a:gd name="T34" fmla="*/ 138017781 w 320"/>
                <a:gd name="T35" fmla="*/ 218713359 h 206"/>
                <a:gd name="T36" fmla="*/ 123379006 w 320"/>
                <a:gd name="T37" fmla="*/ 218713359 h 206"/>
                <a:gd name="T38" fmla="*/ 31367152 w 320"/>
                <a:gd name="T39" fmla="*/ 306197548 h 206"/>
                <a:gd name="T40" fmla="*/ 102467090 w 320"/>
                <a:gd name="T41" fmla="*/ 397848407 h 20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20" h="206">
                  <a:moveTo>
                    <a:pt x="247" y="206"/>
                  </a:moveTo>
                  <a:cubicBezTo>
                    <a:pt x="47" y="206"/>
                    <a:pt x="47" y="206"/>
                    <a:pt x="47" y="206"/>
                  </a:cubicBezTo>
                  <a:cubicBezTo>
                    <a:pt x="20" y="200"/>
                    <a:pt x="0" y="175"/>
                    <a:pt x="0" y="147"/>
                  </a:cubicBezTo>
                  <a:cubicBezTo>
                    <a:pt x="0" y="115"/>
                    <a:pt x="27" y="88"/>
                    <a:pt x="61" y="89"/>
                  </a:cubicBezTo>
                  <a:cubicBezTo>
                    <a:pt x="67" y="38"/>
                    <a:pt x="110" y="0"/>
                    <a:pt x="163" y="0"/>
                  </a:cubicBezTo>
                  <a:cubicBezTo>
                    <a:pt x="208" y="0"/>
                    <a:pt x="248" y="28"/>
                    <a:pt x="263" y="68"/>
                  </a:cubicBezTo>
                  <a:cubicBezTo>
                    <a:pt x="296" y="74"/>
                    <a:pt x="320" y="103"/>
                    <a:pt x="320" y="136"/>
                  </a:cubicBezTo>
                  <a:cubicBezTo>
                    <a:pt x="320" y="174"/>
                    <a:pt x="287" y="206"/>
                    <a:pt x="247" y="206"/>
                  </a:cubicBezTo>
                  <a:close/>
                  <a:moveTo>
                    <a:pt x="49" y="191"/>
                  </a:moveTo>
                  <a:cubicBezTo>
                    <a:pt x="247" y="191"/>
                    <a:pt x="247" y="191"/>
                    <a:pt x="247" y="191"/>
                  </a:cubicBezTo>
                  <a:cubicBezTo>
                    <a:pt x="278" y="191"/>
                    <a:pt x="305" y="165"/>
                    <a:pt x="305" y="136"/>
                  </a:cubicBezTo>
                  <a:cubicBezTo>
                    <a:pt x="305" y="109"/>
                    <a:pt x="284" y="86"/>
                    <a:pt x="256" y="82"/>
                  </a:cubicBezTo>
                  <a:cubicBezTo>
                    <a:pt x="251" y="82"/>
                    <a:pt x="251" y="82"/>
                    <a:pt x="251" y="82"/>
                  </a:cubicBezTo>
                  <a:cubicBezTo>
                    <a:pt x="250" y="77"/>
                    <a:pt x="250" y="77"/>
                    <a:pt x="250" y="77"/>
                  </a:cubicBezTo>
                  <a:cubicBezTo>
                    <a:pt x="239" y="41"/>
                    <a:pt x="203" y="16"/>
                    <a:pt x="163" y="16"/>
                  </a:cubicBezTo>
                  <a:cubicBezTo>
                    <a:pt x="115" y="16"/>
                    <a:pt x="77" y="51"/>
                    <a:pt x="75" y="98"/>
                  </a:cubicBezTo>
                  <a:cubicBezTo>
                    <a:pt x="75" y="107"/>
                    <a:pt x="75" y="107"/>
                    <a:pt x="75" y="107"/>
                  </a:cubicBezTo>
                  <a:cubicBezTo>
                    <a:pt x="66" y="105"/>
                    <a:pt x="66" y="105"/>
                    <a:pt x="66" y="105"/>
                  </a:cubicBezTo>
                  <a:cubicBezTo>
                    <a:pt x="63" y="105"/>
                    <a:pt x="61" y="105"/>
                    <a:pt x="59" y="105"/>
                  </a:cubicBezTo>
                  <a:cubicBezTo>
                    <a:pt x="35" y="105"/>
                    <a:pt x="15" y="124"/>
                    <a:pt x="15" y="147"/>
                  </a:cubicBezTo>
                  <a:cubicBezTo>
                    <a:pt x="15" y="167"/>
                    <a:pt x="30" y="186"/>
                    <a:pt x="49" y="19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schemeClr val="bg1"/>
                </a:solidFill>
                <a:latin typeface="微软雅黑" pitchFamily="34" charset="-122"/>
                <a:ea typeface="微软雅黑" pitchFamily="34" charset="-122"/>
              </a:endParaRPr>
            </a:p>
          </p:txBody>
        </p:sp>
      </p:grpSp>
      <p:sp>
        <p:nvSpPr>
          <p:cNvPr id="68" name="TextBox 1210"/>
          <p:cNvSpPr/>
          <p:nvPr/>
        </p:nvSpPr>
        <p:spPr>
          <a:xfrm>
            <a:off x="585681" y="1928091"/>
            <a:ext cx="2014013" cy="284693"/>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zh-CN" altLang="en-US" b="1" dirty="0">
                <a:solidFill>
                  <a:srgbClr val="1B4367"/>
                </a:solidFill>
                <a:cs typeface="+mn-ea"/>
                <a:sym typeface="+mn-lt"/>
              </a:rPr>
              <a:t>纤蛇纹石（</a:t>
            </a:r>
            <a:r>
              <a:rPr lang="en-US" altLang="zh-CN" b="1" dirty="0">
                <a:solidFill>
                  <a:srgbClr val="1B4367"/>
                </a:solidFill>
                <a:latin typeface="Times New Roman" panose="02020603050405020304" pitchFamily="18" charset="0"/>
                <a:cs typeface="Times New Roman" panose="02020603050405020304" pitchFamily="18" charset="0"/>
                <a:sym typeface="+mn-lt"/>
              </a:rPr>
              <a:t>Chrysotile</a:t>
            </a:r>
            <a:r>
              <a:rPr lang="zh-CN" altLang="en-US" b="1" dirty="0">
                <a:solidFill>
                  <a:srgbClr val="1B4367"/>
                </a:solidFill>
                <a:cs typeface="+mn-ea"/>
                <a:sym typeface="+mn-lt"/>
              </a:rPr>
              <a:t>）</a:t>
            </a:r>
          </a:p>
        </p:txBody>
      </p:sp>
      <p:sp>
        <p:nvSpPr>
          <p:cNvPr id="69" name="文本框 8"/>
          <p:cNvSpPr txBox="1"/>
          <p:nvPr/>
        </p:nvSpPr>
        <p:spPr>
          <a:xfrm>
            <a:off x="457662" y="2212684"/>
            <a:ext cx="2270052" cy="436402"/>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gn="ctr">
              <a:lnSpc>
                <a:spcPts val="1500"/>
              </a:lnSpc>
            </a:pPr>
            <a:r>
              <a:rPr lang="zh-CN" altLang="en-US" sz="1200" dirty="0">
                <a:solidFill>
                  <a:schemeClr val="tx1">
                    <a:lumMod val="75000"/>
                    <a:lumOff val="25000"/>
                  </a:schemeClr>
                </a:solidFill>
                <a:cs typeface="+mn-ea"/>
                <a:sym typeface="+mn-lt"/>
              </a:rPr>
              <a:t>管状结构，宏观表达为纤维</a:t>
            </a:r>
          </a:p>
          <a:p>
            <a:pPr algn="ctr">
              <a:lnSpc>
                <a:spcPts val="1500"/>
              </a:lnSpc>
            </a:pPr>
            <a:endParaRPr lang="zh-CN" altLang="en-US" sz="1000" dirty="0">
              <a:solidFill>
                <a:schemeClr val="tx1">
                  <a:lumMod val="75000"/>
                  <a:lumOff val="25000"/>
                </a:schemeClr>
              </a:solidFill>
              <a:cs typeface="+mn-ea"/>
              <a:sym typeface="+mn-lt"/>
            </a:endParaRPr>
          </a:p>
        </p:txBody>
      </p:sp>
      <p:sp>
        <p:nvSpPr>
          <p:cNvPr id="70" name="TextBox 1210"/>
          <p:cNvSpPr/>
          <p:nvPr/>
        </p:nvSpPr>
        <p:spPr>
          <a:xfrm>
            <a:off x="3396558" y="1930282"/>
            <a:ext cx="1986698" cy="284693"/>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zh-CN" altLang="en-US" b="1" dirty="0">
                <a:solidFill>
                  <a:srgbClr val="1B4367"/>
                </a:solidFill>
                <a:cs typeface="+mn-ea"/>
                <a:sym typeface="+mn-lt"/>
              </a:rPr>
              <a:t>利蛇纹石（</a:t>
            </a:r>
            <a:r>
              <a:rPr lang="en-US" altLang="zh-CN" b="1" dirty="0" err="1">
                <a:solidFill>
                  <a:srgbClr val="1B4367"/>
                </a:solidFill>
                <a:cs typeface="+mn-ea"/>
                <a:sym typeface="+mn-lt"/>
              </a:rPr>
              <a:t>Lizardite</a:t>
            </a:r>
            <a:r>
              <a:rPr lang="zh-CN" altLang="en-US" b="1" dirty="0">
                <a:solidFill>
                  <a:srgbClr val="1B4367"/>
                </a:solidFill>
                <a:cs typeface="+mn-ea"/>
                <a:sym typeface="+mn-lt"/>
              </a:rPr>
              <a:t>）</a:t>
            </a:r>
          </a:p>
        </p:txBody>
      </p:sp>
      <p:sp>
        <p:nvSpPr>
          <p:cNvPr id="71" name="文本框 8"/>
          <p:cNvSpPr txBox="1"/>
          <p:nvPr/>
        </p:nvSpPr>
        <p:spPr>
          <a:xfrm>
            <a:off x="3254881" y="2214875"/>
            <a:ext cx="2270052" cy="453970"/>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gn="ctr">
              <a:lnSpc>
                <a:spcPts val="1500"/>
              </a:lnSpc>
            </a:pPr>
            <a:r>
              <a:rPr lang="zh-CN" altLang="en-US" sz="1200" dirty="0">
                <a:solidFill>
                  <a:schemeClr val="tx1">
                    <a:lumMod val="75000"/>
                    <a:lumOff val="25000"/>
                  </a:schemeClr>
                </a:solidFill>
                <a:cs typeface="+mn-ea"/>
                <a:sym typeface="+mn-lt"/>
              </a:rPr>
              <a:t>片层状结构</a:t>
            </a:r>
          </a:p>
          <a:p>
            <a:pPr algn="ctr">
              <a:lnSpc>
                <a:spcPts val="1500"/>
              </a:lnSpc>
            </a:pPr>
            <a:endParaRPr lang="zh-CN" altLang="en-US" sz="1200" dirty="0">
              <a:solidFill>
                <a:schemeClr val="tx1">
                  <a:lumMod val="75000"/>
                  <a:lumOff val="25000"/>
                </a:schemeClr>
              </a:solidFill>
              <a:cs typeface="+mn-ea"/>
              <a:sym typeface="+mn-lt"/>
            </a:endParaRPr>
          </a:p>
        </p:txBody>
      </p:sp>
      <p:sp>
        <p:nvSpPr>
          <p:cNvPr id="72" name="TextBox 1210"/>
          <p:cNvSpPr/>
          <p:nvPr/>
        </p:nvSpPr>
        <p:spPr>
          <a:xfrm>
            <a:off x="6180120" y="1927991"/>
            <a:ext cx="2137316" cy="284693"/>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zh-CN" altLang="en-US" b="1" dirty="0">
                <a:solidFill>
                  <a:srgbClr val="1B4367"/>
                </a:solidFill>
                <a:cs typeface="+mn-ea"/>
                <a:sym typeface="+mn-lt"/>
              </a:rPr>
              <a:t>叶蛇纹石（</a:t>
            </a:r>
            <a:r>
              <a:rPr lang="en-US" altLang="zh-CN" b="1" dirty="0">
                <a:solidFill>
                  <a:srgbClr val="1B4367"/>
                </a:solidFill>
                <a:cs typeface="+mn-ea"/>
                <a:sym typeface="+mn-lt"/>
              </a:rPr>
              <a:t>Antigorite</a:t>
            </a:r>
            <a:r>
              <a:rPr lang="zh-CN" altLang="en-US" b="1" dirty="0">
                <a:solidFill>
                  <a:srgbClr val="1B4367"/>
                </a:solidFill>
                <a:cs typeface="+mn-ea"/>
                <a:sym typeface="+mn-lt"/>
              </a:rPr>
              <a:t>）</a:t>
            </a:r>
          </a:p>
        </p:txBody>
      </p:sp>
      <p:sp>
        <p:nvSpPr>
          <p:cNvPr id="73" name="文本框 8"/>
          <p:cNvSpPr txBox="1"/>
          <p:nvPr/>
        </p:nvSpPr>
        <p:spPr>
          <a:xfrm>
            <a:off x="6113752" y="2212584"/>
            <a:ext cx="2270052" cy="442493"/>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gn="ctr">
              <a:lnSpc>
                <a:spcPts val="1500"/>
              </a:lnSpc>
            </a:pPr>
            <a:r>
              <a:rPr lang="zh-CN" altLang="en-US" sz="1200" dirty="0">
                <a:solidFill>
                  <a:schemeClr val="tx1">
                    <a:lumMod val="75000"/>
                    <a:lumOff val="25000"/>
                  </a:schemeClr>
                </a:solidFill>
                <a:cs typeface="+mn-ea"/>
                <a:sym typeface="+mn-lt"/>
              </a:rPr>
              <a:t>片层状结构，四面体片周期性倒转</a:t>
            </a:r>
          </a:p>
        </p:txBody>
      </p:sp>
      <p:cxnSp>
        <p:nvCxnSpPr>
          <p:cNvPr id="27" name="直接连接符 2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1661C8E7-21FC-4E4C-90D8-1922FC167737}"/>
              </a:ext>
            </a:extLst>
          </p:cNvPr>
          <p:cNvSpPr txBox="1"/>
          <p:nvPr/>
        </p:nvSpPr>
        <p:spPr>
          <a:xfrm>
            <a:off x="-21658" y="4921620"/>
            <a:ext cx="1128835" cy="253916"/>
          </a:xfrm>
          <a:prstGeom prst="rect">
            <a:avLst/>
          </a:prstGeom>
          <a:noFill/>
        </p:spPr>
        <p:txBody>
          <a:bodyPr wrap="none" rtlCol="0">
            <a:spAutoFit/>
          </a:bodyPr>
          <a:lstStyle/>
          <a:p>
            <a:r>
              <a:rPr lang="zh-CN" altLang="en-US" sz="1000" dirty="0"/>
              <a:t>图源：</a:t>
            </a:r>
            <a:r>
              <a:rPr lang="en-US" altLang="zh-CN" sz="1000" dirty="0">
                <a:latin typeface="Times New Roman" panose="02020603050405020304" pitchFamily="18" charset="0"/>
                <a:cs typeface="Times New Roman" panose="02020603050405020304" pitchFamily="18" charset="0"/>
              </a:rPr>
              <a:t>TEM tech</a:t>
            </a:r>
            <a:endParaRPr lang="zh-CN" altLang="en-US" sz="1000" dirty="0">
              <a:latin typeface="Times New Roman" panose="02020603050405020304" pitchFamily="18" charset="0"/>
              <a:cs typeface="Times New Roman" panose="02020603050405020304" pitchFamily="18" charset="0"/>
            </a:endParaRPr>
          </a:p>
        </p:txBody>
      </p:sp>
      <p:pic>
        <p:nvPicPr>
          <p:cNvPr id="29" name="图片 28">
            <a:extLst>
              <a:ext uri="{FF2B5EF4-FFF2-40B4-BE49-F238E27FC236}">
                <a16:creationId xmlns:a16="http://schemas.microsoft.com/office/drawing/2014/main" id="{D8C2509F-A2F1-4E5D-A08C-6EF6FF14EB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989" y="2571750"/>
            <a:ext cx="1800000" cy="1800000"/>
          </a:xfrm>
          <a:prstGeom prst="rect">
            <a:avLst/>
          </a:prstGeom>
        </p:spPr>
      </p:pic>
      <p:pic>
        <p:nvPicPr>
          <p:cNvPr id="30" name="图片 29">
            <a:extLst>
              <a:ext uri="{FF2B5EF4-FFF2-40B4-BE49-F238E27FC236}">
                <a16:creationId xmlns:a16="http://schemas.microsoft.com/office/drawing/2014/main" id="{B705816A-42C8-4C9C-9583-5A0B32D383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522876" y="2571750"/>
            <a:ext cx="1800000" cy="1800000"/>
          </a:xfrm>
          <a:prstGeom prst="rect">
            <a:avLst/>
          </a:prstGeom>
        </p:spPr>
      </p:pic>
      <p:pic>
        <p:nvPicPr>
          <p:cNvPr id="31" name="图片 30">
            <a:extLst>
              <a:ext uri="{FF2B5EF4-FFF2-40B4-BE49-F238E27FC236}">
                <a16:creationId xmlns:a16="http://schemas.microsoft.com/office/drawing/2014/main" id="{CE7D2D6A-8F9D-4340-92D6-926298E1415A}"/>
              </a:ext>
            </a:extLst>
          </p:cNvPr>
          <p:cNvPicPr>
            <a:picLocks noChangeAspect="1"/>
          </p:cNvPicPr>
          <p:nvPr/>
        </p:nvPicPr>
        <p:blipFill rotWithShape="1">
          <a:blip r:embed="rId5">
            <a:extLst>
              <a:ext uri="{28A0092B-C50C-407E-A947-70E740481C1C}">
                <a14:useLocalDpi xmlns:a14="http://schemas.microsoft.com/office/drawing/2010/main" val="0"/>
              </a:ext>
            </a:extLst>
          </a:blip>
          <a:srcRect l="47258"/>
          <a:stretch/>
        </p:blipFill>
        <p:spPr>
          <a:xfrm>
            <a:off x="6287529" y="2668845"/>
            <a:ext cx="1777159" cy="18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5"/>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300"/>
                                        <p:tgtEl>
                                          <p:spTgt spid="27"/>
                                        </p:tgtEl>
                                      </p:cBhvr>
                                    </p:animEffect>
                                  </p:childTnLst>
                                </p:cTn>
                              </p:par>
                            </p:childTnLst>
                          </p:cTn>
                        </p:par>
                        <p:par>
                          <p:cTn id="16" fill="hold">
                            <p:stCondLst>
                              <p:cond delay="950"/>
                            </p:stCondLst>
                            <p:childTnLst>
                              <p:par>
                                <p:cTn id="17" presetID="2" presetClass="entr" presetSubtype="8" fill="hold" nodeType="afterEffect">
                                  <p:stCondLst>
                                    <p:cond delay="0"/>
                                  </p:stCondLst>
                                  <p:childTnLst>
                                    <p:set>
                                      <p:cBhvr>
                                        <p:cTn id="18" dur="1" fill="hold">
                                          <p:stCondLst>
                                            <p:cond delay="0"/>
                                          </p:stCondLst>
                                        </p:cTn>
                                        <p:tgtEl>
                                          <p:spTgt spid="48"/>
                                        </p:tgtEl>
                                        <p:attrNameLst>
                                          <p:attrName>style.visibility</p:attrName>
                                        </p:attrNameLst>
                                      </p:cBhvr>
                                      <p:to>
                                        <p:strVal val="visible"/>
                                      </p:to>
                                    </p:set>
                                    <p:anim calcmode="lin" valueType="num">
                                      <p:cBhvr additive="base">
                                        <p:cTn id="19" dur="500" fill="hold"/>
                                        <p:tgtEl>
                                          <p:spTgt spid="48"/>
                                        </p:tgtEl>
                                        <p:attrNameLst>
                                          <p:attrName>ppt_x</p:attrName>
                                        </p:attrNameLst>
                                      </p:cBhvr>
                                      <p:tavLst>
                                        <p:tav tm="0">
                                          <p:val>
                                            <p:strVal val="0-#ppt_w/2"/>
                                          </p:val>
                                        </p:tav>
                                        <p:tav tm="100000">
                                          <p:val>
                                            <p:strVal val="#ppt_x"/>
                                          </p:val>
                                        </p:tav>
                                      </p:tavLst>
                                    </p:anim>
                                    <p:anim calcmode="lin" valueType="num">
                                      <p:cBhvr additive="base">
                                        <p:cTn id="20" dur="500" fill="hold"/>
                                        <p:tgtEl>
                                          <p:spTgt spid="48"/>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56"/>
                                        </p:tgtEl>
                                        <p:attrNameLst>
                                          <p:attrName>style.visibility</p:attrName>
                                        </p:attrNameLst>
                                      </p:cBhvr>
                                      <p:to>
                                        <p:strVal val="visible"/>
                                      </p:to>
                                    </p:set>
                                    <p:anim calcmode="lin" valueType="num">
                                      <p:cBhvr additive="base">
                                        <p:cTn id="23" dur="500" fill="hold"/>
                                        <p:tgtEl>
                                          <p:spTgt spid="56"/>
                                        </p:tgtEl>
                                        <p:attrNameLst>
                                          <p:attrName>ppt_x</p:attrName>
                                        </p:attrNameLst>
                                      </p:cBhvr>
                                      <p:tavLst>
                                        <p:tav tm="0">
                                          <p:val>
                                            <p:strVal val="0-#ppt_w/2"/>
                                          </p:val>
                                        </p:tav>
                                        <p:tav tm="100000">
                                          <p:val>
                                            <p:strVal val="#ppt_x"/>
                                          </p:val>
                                        </p:tav>
                                      </p:tavLst>
                                    </p:anim>
                                    <p:anim calcmode="lin" valueType="num">
                                      <p:cBhvr additive="base">
                                        <p:cTn id="24" dur="500" fill="hold"/>
                                        <p:tgtEl>
                                          <p:spTgt spid="56"/>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anim calcmode="lin" valueType="num">
                                      <p:cBhvr additive="base">
                                        <p:cTn id="27" dur="500" fill="hold"/>
                                        <p:tgtEl>
                                          <p:spTgt spid="52"/>
                                        </p:tgtEl>
                                        <p:attrNameLst>
                                          <p:attrName>ppt_x</p:attrName>
                                        </p:attrNameLst>
                                      </p:cBhvr>
                                      <p:tavLst>
                                        <p:tav tm="0">
                                          <p:val>
                                            <p:strVal val="0-#ppt_w/2"/>
                                          </p:val>
                                        </p:tav>
                                        <p:tav tm="100000">
                                          <p:val>
                                            <p:strVal val="#ppt_x"/>
                                          </p:val>
                                        </p:tav>
                                      </p:tavLst>
                                    </p:anim>
                                    <p:anim calcmode="lin" valueType="num">
                                      <p:cBhvr additive="base">
                                        <p:cTn id="28" dur="500" fill="hold"/>
                                        <p:tgtEl>
                                          <p:spTgt spid="52"/>
                                        </p:tgtEl>
                                        <p:attrNameLst>
                                          <p:attrName>ppt_y</p:attrName>
                                        </p:attrNameLst>
                                      </p:cBhvr>
                                      <p:tavLst>
                                        <p:tav tm="0">
                                          <p:val>
                                            <p:strVal val="#ppt_y"/>
                                          </p:val>
                                        </p:tav>
                                        <p:tav tm="100000">
                                          <p:val>
                                            <p:strVal val="#ppt_y"/>
                                          </p:val>
                                        </p:tav>
                                      </p:tavLst>
                                    </p:anim>
                                  </p:childTnLst>
                                </p:cTn>
                              </p:par>
                            </p:childTnLst>
                          </p:cTn>
                        </p:par>
                        <p:par>
                          <p:cTn id="29" fill="hold">
                            <p:stCondLst>
                              <p:cond delay="1450"/>
                            </p:stCondLst>
                            <p:childTnLst>
                              <p:par>
                                <p:cTn id="30" presetID="2" presetClass="entr" presetSubtype="4" fill="hold" grpId="0" nodeType="afterEffect">
                                  <p:stCondLst>
                                    <p:cond delay="0"/>
                                  </p:stCondLst>
                                  <p:childTnLst>
                                    <p:set>
                                      <p:cBhvr>
                                        <p:cTn id="31" dur="1" fill="hold">
                                          <p:stCondLst>
                                            <p:cond delay="0"/>
                                          </p:stCondLst>
                                        </p:cTn>
                                        <p:tgtEl>
                                          <p:spTgt spid="68"/>
                                        </p:tgtEl>
                                        <p:attrNameLst>
                                          <p:attrName>style.visibility</p:attrName>
                                        </p:attrNameLst>
                                      </p:cBhvr>
                                      <p:to>
                                        <p:strVal val="visible"/>
                                      </p:to>
                                    </p:set>
                                    <p:anim calcmode="lin" valueType="num">
                                      <p:cBhvr additive="base">
                                        <p:cTn id="32" dur="500" fill="hold"/>
                                        <p:tgtEl>
                                          <p:spTgt spid="68"/>
                                        </p:tgtEl>
                                        <p:attrNameLst>
                                          <p:attrName>ppt_x</p:attrName>
                                        </p:attrNameLst>
                                      </p:cBhvr>
                                      <p:tavLst>
                                        <p:tav tm="0">
                                          <p:val>
                                            <p:strVal val="#ppt_x"/>
                                          </p:val>
                                        </p:tav>
                                        <p:tav tm="100000">
                                          <p:val>
                                            <p:strVal val="#ppt_x"/>
                                          </p:val>
                                        </p:tav>
                                      </p:tavLst>
                                    </p:anim>
                                    <p:anim calcmode="lin" valueType="num">
                                      <p:cBhvr additive="base">
                                        <p:cTn id="33" dur="500" fill="hold"/>
                                        <p:tgtEl>
                                          <p:spTgt spid="68"/>
                                        </p:tgtEl>
                                        <p:attrNameLst>
                                          <p:attrName>ppt_y</p:attrName>
                                        </p:attrNameLst>
                                      </p:cBhvr>
                                      <p:tavLst>
                                        <p:tav tm="0">
                                          <p:val>
                                            <p:strVal val="1+#ppt_h/2"/>
                                          </p:val>
                                        </p:tav>
                                        <p:tav tm="100000">
                                          <p:val>
                                            <p:strVal val="#ppt_y"/>
                                          </p:val>
                                        </p:tav>
                                      </p:tavLst>
                                    </p:anim>
                                  </p:childTnLst>
                                </p:cTn>
                              </p:par>
                            </p:childTnLst>
                          </p:cTn>
                        </p:par>
                        <p:par>
                          <p:cTn id="34" fill="hold">
                            <p:stCondLst>
                              <p:cond delay="1950"/>
                            </p:stCondLst>
                            <p:childTnLst>
                              <p:par>
                                <p:cTn id="35" presetID="2" presetClass="entr" presetSubtype="4" fill="hold" grpId="0" nodeType="afterEffect">
                                  <p:stCondLst>
                                    <p:cond delay="0"/>
                                  </p:stCondLst>
                                  <p:childTnLst>
                                    <p:set>
                                      <p:cBhvr>
                                        <p:cTn id="36" dur="1" fill="hold">
                                          <p:stCondLst>
                                            <p:cond delay="0"/>
                                          </p:stCondLst>
                                        </p:cTn>
                                        <p:tgtEl>
                                          <p:spTgt spid="69"/>
                                        </p:tgtEl>
                                        <p:attrNameLst>
                                          <p:attrName>style.visibility</p:attrName>
                                        </p:attrNameLst>
                                      </p:cBhvr>
                                      <p:to>
                                        <p:strVal val="visible"/>
                                      </p:to>
                                    </p:set>
                                    <p:anim calcmode="lin" valueType="num">
                                      <p:cBhvr additive="base">
                                        <p:cTn id="37" dur="500" fill="hold"/>
                                        <p:tgtEl>
                                          <p:spTgt spid="69"/>
                                        </p:tgtEl>
                                        <p:attrNameLst>
                                          <p:attrName>ppt_x</p:attrName>
                                        </p:attrNameLst>
                                      </p:cBhvr>
                                      <p:tavLst>
                                        <p:tav tm="0">
                                          <p:val>
                                            <p:strVal val="#ppt_x"/>
                                          </p:val>
                                        </p:tav>
                                        <p:tav tm="100000">
                                          <p:val>
                                            <p:strVal val="#ppt_x"/>
                                          </p:val>
                                        </p:tav>
                                      </p:tavLst>
                                    </p:anim>
                                    <p:anim calcmode="lin" valueType="num">
                                      <p:cBhvr additive="base">
                                        <p:cTn id="38" dur="500" fill="hold"/>
                                        <p:tgtEl>
                                          <p:spTgt spid="69"/>
                                        </p:tgtEl>
                                        <p:attrNameLst>
                                          <p:attrName>ppt_y</p:attrName>
                                        </p:attrNameLst>
                                      </p:cBhvr>
                                      <p:tavLst>
                                        <p:tav tm="0">
                                          <p:val>
                                            <p:strVal val="1+#ppt_h/2"/>
                                          </p:val>
                                        </p:tav>
                                        <p:tav tm="100000">
                                          <p:val>
                                            <p:strVal val="#ppt_y"/>
                                          </p:val>
                                        </p:tav>
                                      </p:tavLst>
                                    </p:anim>
                                  </p:childTnLst>
                                </p:cTn>
                              </p:par>
                            </p:childTnLst>
                          </p:cTn>
                        </p:par>
                        <p:par>
                          <p:cTn id="39" fill="hold">
                            <p:stCondLst>
                              <p:cond delay="2450"/>
                            </p:stCondLst>
                            <p:childTnLst>
                              <p:par>
                                <p:cTn id="40" presetID="2" presetClass="entr" presetSubtype="1" fill="hold" grpId="0" nodeType="afterEffect">
                                  <p:stCondLst>
                                    <p:cond delay="0"/>
                                  </p:stCondLst>
                                  <p:childTnLst>
                                    <p:set>
                                      <p:cBhvr>
                                        <p:cTn id="41" dur="1" fill="hold">
                                          <p:stCondLst>
                                            <p:cond delay="0"/>
                                          </p:stCondLst>
                                        </p:cTn>
                                        <p:tgtEl>
                                          <p:spTgt spid="70"/>
                                        </p:tgtEl>
                                        <p:attrNameLst>
                                          <p:attrName>style.visibility</p:attrName>
                                        </p:attrNameLst>
                                      </p:cBhvr>
                                      <p:to>
                                        <p:strVal val="visible"/>
                                      </p:to>
                                    </p:set>
                                    <p:anim calcmode="lin" valueType="num">
                                      <p:cBhvr additive="base">
                                        <p:cTn id="42" dur="500" fill="hold"/>
                                        <p:tgtEl>
                                          <p:spTgt spid="70"/>
                                        </p:tgtEl>
                                        <p:attrNameLst>
                                          <p:attrName>ppt_x</p:attrName>
                                        </p:attrNameLst>
                                      </p:cBhvr>
                                      <p:tavLst>
                                        <p:tav tm="0">
                                          <p:val>
                                            <p:strVal val="#ppt_x"/>
                                          </p:val>
                                        </p:tav>
                                        <p:tav tm="100000">
                                          <p:val>
                                            <p:strVal val="#ppt_x"/>
                                          </p:val>
                                        </p:tav>
                                      </p:tavLst>
                                    </p:anim>
                                    <p:anim calcmode="lin" valueType="num">
                                      <p:cBhvr additive="base">
                                        <p:cTn id="43" dur="500" fill="hold"/>
                                        <p:tgtEl>
                                          <p:spTgt spid="70"/>
                                        </p:tgtEl>
                                        <p:attrNameLst>
                                          <p:attrName>ppt_y</p:attrName>
                                        </p:attrNameLst>
                                      </p:cBhvr>
                                      <p:tavLst>
                                        <p:tav tm="0">
                                          <p:val>
                                            <p:strVal val="0-#ppt_h/2"/>
                                          </p:val>
                                        </p:tav>
                                        <p:tav tm="100000">
                                          <p:val>
                                            <p:strVal val="#ppt_y"/>
                                          </p:val>
                                        </p:tav>
                                      </p:tavLst>
                                    </p:anim>
                                  </p:childTnLst>
                                </p:cTn>
                              </p:par>
                            </p:childTnLst>
                          </p:cTn>
                        </p:par>
                        <p:par>
                          <p:cTn id="44" fill="hold">
                            <p:stCondLst>
                              <p:cond delay="2950"/>
                            </p:stCondLst>
                            <p:childTnLst>
                              <p:par>
                                <p:cTn id="45" presetID="2" presetClass="entr" presetSubtype="1" fill="hold" grpId="0" nodeType="afterEffect">
                                  <p:stCondLst>
                                    <p:cond delay="0"/>
                                  </p:stCondLst>
                                  <p:childTnLst>
                                    <p:set>
                                      <p:cBhvr>
                                        <p:cTn id="46" dur="1" fill="hold">
                                          <p:stCondLst>
                                            <p:cond delay="0"/>
                                          </p:stCondLst>
                                        </p:cTn>
                                        <p:tgtEl>
                                          <p:spTgt spid="71"/>
                                        </p:tgtEl>
                                        <p:attrNameLst>
                                          <p:attrName>style.visibility</p:attrName>
                                        </p:attrNameLst>
                                      </p:cBhvr>
                                      <p:to>
                                        <p:strVal val="visible"/>
                                      </p:to>
                                    </p:set>
                                    <p:anim calcmode="lin" valueType="num">
                                      <p:cBhvr additive="base">
                                        <p:cTn id="47" dur="500" fill="hold"/>
                                        <p:tgtEl>
                                          <p:spTgt spid="71"/>
                                        </p:tgtEl>
                                        <p:attrNameLst>
                                          <p:attrName>ppt_x</p:attrName>
                                        </p:attrNameLst>
                                      </p:cBhvr>
                                      <p:tavLst>
                                        <p:tav tm="0">
                                          <p:val>
                                            <p:strVal val="#ppt_x"/>
                                          </p:val>
                                        </p:tav>
                                        <p:tav tm="100000">
                                          <p:val>
                                            <p:strVal val="#ppt_x"/>
                                          </p:val>
                                        </p:tav>
                                      </p:tavLst>
                                    </p:anim>
                                    <p:anim calcmode="lin" valueType="num">
                                      <p:cBhvr additive="base">
                                        <p:cTn id="48" dur="500" fill="hold"/>
                                        <p:tgtEl>
                                          <p:spTgt spid="71"/>
                                        </p:tgtEl>
                                        <p:attrNameLst>
                                          <p:attrName>ppt_y</p:attrName>
                                        </p:attrNameLst>
                                      </p:cBhvr>
                                      <p:tavLst>
                                        <p:tav tm="0">
                                          <p:val>
                                            <p:strVal val="0-#ppt_h/2"/>
                                          </p:val>
                                        </p:tav>
                                        <p:tav tm="100000">
                                          <p:val>
                                            <p:strVal val="#ppt_y"/>
                                          </p:val>
                                        </p:tav>
                                      </p:tavLst>
                                    </p:anim>
                                  </p:childTnLst>
                                </p:cTn>
                              </p:par>
                            </p:childTnLst>
                          </p:cTn>
                        </p:par>
                        <p:par>
                          <p:cTn id="49" fill="hold">
                            <p:stCondLst>
                              <p:cond delay="3450"/>
                            </p:stCondLst>
                            <p:childTnLst>
                              <p:par>
                                <p:cTn id="50" presetID="2" presetClass="entr" presetSubtype="4" fill="hold" grpId="0" nodeType="afterEffect">
                                  <p:stCondLst>
                                    <p:cond delay="0"/>
                                  </p:stCondLst>
                                  <p:childTnLst>
                                    <p:set>
                                      <p:cBhvr>
                                        <p:cTn id="51" dur="1" fill="hold">
                                          <p:stCondLst>
                                            <p:cond delay="0"/>
                                          </p:stCondLst>
                                        </p:cTn>
                                        <p:tgtEl>
                                          <p:spTgt spid="72"/>
                                        </p:tgtEl>
                                        <p:attrNameLst>
                                          <p:attrName>style.visibility</p:attrName>
                                        </p:attrNameLst>
                                      </p:cBhvr>
                                      <p:to>
                                        <p:strVal val="visible"/>
                                      </p:to>
                                    </p:set>
                                    <p:anim calcmode="lin" valueType="num">
                                      <p:cBhvr additive="base">
                                        <p:cTn id="52" dur="500" fill="hold"/>
                                        <p:tgtEl>
                                          <p:spTgt spid="72"/>
                                        </p:tgtEl>
                                        <p:attrNameLst>
                                          <p:attrName>ppt_x</p:attrName>
                                        </p:attrNameLst>
                                      </p:cBhvr>
                                      <p:tavLst>
                                        <p:tav tm="0">
                                          <p:val>
                                            <p:strVal val="#ppt_x"/>
                                          </p:val>
                                        </p:tav>
                                        <p:tav tm="100000">
                                          <p:val>
                                            <p:strVal val="#ppt_x"/>
                                          </p:val>
                                        </p:tav>
                                      </p:tavLst>
                                    </p:anim>
                                    <p:anim calcmode="lin" valueType="num">
                                      <p:cBhvr additive="base">
                                        <p:cTn id="53" dur="500" fill="hold"/>
                                        <p:tgtEl>
                                          <p:spTgt spid="72"/>
                                        </p:tgtEl>
                                        <p:attrNameLst>
                                          <p:attrName>ppt_y</p:attrName>
                                        </p:attrNameLst>
                                      </p:cBhvr>
                                      <p:tavLst>
                                        <p:tav tm="0">
                                          <p:val>
                                            <p:strVal val="1+#ppt_h/2"/>
                                          </p:val>
                                        </p:tav>
                                        <p:tav tm="100000">
                                          <p:val>
                                            <p:strVal val="#ppt_y"/>
                                          </p:val>
                                        </p:tav>
                                      </p:tavLst>
                                    </p:anim>
                                  </p:childTnLst>
                                </p:cTn>
                              </p:par>
                            </p:childTnLst>
                          </p:cTn>
                        </p:par>
                        <p:par>
                          <p:cTn id="54" fill="hold">
                            <p:stCondLst>
                              <p:cond delay="3950"/>
                            </p:stCondLst>
                            <p:childTnLst>
                              <p:par>
                                <p:cTn id="55" presetID="2" presetClass="entr" presetSubtype="4" fill="hold" grpId="0" nodeType="afterEffect">
                                  <p:stCondLst>
                                    <p:cond delay="0"/>
                                  </p:stCondLst>
                                  <p:childTnLst>
                                    <p:set>
                                      <p:cBhvr>
                                        <p:cTn id="56" dur="1" fill="hold">
                                          <p:stCondLst>
                                            <p:cond delay="0"/>
                                          </p:stCondLst>
                                        </p:cTn>
                                        <p:tgtEl>
                                          <p:spTgt spid="73"/>
                                        </p:tgtEl>
                                        <p:attrNameLst>
                                          <p:attrName>style.visibility</p:attrName>
                                        </p:attrNameLst>
                                      </p:cBhvr>
                                      <p:to>
                                        <p:strVal val="visible"/>
                                      </p:to>
                                    </p:set>
                                    <p:anim calcmode="lin" valueType="num">
                                      <p:cBhvr additive="base">
                                        <p:cTn id="57" dur="500" fill="hold"/>
                                        <p:tgtEl>
                                          <p:spTgt spid="73"/>
                                        </p:tgtEl>
                                        <p:attrNameLst>
                                          <p:attrName>ppt_x</p:attrName>
                                        </p:attrNameLst>
                                      </p:cBhvr>
                                      <p:tavLst>
                                        <p:tav tm="0">
                                          <p:val>
                                            <p:strVal val="#ppt_x"/>
                                          </p:val>
                                        </p:tav>
                                        <p:tav tm="100000">
                                          <p:val>
                                            <p:strVal val="#ppt_x"/>
                                          </p:val>
                                        </p:tav>
                                      </p:tavLst>
                                    </p:anim>
                                    <p:anim calcmode="lin" valueType="num">
                                      <p:cBhvr additive="base">
                                        <p:cTn id="5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68" grpId="0"/>
      <p:bldP spid="69" grpId="0"/>
      <p:bldP spid="70" grpId="0"/>
      <p:bldP spid="71" grpId="0"/>
      <p:bldP spid="72" grpId="0"/>
      <p:bldP spid="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文本框 15"/>
          <p:cNvSpPr txBox="1"/>
          <p:nvPr/>
        </p:nvSpPr>
        <p:spPr>
          <a:xfrm>
            <a:off x="709386" y="309785"/>
            <a:ext cx="2473373"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技术路线</a:t>
            </a:r>
          </a:p>
        </p:txBody>
      </p:sp>
      <p:cxnSp>
        <p:nvCxnSpPr>
          <p:cNvPr id="20" name="直接连接符 19"/>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pic>
        <p:nvPicPr>
          <p:cNvPr id="3" name="图片 2">
            <a:extLst>
              <a:ext uri="{FF2B5EF4-FFF2-40B4-BE49-F238E27FC236}">
                <a16:creationId xmlns:a16="http://schemas.microsoft.com/office/drawing/2014/main" id="{5D9F2E82-3B15-4F4A-ACA0-8A9C99E36E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7039" y="21590"/>
            <a:ext cx="3213230"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1"/>
                                        </p:tgtEl>
                                        <p:attrNameLst>
                                          <p:attrName>ppt_y</p:attrName>
                                        </p:attrNameLst>
                                      </p:cBhvr>
                                      <p:tavLst>
                                        <p:tav tm="0">
                                          <p:val>
                                            <p:strVal val="#ppt_y"/>
                                          </p:val>
                                        </p:tav>
                                        <p:tav tm="100000">
                                          <p:val>
                                            <p:strVal val="#ppt_y"/>
                                          </p:val>
                                        </p:tav>
                                      </p:tavLst>
                                    </p:anim>
                                    <p:anim calcmode="lin" valueType="num">
                                      <p:cBhvr>
                                        <p:cTn id="9" dur="500" fill="hold"/>
                                        <p:tgtEl>
                                          <p:spTgt spid="3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1"/>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3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776638" y="1346836"/>
            <a:ext cx="1067276" cy="1067276"/>
            <a:chOff x="1833245" y="2037080"/>
            <a:chExt cx="1423035" cy="1423035"/>
          </a:xfrm>
          <a:solidFill>
            <a:schemeClr val="bg1"/>
          </a:solidFill>
        </p:grpSpPr>
        <p:sp>
          <p:nvSpPr>
            <p:cNvPr id="50" name="泪滴形 49"/>
            <p:cNvSpPr/>
            <p:nvPr/>
          </p:nvSpPr>
          <p:spPr>
            <a:xfrm rot="8100000">
              <a:off x="1833245" y="2037080"/>
              <a:ext cx="1423035" cy="1423035"/>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36873" name="Freeform 36"/>
            <p:cNvSpPr>
              <a:spLocks noEditPoints="1"/>
            </p:cNvSpPr>
            <p:nvPr/>
          </p:nvSpPr>
          <p:spPr>
            <a:xfrm>
              <a:off x="2149475" y="2462530"/>
              <a:ext cx="752475" cy="572135"/>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86" h="217">
                  <a:moveTo>
                    <a:pt x="100" y="62"/>
                  </a:moveTo>
                  <a:cubicBezTo>
                    <a:pt x="89" y="53"/>
                    <a:pt x="89" y="53"/>
                    <a:pt x="89" y="53"/>
                  </a:cubicBezTo>
                  <a:cubicBezTo>
                    <a:pt x="102" y="38"/>
                    <a:pt x="122" y="28"/>
                    <a:pt x="144" y="28"/>
                  </a:cubicBezTo>
                  <a:cubicBezTo>
                    <a:pt x="165" y="28"/>
                    <a:pt x="184" y="37"/>
                    <a:pt x="197" y="51"/>
                  </a:cubicBezTo>
                  <a:cubicBezTo>
                    <a:pt x="191" y="56"/>
                    <a:pt x="191" y="56"/>
                    <a:pt x="191" y="56"/>
                  </a:cubicBezTo>
                  <a:cubicBezTo>
                    <a:pt x="187" y="60"/>
                    <a:pt x="187" y="60"/>
                    <a:pt x="187" y="60"/>
                  </a:cubicBezTo>
                  <a:cubicBezTo>
                    <a:pt x="176" y="49"/>
                    <a:pt x="161" y="41"/>
                    <a:pt x="144" y="41"/>
                  </a:cubicBezTo>
                  <a:cubicBezTo>
                    <a:pt x="126" y="41"/>
                    <a:pt x="110" y="50"/>
                    <a:pt x="100" y="62"/>
                  </a:cubicBezTo>
                  <a:close/>
                  <a:moveTo>
                    <a:pt x="110" y="71"/>
                  </a:moveTo>
                  <a:cubicBezTo>
                    <a:pt x="120" y="80"/>
                    <a:pt x="120" y="80"/>
                    <a:pt x="120" y="80"/>
                  </a:cubicBezTo>
                  <a:cubicBezTo>
                    <a:pt x="126" y="73"/>
                    <a:pt x="134" y="69"/>
                    <a:pt x="144" y="69"/>
                  </a:cubicBezTo>
                  <a:cubicBezTo>
                    <a:pt x="153" y="69"/>
                    <a:pt x="160" y="72"/>
                    <a:pt x="166" y="78"/>
                  </a:cubicBezTo>
                  <a:cubicBezTo>
                    <a:pt x="176" y="69"/>
                    <a:pt x="176" y="69"/>
                    <a:pt x="176" y="69"/>
                  </a:cubicBezTo>
                  <a:cubicBezTo>
                    <a:pt x="168" y="60"/>
                    <a:pt x="157" y="55"/>
                    <a:pt x="144" y="55"/>
                  </a:cubicBezTo>
                  <a:cubicBezTo>
                    <a:pt x="130" y="55"/>
                    <a:pt x="118" y="61"/>
                    <a:pt x="110" y="71"/>
                  </a:cubicBezTo>
                  <a:close/>
                  <a:moveTo>
                    <a:pt x="144" y="82"/>
                  </a:moveTo>
                  <a:cubicBezTo>
                    <a:pt x="135" y="82"/>
                    <a:pt x="128" y="90"/>
                    <a:pt x="128" y="99"/>
                  </a:cubicBezTo>
                  <a:cubicBezTo>
                    <a:pt x="128" y="108"/>
                    <a:pt x="135" y="115"/>
                    <a:pt x="144" y="115"/>
                  </a:cubicBezTo>
                  <a:cubicBezTo>
                    <a:pt x="153" y="115"/>
                    <a:pt x="160" y="108"/>
                    <a:pt x="160" y="99"/>
                  </a:cubicBezTo>
                  <a:cubicBezTo>
                    <a:pt x="160" y="90"/>
                    <a:pt x="153" y="82"/>
                    <a:pt x="144" y="82"/>
                  </a:cubicBezTo>
                  <a:close/>
                  <a:moveTo>
                    <a:pt x="275" y="206"/>
                  </a:moveTo>
                  <a:cubicBezTo>
                    <a:pt x="11" y="206"/>
                    <a:pt x="11" y="206"/>
                    <a:pt x="11" y="206"/>
                  </a:cubicBezTo>
                  <a:cubicBezTo>
                    <a:pt x="8" y="206"/>
                    <a:pt x="5" y="205"/>
                    <a:pt x="2" y="204"/>
                  </a:cubicBezTo>
                  <a:cubicBezTo>
                    <a:pt x="2" y="207"/>
                    <a:pt x="2" y="217"/>
                    <a:pt x="11" y="217"/>
                  </a:cubicBezTo>
                  <a:cubicBezTo>
                    <a:pt x="13" y="217"/>
                    <a:pt x="273" y="217"/>
                    <a:pt x="275" y="217"/>
                  </a:cubicBezTo>
                  <a:cubicBezTo>
                    <a:pt x="284" y="217"/>
                    <a:pt x="284" y="207"/>
                    <a:pt x="284" y="204"/>
                  </a:cubicBezTo>
                  <a:cubicBezTo>
                    <a:pt x="281" y="205"/>
                    <a:pt x="278" y="206"/>
                    <a:pt x="275" y="206"/>
                  </a:cubicBezTo>
                  <a:close/>
                  <a:moveTo>
                    <a:pt x="282" y="177"/>
                  </a:moveTo>
                  <a:cubicBezTo>
                    <a:pt x="255" y="134"/>
                    <a:pt x="255" y="134"/>
                    <a:pt x="255" y="134"/>
                  </a:cubicBezTo>
                  <a:cubicBezTo>
                    <a:pt x="255" y="21"/>
                    <a:pt x="255" y="21"/>
                    <a:pt x="255" y="21"/>
                  </a:cubicBezTo>
                  <a:cubicBezTo>
                    <a:pt x="255" y="9"/>
                    <a:pt x="245" y="0"/>
                    <a:pt x="234" y="0"/>
                  </a:cubicBezTo>
                  <a:cubicBezTo>
                    <a:pt x="52" y="0"/>
                    <a:pt x="52" y="0"/>
                    <a:pt x="52" y="0"/>
                  </a:cubicBezTo>
                  <a:cubicBezTo>
                    <a:pt x="41" y="0"/>
                    <a:pt x="31" y="9"/>
                    <a:pt x="31" y="21"/>
                  </a:cubicBezTo>
                  <a:cubicBezTo>
                    <a:pt x="31" y="134"/>
                    <a:pt x="31" y="134"/>
                    <a:pt x="31" y="134"/>
                  </a:cubicBezTo>
                  <a:cubicBezTo>
                    <a:pt x="4" y="177"/>
                    <a:pt x="4" y="177"/>
                    <a:pt x="4" y="177"/>
                  </a:cubicBezTo>
                  <a:cubicBezTo>
                    <a:pt x="1" y="181"/>
                    <a:pt x="0" y="185"/>
                    <a:pt x="2" y="189"/>
                  </a:cubicBezTo>
                  <a:cubicBezTo>
                    <a:pt x="4" y="192"/>
                    <a:pt x="7" y="194"/>
                    <a:pt x="11" y="194"/>
                  </a:cubicBezTo>
                  <a:cubicBezTo>
                    <a:pt x="275" y="194"/>
                    <a:pt x="275" y="194"/>
                    <a:pt x="275" y="194"/>
                  </a:cubicBezTo>
                  <a:cubicBezTo>
                    <a:pt x="279" y="194"/>
                    <a:pt x="283" y="192"/>
                    <a:pt x="284" y="188"/>
                  </a:cubicBezTo>
                  <a:cubicBezTo>
                    <a:pt x="286" y="184"/>
                    <a:pt x="284" y="180"/>
                    <a:pt x="282" y="177"/>
                  </a:cubicBezTo>
                  <a:close/>
                  <a:moveTo>
                    <a:pt x="46" y="24"/>
                  </a:moveTo>
                  <a:cubicBezTo>
                    <a:pt x="46" y="22"/>
                    <a:pt x="47" y="19"/>
                    <a:pt x="49" y="17"/>
                  </a:cubicBezTo>
                  <a:cubicBezTo>
                    <a:pt x="51" y="15"/>
                    <a:pt x="53" y="14"/>
                    <a:pt x="56" y="14"/>
                  </a:cubicBezTo>
                  <a:cubicBezTo>
                    <a:pt x="230" y="14"/>
                    <a:pt x="230" y="14"/>
                    <a:pt x="230" y="14"/>
                  </a:cubicBezTo>
                  <a:cubicBezTo>
                    <a:pt x="233" y="14"/>
                    <a:pt x="235" y="15"/>
                    <a:pt x="237" y="17"/>
                  </a:cubicBezTo>
                  <a:cubicBezTo>
                    <a:pt x="239" y="19"/>
                    <a:pt x="240" y="22"/>
                    <a:pt x="240" y="24"/>
                  </a:cubicBezTo>
                  <a:cubicBezTo>
                    <a:pt x="240" y="120"/>
                    <a:pt x="240" y="120"/>
                    <a:pt x="240" y="120"/>
                  </a:cubicBezTo>
                  <a:cubicBezTo>
                    <a:pt x="240" y="123"/>
                    <a:pt x="239" y="125"/>
                    <a:pt x="237" y="127"/>
                  </a:cubicBezTo>
                  <a:cubicBezTo>
                    <a:pt x="235" y="129"/>
                    <a:pt x="233" y="130"/>
                    <a:pt x="230" y="130"/>
                  </a:cubicBezTo>
                  <a:cubicBezTo>
                    <a:pt x="228" y="130"/>
                    <a:pt x="56" y="130"/>
                    <a:pt x="56" y="130"/>
                  </a:cubicBezTo>
                  <a:cubicBezTo>
                    <a:pt x="53" y="130"/>
                    <a:pt x="51" y="129"/>
                    <a:pt x="49" y="127"/>
                  </a:cubicBezTo>
                  <a:cubicBezTo>
                    <a:pt x="47" y="125"/>
                    <a:pt x="46" y="123"/>
                    <a:pt x="46" y="120"/>
                  </a:cubicBezTo>
                  <a:lnTo>
                    <a:pt x="46" y="24"/>
                  </a:lnTo>
                  <a:close/>
                  <a:moveTo>
                    <a:pt x="43" y="143"/>
                  </a:moveTo>
                  <a:cubicBezTo>
                    <a:pt x="243" y="143"/>
                    <a:pt x="243" y="143"/>
                    <a:pt x="243" y="143"/>
                  </a:cubicBezTo>
                  <a:cubicBezTo>
                    <a:pt x="248" y="151"/>
                    <a:pt x="248" y="151"/>
                    <a:pt x="248" y="151"/>
                  </a:cubicBezTo>
                  <a:cubicBezTo>
                    <a:pt x="38" y="151"/>
                    <a:pt x="38" y="151"/>
                    <a:pt x="38" y="151"/>
                  </a:cubicBezTo>
                  <a:lnTo>
                    <a:pt x="43" y="143"/>
                  </a:lnTo>
                  <a:close/>
                  <a:moveTo>
                    <a:pt x="34" y="157"/>
                  </a:moveTo>
                  <a:cubicBezTo>
                    <a:pt x="252" y="157"/>
                    <a:pt x="252" y="157"/>
                    <a:pt x="252" y="157"/>
                  </a:cubicBezTo>
                  <a:cubicBezTo>
                    <a:pt x="257" y="165"/>
                    <a:pt x="257" y="165"/>
                    <a:pt x="257" y="165"/>
                  </a:cubicBezTo>
                  <a:cubicBezTo>
                    <a:pt x="29" y="165"/>
                    <a:pt x="29" y="165"/>
                    <a:pt x="29" y="165"/>
                  </a:cubicBezTo>
                  <a:lnTo>
                    <a:pt x="34" y="157"/>
                  </a:lnTo>
                  <a:close/>
                  <a:moveTo>
                    <a:pt x="97" y="179"/>
                  </a:moveTo>
                  <a:cubicBezTo>
                    <a:pt x="20" y="179"/>
                    <a:pt x="20" y="179"/>
                    <a:pt x="20" y="179"/>
                  </a:cubicBezTo>
                  <a:cubicBezTo>
                    <a:pt x="25" y="171"/>
                    <a:pt x="25" y="171"/>
                    <a:pt x="25" y="171"/>
                  </a:cubicBezTo>
                  <a:cubicBezTo>
                    <a:pt x="100" y="171"/>
                    <a:pt x="100" y="171"/>
                    <a:pt x="100" y="171"/>
                  </a:cubicBezTo>
                  <a:lnTo>
                    <a:pt x="97" y="179"/>
                  </a:lnTo>
                  <a:close/>
                  <a:moveTo>
                    <a:pt x="189" y="179"/>
                  </a:moveTo>
                  <a:cubicBezTo>
                    <a:pt x="186" y="171"/>
                    <a:pt x="186" y="171"/>
                    <a:pt x="186" y="171"/>
                  </a:cubicBezTo>
                  <a:cubicBezTo>
                    <a:pt x="261" y="171"/>
                    <a:pt x="261" y="171"/>
                    <a:pt x="261" y="171"/>
                  </a:cubicBezTo>
                  <a:cubicBezTo>
                    <a:pt x="266" y="179"/>
                    <a:pt x="266" y="179"/>
                    <a:pt x="266" y="179"/>
                  </a:cubicBezTo>
                  <a:lnTo>
                    <a:pt x="189" y="179"/>
                  </a:lnTo>
                  <a:close/>
                </a:path>
              </a:pathLst>
            </a:custGeom>
            <a:grpFill/>
            <a:ln w="9525">
              <a:noFill/>
            </a:ln>
          </p:spPr>
          <p:txBody>
            <a:bodyPr/>
            <a:lstStyle/>
            <a:p>
              <a:endParaRPr lang="zh-CN" altLang="en-US">
                <a:cs typeface="+mn-ea"/>
                <a:sym typeface="+mn-lt"/>
              </a:endParaRPr>
            </a:p>
          </p:txBody>
        </p:sp>
      </p:grpSp>
      <p:grpSp>
        <p:nvGrpSpPr>
          <p:cNvPr id="7" name="组合 6"/>
          <p:cNvGrpSpPr/>
          <p:nvPr/>
        </p:nvGrpSpPr>
        <p:grpSpPr>
          <a:xfrm>
            <a:off x="5132278" y="1346836"/>
            <a:ext cx="1067276" cy="1067276"/>
            <a:chOff x="4164965" y="2037080"/>
            <a:chExt cx="1423035" cy="1423035"/>
          </a:xfrm>
          <a:solidFill>
            <a:schemeClr val="bg1"/>
          </a:solidFill>
        </p:grpSpPr>
        <p:sp>
          <p:nvSpPr>
            <p:cNvPr id="51" name="泪滴形 50"/>
            <p:cNvSpPr/>
            <p:nvPr/>
          </p:nvSpPr>
          <p:spPr>
            <a:xfrm rot="8100000">
              <a:off x="4164965" y="2037080"/>
              <a:ext cx="1423035" cy="1423035"/>
            </a:xfrm>
            <a:prstGeom prst="teardrop">
              <a:avLst/>
            </a:prstGeom>
            <a:solidFill>
              <a:srgbClr val="1B4367"/>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36874" name="Freeform 28"/>
            <p:cNvSpPr>
              <a:spLocks noEditPoints="1"/>
            </p:cNvSpPr>
            <p:nvPr/>
          </p:nvSpPr>
          <p:spPr>
            <a:xfrm>
              <a:off x="4559300" y="2414905"/>
              <a:ext cx="668020" cy="668020"/>
            </a:xfrm>
            <a:custGeom>
              <a:avLst/>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0" t="0" r="0" b="0"/>
              <a:pathLst>
                <a:path w="207" h="207">
                  <a:moveTo>
                    <a:pt x="137" y="51"/>
                  </a:moveTo>
                  <a:cubicBezTo>
                    <a:pt x="153" y="51"/>
                    <a:pt x="153" y="51"/>
                    <a:pt x="153" y="51"/>
                  </a:cubicBezTo>
                  <a:cubicBezTo>
                    <a:pt x="142" y="113"/>
                    <a:pt x="142" y="113"/>
                    <a:pt x="142" y="113"/>
                  </a:cubicBezTo>
                  <a:cubicBezTo>
                    <a:pt x="141" y="120"/>
                    <a:pt x="141" y="125"/>
                    <a:pt x="142" y="128"/>
                  </a:cubicBezTo>
                  <a:cubicBezTo>
                    <a:pt x="143" y="132"/>
                    <a:pt x="146" y="133"/>
                    <a:pt x="150" y="133"/>
                  </a:cubicBezTo>
                  <a:cubicBezTo>
                    <a:pt x="154" y="133"/>
                    <a:pt x="158" y="132"/>
                    <a:pt x="161" y="130"/>
                  </a:cubicBezTo>
                  <a:cubicBezTo>
                    <a:pt x="165" y="129"/>
                    <a:pt x="169" y="126"/>
                    <a:pt x="172" y="122"/>
                  </a:cubicBezTo>
                  <a:cubicBezTo>
                    <a:pt x="175" y="118"/>
                    <a:pt x="177" y="114"/>
                    <a:pt x="179" y="108"/>
                  </a:cubicBezTo>
                  <a:cubicBezTo>
                    <a:pt x="181" y="102"/>
                    <a:pt x="182" y="95"/>
                    <a:pt x="182" y="87"/>
                  </a:cubicBezTo>
                  <a:cubicBezTo>
                    <a:pt x="182" y="76"/>
                    <a:pt x="180" y="66"/>
                    <a:pt x="176" y="58"/>
                  </a:cubicBezTo>
                  <a:cubicBezTo>
                    <a:pt x="172" y="50"/>
                    <a:pt x="167" y="44"/>
                    <a:pt x="161" y="38"/>
                  </a:cubicBezTo>
                  <a:cubicBezTo>
                    <a:pt x="154" y="33"/>
                    <a:pt x="146" y="29"/>
                    <a:pt x="137" y="27"/>
                  </a:cubicBezTo>
                  <a:cubicBezTo>
                    <a:pt x="128" y="24"/>
                    <a:pt x="119" y="23"/>
                    <a:pt x="109" y="23"/>
                  </a:cubicBezTo>
                  <a:cubicBezTo>
                    <a:pt x="97" y="23"/>
                    <a:pt x="86" y="25"/>
                    <a:pt x="76" y="30"/>
                  </a:cubicBezTo>
                  <a:cubicBezTo>
                    <a:pt x="65" y="34"/>
                    <a:pt x="57" y="40"/>
                    <a:pt x="49" y="47"/>
                  </a:cubicBezTo>
                  <a:cubicBezTo>
                    <a:pt x="42" y="55"/>
                    <a:pt x="36" y="63"/>
                    <a:pt x="31" y="74"/>
                  </a:cubicBezTo>
                  <a:cubicBezTo>
                    <a:pt x="27" y="84"/>
                    <a:pt x="25" y="95"/>
                    <a:pt x="25" y="107"/>
                  </a:cubicBezTo>
                  <a:cubicBezTo>
                    <a:pt x="25" y="119"/>
                    <a:pt x="27" y="129"/>
                    <a:pt x="30" y="139"/>
                  </a:cubicBezTo>
                  <a:cubicBezTo>
                    <a:pt x="34" y="148"/>
                    <a:pt x="39" y="156"/>
                    <a:pt x="46" y="163"/>
                  </a:cubicBezTo>
                  <a:cubicBezTo>
                    <a:pt x="53" y="169"/>
                    <a:pt x="61" y="174"/>
                    <a:pt x="71" y="178"/>
                  </a:cubicBezTo>
                  <a:cubicBezTo>
                    <a:pt x="81" y="181"/>
                    <a:pt x="93" y="183"/>
                    <a:pt x="106" y="183"/>
                  </a:cubicBezTo>
                  <a:cubicBezTo>
                    <a:pt x="110" y="183"/>
                    <a:pt x="115" y="183"/>
                    <a:pt x="121" y="182"/>
                  </a:cubicBezTo>
                  <a:cubicBezTo>
                    <a:pt x="127" y="181"/>
                    <a:pt x="132" y="179"/>
                    <a:pt x="136" y="177"/>
                  </a:cubicBezTo>
                  <a:cubicBezTo>
                    <a:pt x="143" y="199"/>
                    <a:pt x="143" y="199"/>
                    <a:pt x="143" y="199"/>
                  </a:cubicBezTo>
                  <a:cubicBezTo>
                    <a:pt x="137" y="202"/>
                    <a:pt x="131" y="204"/>
                    <a:pt x="124" y="205"/>
                  </a:cubicBezTo>
                  <a:cubicBezTo>
                    <a:pt x="118" y="206"/>
                    <a:pt x="110" y="207"/>
                    <a:pt x="102" y="207"/>
                  </a:cubicBezTo>
                  <a:cubicBezTo>
                    <a:pt x="87" y="207"/>
                    <a:pt x="74" y="205"/>
                    <a:pt x="61" y="200"/>
                  </a:cubicBezTo>
                  <a:cubicBezTo>
                    <a:pt x="49" y="196"/>
                    <a:pt x="38" y="190"/>
                    <a:pt x="29" y="182"/>
                  </a:cubicBezTo>
                  <a:cubicBezTo>
                    <a:pt x="20" y="173"/>
                    <a:pt x="13" y="163"/>
                    <a:pt x="7" y="151"/>
                  </a:cubicBezTo>
                  <a:cubicBezTo>
                    <a:pt x="2" y="138"/>
                    <a:pt x="0" y="124"/>
                    <a:pt x="0" y="108"/>
                  </a:cubicBezTo>
                  <a:cubicBezTo>
                    <a:pt x="0" y="91"/>
                    <a:pt x="3" y="76"/>
                    <a:pt x="9" y="63"/>
                  </a:cubicBezTo>
                  <a:cubicBezTo>
                    <a:pt x="14" y="50"/>
                    <a:pt x="22" y="38"/>
                    <a:pt x="32" y="29"/>
                  </a:cubicBezTo>
                  <a:cubicBezTo>
                    <a:pt x="42" y="20"/>
                    <a:pt x="54" y="12"/>
                    <a:pt x="67" y="7"/>
                  </a:cubicBezTo>
                  <a:cubicBezTo>
                    <a:pt x="80" y="2"/>
                    <a:pt x="94" y="0"/>
                    <a:pt x="109" y="0"/>
                  </a:cubicBezTo>
                  <a:cubicBezTo>
                    <a:pt x="123" y="0"/>
                    <a:pt x="136" y="2"/>
                    <a:pt x="148" y="6"/>
                  </a:cubicBezTo>
                  <a:cubicBezTo>
                    <a:pt x="160" y="10"/>
                    <a:pt x="170" y="15"/>
                    <a:pt x="179" y="23"/>
                  </a:cubicBezTo>
                  <a:cubicBezTo>
                    <a:pt x="188" y="30"/>
                    <a:pt x="195" y="40"/>
                    <a:pt x="200" y="50"/>
                  </a:cubicBezTo>
                  <a:cubicBezTo>
                    <a:pt x="205" y="61"/>
                    <a:pt x="207" y="74"/>
                    <a:pt x="207" y="87"/>
                  </a:cubicBezTo>
                  <a:cubicBezTo>
                    <a:pt x="207" y="97"/>
                    <a:pt x="205" y="106"/>
                    <a:pt x="202" y="115"/>
                  </a:cubicBezTo>
                  <a:cubicBezTo>
                    <a:pt x="199" y="123"/>
                    <a:pt x="194" y="130"/>
                    <a:pt x="188" y="137"/>
                  </a:cubicBezTo>
                  <a:cubicBezTo>
                    <a:pt x="182" y="143"/>
                    <a:pt x="175" y="148"/>
                    <a:pt x="167" y="151"/>
                  </a:cubicBezTo>
                  <a:cubicBezTo>
                    <a:pt x="159" y="155"/>
                    <a:pt x="151" y="157"/>
                    <a:pt x="141" y="157"/>
                  </a:cubicBezTo>
                  <a:cubicBezTo>
                    <a:pt x="138" y="157"/>
                    <a:pt x="134" y="156"/>
                    <a:pt x="131" y="156"/>
                  </a:cubicBezTo>
                  <a:cubicBezTo>
                    <a:pt x="128" y="155"/>
                    <a:pt x="125" y="153"/>
                    <a:pt x="123" y="151"/>
                  </a:cubicBezTo>
                  <a:cubicBezTo>
                    <a:pt x="121" y="149"/>
                    <a:pt x="119" y="147"/>
                    <a:pt x="118" y="144"/>
                  </a:cubicBezTo>
                  <a:cubicBezTo>
                    <a:pt x="117" y="140"/>
                    <a:pt x="116" y="137"/>
                    <a:pt x="117" y="132"/>
                  </a:cubicBezTo>
                  <a:cubicBezTo>
                    <a:pt x="116" y="132"/>
                    <a:pt x="116" y="132"/>
                    <a:pt x="116" y="132"/>
                  </a:cubicBezTo>
                  <a:cubicBezTo>
                    <a:pt x="114" y="135"/>
                    <a:pt x="111" y="138"/>
                    <a:pt x="109" y="141"/>
                  </a:cubicBezTo>
                  <a:cubicBezTo>
                    <a:pt x="106" y="144"/>
                    <a:pt x="103" y="147"/>
                    <a:pt x="100" y="149"/>
                  </a:cubicBezTo>
                  <a:cubicBezTo>
                    <a:pt x="97" y="152"/>
                    <a:pt x="93" y="153"/>
                    <a:pt x="89" y="155"/>
                  </a:cubicBezTo>
                  <a:cubicBezTo>
                    <a:pt x="86" y="156"/>
                    <a:pt x="81" y="157"/>
                    <a:pt x="77" y="157"/>
                  </a:cubicBezTo>
                  <a:cubicBezTo>
                    <a:pt x="73" y="157"/>
                    <a:pt x="70" y="156"/>
                    <a:pt x="66" y="154"/>
                  </a:cubicBezTo>
                  <a:cubicBezTo>
                    <a:pt x="63" y="153"/>
                    <a:pt x="60" y="151"/>
                    <a:pt x="58" y="148"/>
                  </a:cubicBezTo>
                  <a:cubicBezTo>
                    <a:pt x="55" y="145"/>
                    <a:pt x="53" y="141"/>
                    <a:pt x="52" y="137"/>
                  </a:cubicBezTo>
                  <a:cubicBezTo>
                    <a:pt x="51" y="133"/>
                    <a:pt x="50" y="129"/>
                    <a:pt x="50" y="124"/>
                  </a:cubicBezTo>
                  <a:cubicBezTo>
                    <a:pt x="50" y="114"/>
                    <a:pt x="51" y="105"/>
                    <a:pt x="54" y="96"/>
                  </a:cubicBezTo>
                  <a:cubicBezTo>
                    <a:pt x="57" y="87"/>
                    <a:pt x="62" y="80"/>
                    <a:pt x="67" y="73"/>
                  </a:cubicBezTo>
                  <a:cubicBezTo>
                    <a:pt x="72" y="66"/>
                    <a:pt x="78" y="60"/>
                    <a:pt x="85" y="56"/>
                  </a:cubicBezTo>
                  <a:cubicBezTo>
                    <a:pt x="92" y="52"/>
                    <a:pt x="99" y="50"/>
                    <a:pt x="107" y="50"/>
                  </a:cubicBezTo>
                  <a:cubicBezTo>
                    <a:pt x="112" y="50"/>
                    <a:pt x="117" y="51"/>
                    <a:pt x="120" y="52"/>
                  </a:cubicBezTo>
                  <a:cubicBezTo>
                    <a:pt x="124" y="54"/>
                    <a:pt x="127" y="56"/>
                    <a:pt x="130" y="59"/>
                  </a:cubicBezTo>
                  <a:lnTo>
                    <a:pt x="137" y="51"/>
                  </a:lnTo>
                  <a:close/>
                  <a:moveTo>
                    <a:pt x="123" y="79"/>
                  </a:moveTo>
                  <a:cubicBezTo>
                    <a:pt x="121" y="77"/>
                    <a:pt x="119" y="76"/>
                    <a:pt x="117" y="75"/>
                  </a:cubicBezTo>
                  <a:cubicBezTo>
                    <a:pt x="115" y="74"/>
                    <a:pt x="112" y="74"/>
                    <a:pt x="109" y="74"/>
                  </a:cubicBezTo>
                  <a:cubicBezTo>
                    <a:pt x="104" y="74"/>
                    <a:pt x="100" y="75"/>
                    <a:pt x="96" y="78"/>
                  </a:cubicBezTo>
                  <a:cubicBezTo>
                    <a:pt x="92" y="80"/>
                    <a:pt x="89" y="83"/>
                    <a:pt x="86" y="88"/>
                  </a:cubicBezTo>
                  <a:cubicBezTo>
                    <a:pt x="84" y="92"/>
                    <a:pt x="81" y="96"/>
                    <a:pt x="80" y="101"/>
                  </a:cubicBezTo>
                  <a:cubicBezTo>
                    <a:pt x="78" y="106"/>
                    <a:pt x="78" y="111"/>
                    <a:pt x="78" y="116"/>
                  </a:cubicBezTo>
                  <a:cubicBezTo>
                    <a:pt x="78" y="121"/>
                    <a:pt x="79" y="125"/>
                    <a:pt x="81" y="128"/>
                  </a:cubicBezTo>
                  <a:cubicBezTo>
                    <a:pt x="83" y="132"/>
                    <a:pt x="86" y="133"/>
                    <a:pt x="91" y="133"/>
                  </a:cubicBezTo>
                  <a:cubicBezTo>
                    <a:pt x="93" y="133"/>
                    <a:pt x="96" y="133"/>
                    <a:pt x="98" y="131"/>
                  </a:cubicBezTo>
                  <a:cubicBezTo>
                    <a:pt x="100" y="130"/>
                    <a:pt x="103" y="128"/>
                    <a:pt x="105" y="126"/>
                  </a:cubicBezTo>
                  <a:cubicBezTo>
                    <a:pt x="107" y="124"/>
                    <a:pt x="110" y="122"/>
                    <a:pt x="112" y="119"/>
                  </a:cubicBezTo>
                  <a:cubicBezTo>
                    <a:pt x="114" y="116"/>
                    <a:pt x="116" y="113"/>
                    <a:pt x="117" y="110"/>
                  </a:cubicBezTo>
                  <a:lnTo>
                    <a:pt x="123" y="79"/>
                  </a:lnTo>
                  <a:close/>
                </a:path>
              </a:pathLst>
            </a:custGeom>
            <a:grpFill/>
            <a:ln w="9525">
              <a:noFill/>
            </a:ln>
          </p:spPr>
          <p:txBody>
            <a:bodyPr/>
            <a:lstStyle/>
            <a:p>
              <a:endParaRPr lang="zh-CN" altLang="en-US">
                <a:cs typeface="+mn-ea"/>
                <a:sym typeface="+mn-lt"/>
              </a:endParaRPr>
            </a:p>
          </p:txBody>
        </p:sp>
      </p:grpSp>
      <p:sp>
        <p:nvSpPr>
          <p:cNvPr id="19" name="文本框 15"/>
          <p:cNvSpPr txBox="1"/>
          <p:nvPr/>
        </p:nvSpPr>
        <p:spPr>
          <a:xfrm>
            <a:off x="709386" y="309785"/>
            <a:ext cx="2363114"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可行性分析</a:t>
            </a:r>
          </a:p>
        </p:txBody>
      </p:sp>
      <p:sp>
        <p:nvSpPr>
          <p:cNvPr id="20" name="TextBox 1210"/>
          <p:cNvSpPr/>
          <p:nvPr/>
        </p:nvSpPr>
        <p:spPr>
          <a:xfrm>
            <a:off x="2792188" y="2765297"/>
            <a:ext cx="1036181" cy="284693"/>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zh-CN" altLang="en-US" b="1" dirty="0">
                <a:solidFill>
                  <a:srgbClr val="1B4367"/>
                </a:solidFill>
                <a:cs typeface="+mn-ea"/>
                <a:sym typeface="+mn-lt"/>
              </a:rPr>
              <a:t>数据可行性</a:t>
            </a:r>
          </a:p>
        </p:txBody>
      </p:sp>
      <p:sp>
        <p:nvSpPr>
          <p:cNvPr id="21" name="文本框 8"/>
          <p:cNvSpPr txBox="1"/>
          <p:nvPr/>
        </p:nvSpPr>
        <p:spPr>
          <a:xfrm>
            <a:off x="2524363" y="3040888"/>
            <a:ext cx="1571826" cy="1031051"/>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gn="ctr">
              <a:lnSpc>
                <a:spcPts val="1500"/>
              </a:lnSpc>
            </a:pPr>
            <a:r>
              <a:rPr lang="zh-CN" altLang="en-US" dirty="0">
                <a:solidFill>
                  <a:schemeClr val="tx1">
                    <a:lumMod val="75000"/>
                    <a:lumOff val="25000"/>
                  </a:schemeClr>
                </a:solidFill>
                <a:cs typeface="+mn-ea"/>
                <a:sym typeface="+mn-lt"/>
              </a:rPr>
              <a:t>近十几年许多学者使用不同方法手段对蛇纹石成分进行研究，大量实验数据可获取</a:t>
            </a:r>
          </a:p>
        </p:txBody>
      </p:sp>
      <p:sp>
        <p:nvSpPr>
          <p:cNvPr id="22" name="TextBox 1210"/>
          <p:cNvSpPr/>
          <p:nvPr/>
        </p:nvSpPr>
        <p:spPr>
          <a:xfrm>
            <a:off x="5147828" y="2765297"/>
            <a:ext cx="1036181" cy="284693"/>
          </a:xfrm>
          <a:prstGeom prst="rect">
            <a:avLst/>
          </a:prstGeom>
          <a:noFill/>
          <a:ln w="9525">
            <a:noFill/>
            <a:miter/>
          </a:ln>
          <a:extLst>
            <a:ext uri="{909E8E84-426E-40DD-AFC4-6F175D3DCCD1}">
              <a14:hiddenFill xmlns:a14="http://schemas.microsoft.com/office/drawing/2010/main">
                <a:solidFill>
                  <a:srgbClr val="5CA0B4"/>
                </a:solidFill>
              </a14:hiddenFill>
            </a:ext>
          </a:extLst>
        </p:spPr>
        <p:txBody>
          <a:bodyPr wrap="none" lIns="68580" tIns="34290" rIns="68580" bIns="34290">
            <a:spAutoFit/>
          </a:bodyPr>
          <a:lstStyle/>
          <a:p>
            <a:pPr lvl="0" algn="ctr"/>
            <a:r>
              <a:rPr lang="zh-CN" altLang="en-US" b="1" dirty="0">
                <a:solidFill>
                  <a:srgbClr val="1B4367"/>
                </a:solidFill>
                <a:cs typeface="+mn-ea"/>
                <a:sym typeface="+mn-lt"/>
              </a:rPr>
              <a:t>技术可行性</a:t>
            </a:r>
          </a:p>
        </p:txBody>
      </p:sp>
      <p:sp>
        <p:nvSpPr>
          <p:cNvPr id="23" name="文本框 8"/>
          <p:cNvSpPr txBox="1"/>
          <p:nvPr/>
        </p:nvSpPr>
        <p:spPr>
          <a:xfrm>
            <a:off x="4880003" y="3040888"/>
            <a:ext cx="1571826" cy="634854"/>
          </a:xfrm>
          <a:prstGeom prst="rect">
            <a:avLst/>
          </a:prstGeom>
          <a:noFill/>
          <a:ln>
            <a:noFill/>
          </a:ln>
          <a:extLst>
            <a:ext uri="{909E8E84-426E-40DD-AFC4-6F175D3DCCD1}">
              <a14:hiddenFill xmlns:a14="http://schemas.microsoft.com/office/drawing/2010/main">
                <a:solidFill>
                  <a:srgbClr val="5CA0B4"/>
                </a:solidFill>
              </a14:hiddenFill>
            </a:ext>
          </a:extLst>
        </p:spPr>
        <p:txBody>
          <a:bodyPr wrap="square" lIns="68580" tIns="34290" rIns="68580" bIns="34290" rtlCol="0">
            <a:spAutoFit/>
          </a:bodyPr>
          <a:lstStyle/>
          <a:p>
            <a:pPr algn="ctr">
              <a:lnSpc>
                <a:spcPts val="1500"/>
              </a:lnSpc>
            </a:pPr>
            <a:r>
              <a:rPr lang="zh-CN" altLang="en-US" sz="1200" dirty="0">
                <a:solidFill>
                  <a:schemeClr val="tx1">
                    <a:lumMod val="75000"/>
                    <a:lumOff val="25000"/>
                  </a:schemeClr>
                </a:solidFill>
                <a:cs typeface="+mn-ea"/>
                <a:sym typeface="+mn-lt"/>
              </a:rPr>
              <a:t>机器学习、聚类分析等技术成熟且有广泛应用</a:t>
            </a:r>
          </a:p>
        </p:txBody>
      </p:sp>
      <p:cxnSp>
        <p:nvCxnSpPr>
          <p:cNvPr id="28" name="直接连接符 27"/>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9"/>
                                        </p:tgtEl>
                                        <p:attrNameLst>
                                          <p:attrName>ppt_y</p:attrName>
                                        </p:attrNameLst>
                                      </p:cBhvr>
                                      <p:tavLst>
                                        <p:tav tm="0">
                                          <p:val>
                                            <p:strVal val="#ppt_y"/>
                                          </p:val>
                                        </p:tav>
                                        <p:tav tm="100000">
                                          <p:val>
                                            <p:strVal val="#ppt_y"/>
                                          </p:val>
                                        </p:tav>
                                      </p:tavLst>
                                    </p:anim>
                                    <p:anim calcmode="lin" valueType="num">
                                      <p:cBhvr>
                                        <p:cTn id="9"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9"/>
                                        </p:tgtEl>
                                      </p:cBhvr>
                                    </p:animEffect>
                                  </p:childTnLst>
                                </p:cTn>
                              </p:par>
                            </p:childTnLst>
                          </p:cTn>
                        </p:par>
                        <p:par>
                          <p:cTn id="12" fill="hold">
                            <p:stCondLst>
                              <p:cond delay="700"/>
                            </p:stCondLst>
                            <p:childTnLst>
                              <p:par>
                                <p:cTn id="13" presetID="22" presetClass="entr" presetSubtype="8"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wipe(left)">
                                      <p:cBhvr>
                                        <p:cTn id="15" dur="300"/>
                                        <p:tgtEl>
                                          <p:spTgt spid="28"/>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par>
                          <p:cTn id="22" fill="hold">
                            <p:stCondLst>
                              <p:cond delay="1500"/>
                            </p:stCondLst>
                            <p:childTnLst>
                              <p:par>
                                <p:cTn id="23" presetID="53" presetClass="entr" presetSubtype="16"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fltVal val="0"/>
                                          </p:val>
                                        </p:tav>
                                        <p:tav tm="100000">
                                          <p:val>
                                            <p:strVal val="#ppt_h"/>
                                          </p:val>
                                        </p:tav>
                                      </p:tavLst>
                                    </p:anim>
                                    <p:animEffect transition="in" filter="fade">
                                      <p:cBhvr>
                                        <p:cTn id="27" dur="500"/>
                                        <p:tgtEl>
                                          <p:spTgt spid="20"/>
                                        </p:tgtEl>
                                      </p:cBhvr>
                                    </p:animEffect>
                                  </p:childTnLst>
                                </p:cTn>
                              </p:par>
                            </p:childTnLst>
                          </p:cTn>
                        </p:par>
                        <p:par>
                          <p:cTn id="28" fill="hold">
                            <p:stCondLst>
                              <p:cond delay="2000"/>
                            </p:stCondLst>
                            <p:childTnLst>
                              <p:par>
                                <p:cTn id="29" presetID="12" presetClass="entr" presetSubtype="8"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p:tgtEl>
                                          <p:spTgt spid="21"/>
                                        </p:tgtEl>
                                        <p:attrNameLst>
                                          <p:attrName>ppt_x</p:attrName>
                                        </p:attrNameLst>
                                      </p:cBhvr>
                                      <p:tavLst>
                                        <p:tav tm="0">
                                          <p:val>
                                            <p:strVal val="#ppt_x-#ppt_w*1.125000"/>
                                          </p:val>
                                        </p:tav>
                                        <p:tav tm="100000">
                                          <p:val>
                                            <p:strVal val="#ppt_x"/>
                                          </p:val>
                                        </p:tav>
                                      </p:tavLst>
                                    </p:anim>
                                    <p:animEffect transition="in" filter="wipe(right)">
                                      <p:cBhvr>
                                        <p:cTn id="32" dur="500"/>
                                        <p:tgtEl>
                                          <p:spTgt spid="21"/>
                                        </p:tgtEl>
                                      </p:cBhvr>
                                    </p:animEffect>
                                  </p:childTnLst>
                                </p:cTn>
                              </p:par>
                            </p:childTnLst>
                          </p:cTn>
                        </p:par>
                        <p:par>
                          <p:cTn id="33" fill="hold">
                            <p:stCondLst>
                              <p:cond delay="2500"/>
                            </p:stCondLst>
                            <p:childTnLst>
                              <p:par>
                                <p:cTn id="34" presetID="53" presetClass="entr" presetSubtype="16" fill="hold" nodeType="after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fltVal val="0"/>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animEffect transition="in" filter="fade">
                                      <p:cBhvr>
                                        <p:cTn id="38" dur="500"/>
                                        <p:tgtEl>
                                          <p:spTgt spid="7"/>
                                        </p:tgtEl>
                                      </p:cBhvr>
                                    </p:animEffect>
                                  </p:childTnLst>
                                </p:cTn>
                              </p:par>
                            </p:childTnLst>
                          </p:cTn>
                        </p:par>
                        <p:par>
                          <p:cTn id="39" fill="hold">
                            <p:stCondLst>
                              <p:cond delay="3000"/>
                            </p:stCondLst>
                            <p:childTnLst>
                              <p:par>
                                <p:cTn id="40" presetID="53" presetClass="entr" presetSubtype="16"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 calcmode="lin" valueType="num">
                                      <p:cBhvr>
                                        <p:cTn id="42" dur="500" fill="hold"/>
                                        <p:tgtEl>
                                          <p:spTgt spid="22"/>
                                        </p:tgtEl>
                                        <p:attrNameLst>
                                          <p:attrName>ppt_w</p:attrName>
                                        </p:attrNameLst>
                                      </p:cBhvr>
                                      <p:tavLst>
                                        <p:tav tm="0">
                                          <p:val>
                                            <p:fltVal val="0"/>
                                          </p:val>
                                        </p:tav>
                                        <p:tav tm="100000">
                                          <p:val>
                                            <p:strVal val="#ppt_w"/>
                                          </p:val>
                                        </p:tav>
                                      </p:tavLst>
                                    </p:anim>
                                    <p:anim calcmode="lin" valueType="num">
                                      <p:cBhvr>
                                        <p:cTn id="43" dur="500" fill="hold"/>
                                        <p:tgtEl>
                                          <p:spTgt spid="22"/>
                                        </p:tgtEl>
                                        <p:attrNameLst>
                                          <p:attrName>ppt_h</p:attrName>
                                        </p:attrNameLst>
                                      </p:cBhvr>
                                      <p:tavLst>
                                        <p:tav tm="0">
                                          <p:val>
                                            <p:fltVal val="0"/>
                                          </p:val>
                                        </p:tav>
                                        <p:tav tm="100000">
                                          <p:val>
                                            <p:strVal val="#ppt_h"/>
                                          </p:val>
                                        </p:tav>
                                      </p:tavLst>
                                    </p:anim>
                                    <p:animEffect transition="in" filter="fade">
                                      <p:cBhvr>
                                        <p:cTn id="44" dur="500"/>
                                        <p:tgtEl>
                                          <p:spTgt spid="22"/>
                                        </p:tgtEl>
                                      </p:cBhvr>
                                    </p:animEffect>
                                  </p:childTnLst>
                                </p:cTn>
                              </p:par>
                            </p:childTnLst>
                          </p:cTn>
                        </p:par>
                        <p:par>
                          <p:cTn id="45" fill="hold">
                            <p:stCondLst>
                              <p:cond delay="3500"/>
                            </p:stCondLst>
                            <p:childTnLst>
                              <p:par>
                                <p:cTn id="46" presetID="12" presetClass="entr" presetSubtype="8" fill="hold" grpId="0" nodeType="afterEffect">
                                  <p:stCondLst>
                                    <p:cond delay="0"/>
                                  </p:stCondLst>
                                  <p:childTnLst>
                                    <p:set>
                                      <p:cBhvr>
                                        <p:cTn id="47" dur="1" fill="hold">
                                          <p:stCondLst>
                                            <p:cond delay="0"/>
                                          </p:stCondLst>
                                        </p:cTn>
                                        <p:tgtEl>
                                          <p:spTgt spid="23"/>
                                        </p:tgtEl>
                                        <p:attrNameLst>
                                          <p:attrName>style.visibility</p:attrName>
                                        </p:attrNameLst>
                                      </p:cBhvr>
                                      <p:to>
                                        <p:strVal val="visible"/>
                                      </p:to>
                                    </p:set>
                                    <p:anim calcmode="lin" valueType="num">
                                      <p:cBhvr additive="base">
                                        <p:cTn id="48" dur="500"/>
                                        <p:tgtEl>
                                          <p:spTgt spid="23"/>
                                        </p:tgtEl>
                                        <p:attrNameLst>
                                          <p:attrName>ppt_x</p:attrName>
                                        </p:attrNameLst>
                                      </p:cBhvr>
                                      <p:tavLst>
                                        <p:tav tm="0">
                                          <p:val>
                                            <p:strVal val="#ppt_x-#ppt_w*1.125000"/>
                                          </p:val>
                                        </p:tav>
                                        <p:tav tm="100000">
                                          <p:val>
                                            <p:strVal val="#ppt_x"/>
                                          </p:val>
                                        </p:tav>
                                      </p:tavLst>
                                    </p:anim>
                                    <p:animEffect transition="in" filter="wipe(right)">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p:cNvGrpSpPr/>
          <p:nvPr/>
        </p:nvGrpSpPr>
        <p:grpSpPr>
          <a:xfrm>
            <a:off x="4670735" y="629138"/>
            <a:ext cx="2694623" cy="675703"/>
            <a:chOff x="6178340" y="1457775"/>
            <a:chExt cx="3592830" cy="900935"/>
          </a:xfrm>
        </p:grpSpPr>
        <p:sp>
          <p:nvSpPr>
            <p:cNvPr id="86" name="文本框 85"/>
            <p:cNvSpPr txBox="1"/>
            <p:nvPr/>
          </p:nvSpPr>
          <p:spPr>
            <a:xfrm>
              <a:off x="6178340" y="1746065"/>
              <a:ext cx="3592830" cy="612645"/>
            </a:xfrm>
            <a:prstGeom prst="rect">
              <a:avLst/>
            </a:prstGeom>
            <a:noFill/>
          </p:spPr>
          <p:txBody>
            <a:bodyPr wrap="square" rtlCol="0">
              <a:spAutoFit/>
            </a:bodyPr>
            <a:lstStyle/>
            <a:p>
              <a:pPr>
                <a:lnSpc>
                  <a:spcPts val="1500"/>
                </a:lnSpc>
              </a:pP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1</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12</a:t>
              </a:r>
              <a:r>
                <a:rPr lang="zh-CN" altLang="en-US" sz="1000" dirty="0">
                  <a:solidFill>
                    <a:schemeClr val="tx1">
                      <a:lumMod val="75000"/>
                      <a:lumOff val="25000"/>
                    </a:schemeClr>
                  </a:solidFill>
                  <a:cs typeface="+mn-ea"/>
                  <a:sym typeface="+mn-lt"/>
                </a:rPr>
                <a:t>日</a:t>
              </a: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1</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17</a:t>
              </a:r>
              <a:r>
                <a:rPr lang="zh-CN" altLang="en-US" sz="1000" dirty="0">
                  <a:solidFill>
                    <a:schemeClr val="tx1">
                      <a:lumMod val="75000"/>
                      <a:lumOff val="25000"/>
                    </a:schemeClr>
                  </a:solidFill>
                  <a:cs typeface="+mn-ea"/>
                  <a:sym typeface="+mn-lt"/>
                </a:rPr>
                <a:t>日，完成开题报告内容和答辩</a:t>
              </a:r>
              <a:r>
                <a:rPr lang="en-US" altLang="zh-CN" sz="1000" dirty="0">
                  <a:solidFill>
                    <a:schemeClr val="tx1">
                      <a:lumMod val="75000"/>
                      <a:lumOff val="25000"/>
                    </a:schemeClr>
                  </a:solidFill>
                  <a:cs typeface="+mn-ea"/>
                  <a:sym typeface="+mn-lt"/>
                </a:rPr>
                <a:t>ppt</a:t>
              </a:r>
              <a:endParaRPr lang="zh-CN" altLang="en-US" sz="1000" dirty="0">
                <a:solidFill>
                  <a:schemeClr val="tx1">
                    <a:lumMod val="75000"/>
                    <a:lumOff val="25000"/>
                  </a:schemeClr>
                </a:solidFill>
                <a:cs typeface="+mn-ea"/>
                <a:sym typeface="+mn-lt"/>
              </a:endParaRPr>
            </a:p>
          </p:txBody>
        </p:sp>
        <p:sp>
          <p:nvSpPr>
            <p:cNvPr id="8" name="TextBox 1956"/>
            <p:cNvSpPr/>
            <p:nvPr/>
          </p:nvSpPr>
          <p:spPr>
            <a:xfrm>
              <a:off x="6182151" y="1457775"/>
              <a:ext cx="1921944" cy="379590"/>
            </a:xfrm>
            <a:prstGeom prst="rect">
              <a:avLst/>
            </a:prstGeom>
            <a:noFill/>
            <a:ln w="9525">
              <a:noFill/>
              <a:miter/>
            </a:ln>
          </p:spPr>
          <p:txBody>
            <a:bodyPr wrap="square">
              <a:spAutoFit/>
            </a:bodyPr>
            <a:lstStyle/>
            <a:p>
              <a:pPr lvl="0" algn="l">
                <a:lnSpc>
                  <a:spcPts val="1500"/>
                </a:lnSpc>
              </a:pPr>
              <a:r>
                <a:rPr lang="zh-CN" altLang="en-US" b="1" dirty="0">
                  <a:solidFill>
                    <a:srgbClr val="1B4367"/>
                  </a:solidFill>
                  <a:cs typeface="+mn-ea"/>
                  <a:sym typeface="+mn-lt"/>
                </a:rPr>
                <a:t>前期准备</a:t>
              </a:r>
            </a:p>
          </p:txBody>
        </p:sp>
      </p:grpSp>
      <p:grpSp>
        <p:nvGrpSpPr>
          <p:cNvPr id="74" name="组合 73"/>
          <p:cNvGrpSpPr/>
          <p:nvPr/>
        </p:nvGrpSpPr>
        <p:grpSpPr>
          <a:xfrm>
            <a:off x="4672685" y="2398011"/>
            <a:ext cx="2694623" cy="885632"/>
            <a:chOff x="6180940" y="3828220"/>
            <a:chExt cx="3592830" cy="1180840"/>
          </a:xfrm>
        </p:grpSpPr>
        <p:sp>
          <p:nvSpPr>
            <p:cNvPr id="6" name="文本框 5"/>
            <p:cNvSpPr txBox="1"/>
            <p:nvPr/>
          </p:nvSpPr>
          <p:spPr>
            <a:xfrm>
              <a:off x="6180940" y="4116510"/>
              <a:ext cx="3592830" cy="892550"/>
            </a:xfrm>
            <a:prstGeom prst="rect">
              <a:avLst/>
            </a:prstGeom>
            <a:noFill/>
          </p:spPr>
          <p:txBody>
            <a:bodyPr wrap="square" rtlCol="0">
              <a:spAutoFit/>
            </a:bodyPr>
            <a:lstStyle/>
            <a:p>
              <a:pPr>
                <a:lnSpc>
                  <a:spcPts val="1500"/>
                </a:lnSpc>
              </a:pP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3</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a:t>
              </a:r>
              <a:r>
                <a:rPr lang="zh-CN" altLang="en-US" sz="1000" dirty="0">
                  <a:solidFill>
                    <a:schemeClr val="tx1">
                      <a:lumMod val="75000"/>
                      <a:lumOff val="25000"/>
                    </a:schemeClr>
                  </a:solidFill>
                  <a:cs typeface="+mn-ea"/>
                  <a:sym typeface="+mn-lt"/>
                </a:rPr>
                <a:t>日</a:t>
              </a: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4</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15</a:t>
              </a:r>
              <a:r>
                <a:rPr lang="zh-CN" altLang="en-US" sz="1000" dirty="0">
                  <a:solidFill>
                    <a:schemeClr val="tx1">
                      <a:lumMod val="75000"/>
                      <a:lumOff val="25000"/>
                    </a:schemeClr>
                  </a:solidFill>
                  <a:cs typeface="+mn-ea"/>
                  <a:sym typeface="+mn-lt"/>
                </a:rPr>
                <a:t>日，在已有数据的基础上，完成</a:t>
              </a:r>
              <a:r>
                <a:rPr lang="en-US" altLang="zh-CN" sz="1000" dirty="0">
                  <a:solidFill>
                    <a:schemeClr val="tx1">
                      <a:lumMod val="75000"/>
                      <a:lumOff val="25000"/>
                    </a:schemeClr>
                  </a:solidFill>
                  <a:cs typeface="+mn-ea"/>
                  <a:sym typeface="+mn-lt"/>
                </a:rPr>
                <a:t>SVM</a:t>
              </a:r>
              <a:r>
                <a:rPr lang="zh-CN" altLang="en-US" sz="1000" dirty="0">
                  <a:solidFill>
                    <a:schemeClr val="tx1">
                      <a:lumMod val="75000"/>
                      <a:lumOff val="25000"/>
                    </a:schemeClr>
                  </a:solidFill>
                  <a:cs typeface="+mn-ea"/>
                  <a:sym typeface="+mn-lt"/>
                </a:rPr>
                <a:t>和</a:t>
              </a:r>
              <a:r>
                <a:rPr lang="en-US" altLang="zh-CN" sz="1000" dirty="0" err="1">
                  <a:solidFill>
                    <a:schemeClr val="tx1">
                      <a:lumMod val="75000"/>
                      <a:lumOff val="25000"/>
                    </a:schemeClr>
                  </a:solidFill>
                  <a:cs typeface="+mn-ea"/>
                  <a:sym typeface="+mn-lt"/>
                </a:rPr>
                <a:t>Kmeans</a:t>
              </a:r>
              <a:r>
                <a:rPr lang="zh-CN" altLang="en-US" sz="1000" dirty="0">
                  <a:solidFill>
                    <a:schemeClr val="tx1">
                      <a:lumMod val="75000"/>
                      <a:lumOff val="25000"/>
                    </a:schemeClr>
                  </a:solidFill>
                  <a:cs typeface="+mn-ea"/>
                  <a:sym typeface="+mn-lt"/>
                </a:rPr>
                <a:t>的应用，并得出相关结果</a:t>
              </a:r>
              <a:endParaRPr lang="zh-CN" altLang="da-DK" sz="1000" dirty="0">
                <a:solidFill>
                  <a:schemeClr val="tx1">
                    <a:lumMod val="75000"/>
                    <a:lumOff val="25000"/>
                  </a:schemeClr>
                </a:solidFill>
                <a:cs typeface="+mn-ea"/>
                <a:sym typeface="+mn-lt"/>
              </a:endParaRPr>
            </a:p>
          </p:txBody>
        </p:sp>
        <p:sp>
          <p:nvSpPr>
            <p:cNvPr id="7" name="TextBox 1956"/>
            <p:cNvSpPr/>
            <p:nvPr/>
          </p:nvSpPr>
          <p:spPr>
            <a:xfrm>
              <a:off x="6184751" y="3828220"/>
              <a:ext cx="2288730" cy="379590"/>
            </a:xfrm>
            <a:prstGeom prst="rect">
              <a:avLst/>
            </a:prstGeom>
            <a:noFill/>
            <a:ln w="9525">
              <a:noFill/>
              <a:miter/>
            </a:ln>
          </p:spPr>
          <p:txBody>
            <a:bodyPr wrap="square">
              <a:spAutoFit/>
            </a:bodyPr>
            <a:lstStyle/>
            <a:p>
              <a:pPr lvl="0" algn="l">
                <a:lnSpc>
                  <a:spcPts val="1500"/>
                </a:lnSpc>
              </a:pPr>
              <a:r>
                <a:rPr lang="zh-CN" altLang="en-US" b="1" dirty="0">
                  <a:solidFill>
                    <a:srgbClr val="1B4367"/>
                  </a:solidFill>
                  <a:cs typeface="+mn-ea"/>
                  <a:sym typeface="+mn-lt"/>
                </a:rPr>
                <a:t>机器学习</a:t>
              </a:r>
              <a:r>
                <a:rPr lang="en-US" altLang="zh-CN" b="1" dirty="0">
                  <a:solidFill>
                    <a:srgbClr val="1B4367"/>
                  </a:solidFill>
                  <a:cs typeface="+mn-ea"/>
                  <a:sym typeface="+mn-lt"/>
                </a:rPr>
                <a:t>/</a:t>
              </a:r>
              <a:r>
                <a:rPr lang="zh-CN" altLang="en-US" b="1" dirty="0">
                  <a:solidFill>
                    <a:srgbClr val="1B4367"/>
                  </a:solidFill>
                  <a:cs typeface="+mn-ea"/>
                  <a:sym typeface="+mn-lt"/>
                </a:rPr>
                <a:t>聚类分析</a:t>
              </a:r>
            </a:p>
          </p:txBody>
        </p:sp>
      </p:grpSp>
      <p:cxnSp>
        <p:nvCxnSpPr>
          <p:cNvPr id="11" name="直接连接符 10"/>
          <p:cNvCxnSpPr>
            <a:stCxn id="56" idx="0"/>
          </p:cNvCxnSpPr>
          <p:nvPr/>
        </p:nvCxnSpPr>
        <p:spPr>
          <a:xfrm>
            <a:off x="4312404" y="729079"/>
            <a:ext cx="0" cy="3349214"/>
          </a:xfrm>
          <a:prstGeom prst="line">
            <a:avLst/>
          </a:prstGeom>
          <a:ln w="9525">
            <a:solidFill>
              <a:srgbClr val="1B4367"/>
            </a:solidFill>
            <a:prstDash val="solid"/>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a:xfrm>
            <a:off x="3964898" y="3155794"/>
            <a:ext cx="686184" cy="694853"/>
            <a:chOff x="5237224" y="4937554"/>
            <a:chExt cx="914912" cy="926470"/>
          </a:xfrm>
          <a:solidFill>
            <a:schemeClr val="bg1"/>
          </a:solidFill>
        </p:grpSpPr>
        <p:sp>
          <p:nvSpPr>
            <p:cNvPr id="65" name="Freeform 1812"/>
            <p:cNvSpPr/>
            <p:nvPr/>
          </p:nvSpPr>
          <p:spPr>
            <a:xfrm>
              <a:off x="5237224" y="4937554"/>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5" name="组合 24"/>
            <p:cNvGrpSpPr/>
            <p:nvPr/>
          </p:nvGrpSpPr>
          <p:grpSpPr>
            <a:xfrm>
              <a:off x="5474309" y="5184293"/>
              <a:ext cx="438631" cy="441328"/>
              <a:chOff x="5595939" y="4999038"/>
              <a:chExt cx="515938" cy="519113"/>
            </a:xfrm>
            <a:grpFill/>
          </p:grpSpPr>
          <p:sp>
            <p:nvSpPr>
              <p:cNvPr id="49" name="Freeform 5"/>
              <p:cNvSpPr/>
              <p:nvPr/>
            </p:nvSpPr>
            <p:spPr bwMode="auto">
              <a:xfrm>
                <a:off x="5599114" y="4999038"/>
                <a:ext cx="430213" cy="303213"/>
              </a:xfrm>
              <a:custGeom>
                <a:avLst/>
                <a:gdLst>
                  <a:gd name="T0" fmla="*/ 298 w 298"/>
                  <a:gd name="T1" fmla="*/ 81 h 211"/>
                  <a:gd name="T2" fmla="*/ 292 w 298"/>
                  <a:gd name="T3" fmla="*/ 0 h 211"/>
                  <a:gd name="T4" fmla="*/ 210 w 298"/>
                  <a:gd name="T5" fmla="*/ 30 h 211"/>
                  <a:gd name="T6" fmla="*/ 242 w 298"/>
                  <a:gd name="T7" fmla="*/ 48 h 211"/>
                  <a:gd name="T8" fmla="*/ 100 w 298"/>
                  <a:gd name="T9" fmla="*/ 155 h 211"/>
                  <a:gd name="T10" fmla="*/ 1 w 298"/>
                  <a:gd name="T11" fmla="*/ 169 h 211"/>
                  <a:gd name="T12" fmla="*/ 1 w 298"/>
                  <a:gd name="T13" fmla="*/ 188 h 211"/>
                  <a:gd name="T14" fmla="*/ 1 w 298"/>
                  <a:gd name="T15" fmla="*/ 207 h 211"/>
                  <a:gd name="T16" fmla="*/ 1 w 298"/>
                  <a:gd name="T17" fmla="*/ 207 h 211"/>
                  <a:gd name="T18" fmla="*/ 112 w 298"/>
                  <a:gd name="T19" fmla="*/ 191 h 211"/>
                  <a:gd name="T20" fmla="*/ 208 w 298"/>
                  <a:gd name="T21" fmla="*/ 139 h 211"/>
                  <a:gd name="T22" fmla="*/ 275 w 298"/>
                  <a:gd name="T23" fmla="*/ 68 h 211"/>
                  <a:gd name="T24" fmla="*/ 298 w 298"/>
                  <a:gd name="T25" fmla="*/ 8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8" h="211">
                    <a:moveTo>
                      <a:pt x="298" y="81"/>
                    </a:moveTo>
                    <a:cubicBezTo>
                      <a:pt x="292" y="0"/>
                      <a:pt x="292" y="0"/>
                      <a:pt x="292" y="0"/>
                    </a:cubicBezTo>
                    <a:cubicBezTo>
                      <a:pt x="210" y="30"/>
                      <a:pt x="210" y="30"/>
                      <a:pt x="210" y="30"/>
                    </a:cubicBezTo>
                    <a:cubicBezTo>
                      <a:pt x="242" y="48"/>
                      <a:pt x="242" y="48"/>
                      <a:pt x="242" y="48"/>
                    </a:cubicBezTo>
                    <a:cubicBezTo>
                      <a:pt x="208" y="98"/>
                      <a:pt x="160" y="133"/>
                      <a:pt x="100" y="155"/>
                    </a:cubicBezTo>
                    <a:cubicBezTo>
                      <a:pt x="46" y="174"/>
                      <a:pt x="1" y="169"/>
                      <a:pt x="1" y="169"/>
                    </a:cubicBezTo>
                    <a:cubicBezTo>
                      <a:pt x="1" y="188"/>
                      <a:pt x="1" y="188"/>
                      <a:pt x="1" y="188"/>
                    </a:cubicBezTo>
                    <a:cubicBezTo>
                      <a:pt x="1" y="207"/>
                      <a:pt x="1" y="207"/>
                      <a:pt x="1" y="207"/>
                    </a:cubicBezTo>
                    <a:cubicBezTo>
                      <a:pt x="1" y="207"/>
                      <a:pt x="0" y="207"/>
                      <a:pt x="1" y="207"/>
                    </a:cubicBezTo>
                    <a:cubicBezTo>
                      <a:pt x="8" y="207"/>
                      <a:pt x="55" y="211"/>
                      <a:pt x="112" y="191"/>
                    </a:cubicBezTo>
                    <a:cubicBezTo>
                      <a:pt x="147" y="179"/>
                      <a:pt x="180" y="161"/>
                      <a:pt x="208" y="139"/>
                    </a:cubicBezTo>
                    <a:cubicBezTo>
                      <a:pt x="234" y="119"/>
                      <a:pt x="256" y="95"/>
                      <a:pt x="275" y="68"/>
                    </a:cubicBezTo>
                    <a:lnTo>
                      <a:pt x="298" y="81"/>
                    </a:lnTo>
                    <a:close/>
                  </a:path>
                </a:pathLst>
              </a:custGeom>
              <a:grpFill/>
              <a:ln w="9525">
                <a:solidFill>
                  <a:schemeClr val="bg1"/>
                </a:solidFill>
                <a:round/>
              </a:ln>
            </p:spPr>
            <p:txBody>
              <a:bodyPr/>
              <a:lstStyle/>
              <a:p>
                <a:pPr>
                  <a:defRPr/>
                </a:pPr>
                <a:endParaRPr lang="zh-CN" altLang="en-US">
                  <a:cs typeface="+mn-ea"/>
                  <a:sym typeface="+mn-lt"/>
                </a:endParaRPr>
              </a:p>
            </p:txBody>
          </p:sp>
          <p:sp>
            <p:nvSpPr>
              <p:cNvPr id="50" name="Rectangle 6"/>
              <p:cNvSpPr>
                <a:spLocks noChangeArrowheads="1"/>
              </p:cNvSpPr>
              <p:nvPr/>
            </p:nvSpPr>
            <p:spPr bwMode="auto">
              <a:xfrm>
                <a:off x="5595939" y="5345113"/>
                <a:ext cx="100013" cy="109538"/>
              </a:xfrm>
              <a:prstGeom prst="rect">
                <a:avLst/>
              </a:prstGeom>
              <a:grpFill/>
              <a:ln w="9525">
                <a:solidFill>
                  <a:schemeClr val="bg1"/>
                </a:solidFill>
                <a:miter lim="800000"/>
                <a:headEnd/>
                <a:tailEnd/>
              </a:ln>
            </p:spPr>
            <p:txBody>
              <a:bodyPr/>
              <a:lstStyle/>
              <a:p>
                <a:pPr>
                  <a:defRPr/>
                </a:pPr>
                <a:endParaRPr lang="zh-CN" altLang="en-US">
                  <a:cs typeface="+mn-ea"/>
                  <a:sym typeface="+mn-lt"/>
                </a:endParaRPr>
              </a:p>
            </p:txBody>
          </p:sp>
          <p:sp>
            <p:nvSpPr>
              <p:cNvPr id="51" name="Freeform 7"/>
              <p:cNvSpPr/>
              <p:nvPr/>
            </p:nvSpPr>
            <p:spPr bwMode="auto">
              <a:xfrm>
                <a:off x="5713414" y="5310188"/>
                <a:ext cx="98425" cy="144463"/>
              </a:xfrm>
              <a:custGeom>
                <a:avLst/>
                <a:gdLst>
                  <a:gd name="T0" fmla="*/ 62 w 62"/>
                  <a:gd name="T1" fmla="*/ 0 h 91"/>
                  <a:gd name="T2" fmla="*/ 1 w 62"/>
                  <a:gd name="T3" fmla="*/ 0 h 91"/>
                  <a:gd name="T4" fmla="*/ 0 w 62"/>
                  <a:gd name="T5" fmla="*/ 91 h 91"/>
                  <a:gd name="T6" fmla="*/ 62 w 62"/>
                  <a:gd name="T7" fmla="*/ 91 h 91"/>
                  <a:gd name="T8" fmla="*/ 62 w 62"/>
                  <a:gd name="T9" fmla="*/ 0 h 91"/>
                </a:gdLst>
                <a:ahLst/>
                <a:cxnLst>
                  <a:cxn ang="0">
                    <a:pos x="T0" y="T1"/>
                  </a:cxn>
                  <a:cxn ang="0">
                    <a:pos x="T2" y="T3"/>
                  </a:cxn>
                  <a:cxn ang="0">
                    <a:pos x="T4" y="T5"/>
                  </a:cxn>
                  <a:cxn ang="0">
                    <a:pos x="T6" y="T7"/>
                  </a:cxn>
                  <a:cxn ang="0">
                    <a:pos x="T8" y="T9"/>
                  </a:cxn>
                </a:cxnLst>
                <a:rect l="0" t="0" r="r" b="b"/>
                <a:pathLst>
                  <a:path w="62" h="91">
                    <a:moveTo>
                      <a:pt x="62" y="0"/>
                    </a:moveTo>
                    <a:lnTo>
                      <a:pt x="1" y="0"/>
                    </a:lnTo>
                    <a:lnTo>
                      <a:pt x="0" y="91"/>
                    </a:lnTo>
                    <a:lnTo>
                      <a:pt x="62" y="91"/>
                    </a:lnTo>
                    <a:lnTo>
                      <a:pt x="62"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52" name="Rectangle 8"/>
              <p:cNvSpPr>
                <a:spLocks noChangeArrowheads="1"/>
              </p:cNvSpPr>
              <p:nvPr/>
            </p:nvSpPr>
            <p:spPr bwMode="auto">
              <a:xfrm>
                <a:off x="5830889" y="5260976"/>
                <a:ext cx="98425" cy="193675"/>
              </a:xfrm>
              <a:prstGeom prst="rect">
                <a:avLst/>
              </a:prstGeom>
              <a:grpFill/>
              <a:ln w="9525">
                <a:solidFill>
                  <a:schemeClr val="bg1"/>
                </a:solidFill>
                <a:miter lim="800000"/>
                <a:headEnd/>
                <a:tailEnd/>
              </a:ln>
            </p:spPr>
            <p:txBody>
              <a:bodyPr/>
              <a:lstStyle/>
              <a:p>
                <a:pPr>
                  <a:defRPr/>
                </a:pPr>
                <a:endParaRPr lang="zh-CN" altLang="en-US">
                  <a:cs typeface="+mn-ea"/>
                  <a:sym typeface="+mn-lt"/>
                </a:endParaRPr>
              </a:p>
            </p:txBody>
          </p:sp>
          <p:sp>
            <p:nvSpPr>
              <p:cNvPr id="53" name="Rectangle 9"/>
              <p:cNvSpPr>
                <a:spLocks noChangeArrowheads="1"/>
              </p:cNvSpPr>
              <p:nvPr/>
            </p:nvSpPr>
            <p:spPr bwMode="auto">
              <a:xfrm>
                <a:off x="5948364" y="5183188"/>
                <a:ext cx="98425" cy="271463"/>
              </a:xfrm>
              <a:prstGeom prst="rect">
                <a:avLst/>
              </a:prstGeom>
              <a:grpFill/>
              <a:ln w="9525">
                <a:solidFill>
                  <a:schemeClr val="bg1"/>
                </a:solidFill>
                <a:miter lim="800000"/>
                <a:headEnd/>
                <a:tailEnd/>
              </a:ln>
            </p:spPr>
            <p:txBody>
              <a:bodyPr/>
              <a:lstStyle/>
              <a:p>
                <a:pPr>
                  <a:defRPr/>
                </a:pPr>
                <a:endParaRPr lang="zh-CN" altLang="en-US">
                  <a:cs typeface="+mn-ea"/>
                  <a:sym typeface="+mn-lt"/>
                </a:endParaRPr>
              </a:p>
            </p:txBody>
          </p:sp>
          <p:sp>
            <p:nvSpPr>
              <p:cNvPr id="54" name="Freeform 10"/>
              <p:cNvSpPr/>
              <p:nvPr/>
            </p:nvSpPr>
            <p:spPr bwMode="auto">
              <a:xfrm>
                <a:off x="5595939" y="4999038"/>
                <a:ext cx="515938" cy="519113"/>
              </a:xfrm>
              <a:custGeom>
                <a:avLst/>
                <a:gdLst>
                  <a:gd name="T0" fmla="*/ 343 w 358"/>
                  <a:gd name="T1" fmla="*/ 0 h 361"/>
                  <a:gd name="T2" fmla="*/ 343 w 358"/>
                  <a:gd name="T3" fmla="*/ 0 h 361"/>
                  <a:gd name="T4" fmla="*/ 343 w 358"/>
                  <a:gd name="T5" fmla="*/ 0 h 361"/>
                  <a:gd name="T6" fmla="*/ 334 w 358"/>
                  <a:gd name="T7" fmla="*/ 4 h 361"/>
                  <a:gd name="T8" fmla="*/ 329 w 358"/>
                  <a:gd name="T9" fmla="*/ 14 h 361"/>
                  <a:gd name="T10" fmla="*/ 339 w 358"/>
                  <a:gd name="T11" fmla="*/ 28 h 361"/>
                  <a:gd name="T12" fmla="*/ 339 w 358"/>
                  <a:gd name="T13" fmla="*/ 343 h 361"/>
                  <a:gd name="T14" fmla="*/ 29 w 358"/>
                  <a:gd name="T15" fmla="*/ 343 h 361"/>
                  <a:gd name="T16" fmla="*/ 15 w 358"/>
                  <a:gd name="T17" fmla="*/ 332 h 361"/>
                  <a:gd name="T18" fmla="*/ 0 w 358"/>
                  <a:gd name="T19" fmla="*/ 347 h 361"/>
                  <a:gd name="T20" fmla="*/ 0 w 358"/>
                  <a:gd name="T21" fmla="*/ 348 h 361"/>
                  <a:gd name="T22" fmla="*/ 15 w 358"/>
                  <a:gd name="T23" fmla="*/ 361 h 361"/>
                  <a:gd name="T24" fmla="*/ 29 w 358"/>
                  <a:gd name="T25" fmla="*/ 351 h 361"/>
                  <a:gd name="T26" fmla="*/ 347 w 358"/>
                  <a:gd name="T27" fmla="*/ 351 h 361"/>
                  <a:gd name="T28" fmla="*/ 347 w 358"/>
                  <a:gd name="T29" fmla="*/ 28 h 361"/>
                  <a:gd name="T30" fmla="*/ 358 w 358"/>
                  <a:gd name="T31" fmla="*/ 14 h 361"/>
                  <a:gd name="T32" fmla="*/ 343 w 358"/>
                  <a:gd name="T33" fmla="*/ 0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8" h="361">
                    <a:moveTo>
                      <a:pt x="343" y="0"/>
                    </a:moveTo>
                    <a:cubicBezTo>
                      <a:pt x="343" y="0"/>
                      <a:pt x="343" y="0"/>
                      <a:pt x="343" y="0"/>
                    </a:cubicBezTo>
                    <a:cubicBezTo>
                      <a:pt x="343" y="0"/>
                      <a:pt x="343" y="0"/>
                      <a:pt x="343" y="0"/>
                    </a:cubicBezTo>
                    <a:cubicBezTo>
                      <a:pt x="339" y="0"/>
                      <a:pt x="336" y="1"/>
                      <a:pt x="334" y="4"/>
                    </a:cubicBezTo>
                    <a:cubicBezTo>
                      <a:pt x="331" y="6"/>
                      <a:pt x="329" y="10"/>
                      <a:pt x="329" y="14"/>
                    </a:cubicBezTo>
                    <a:cubicBezTo>
                      <a:pt x="329" y="21"/>
                      <a:pt x="333" y="26"/>
                      <a:pt x="339" y="28"/>
                    </a:cubicBezTo>
                    <a:cubicBezTo>
                      <a:pt x="339" y="343"/>
                      <a:pt x="339" y="343"/>
                      <a:pt x="339" y="343"/>
                    </a:cubicBezTo>
                    <a:cubicBezTo>
                      <a:pt x="29" y="343"/>
                      <a:pt x="29" y="343"/>
                      <a:pt x="29" y="343"/>
                    </a:cubicBezTo>
                    <a:cubicBezTo>
                      <a:pt x="27" y="337"/>
                      <a:pt x="21" y="332"/>
                      <a:pt x="15" y="332"/>
                    </a:cubicBezTo>
                    <a:cubicBezTo>
                      <a:pt x="7" y="332"/>
                      <a:pt x="0" y="339"/>
                      <a:pt x="0" y="347"/>
                    </a:cubicBezTo>
                    <a:cubicBezTo>
                      <a:pt x="0" y="347"/>
                      <a:pt x="0" y="348"/>
                      <a:pt x="0" y="348"/>
                    </a:cubicBezTo>
                    <a:cubicBezTo>
                      <a:pt x="1" y="355"/>
                      <a:pt x="7" y="361"/>
                      <a:pt x="15" y="361"/>
                    </a:cubicBezTo>
                    <a:cubicBezTo>
                      <a:pt x="21" y="361"/>
                      <a:pt x="27" y="357"/>
                      <a:pt x="29" y="351"/>
                    </a:cubicBezTo>
                    <a:cubicBezTo>
                      <a:pt x="347" y="351"/>
                      <a:pt x="347" y="351"/>
                      <a:pt x="347" y="351"/>
                    </a:cubicBezTo>
                    <a:cubicBezTo>
                      <a:pt x="347" y="28"/>
                      <a:pt x="347" y="28"/>
                      <a:pt x="347" y="28"/>
                    </a:cubicBezTo>
                    <a:cubicBezTo>
                      <a:pt x="353" y="27"/>
                      <a:pt x="358" y="21"/>
                      <a:pt x="358" y="14"/>
                    </a:cubicBezTo>
                    <a:cubicBezTo>
                      <a:pt x="358" y="6"/>
                      <a:pt x="351" y="0"/>
                      <a:pt x="343" y="0"/>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nvGrpSpPr>
          <p:cNvPr id="70" name="组合 69"/>
          <p:cNvGrpSpPr/>
          <p:nvPr/>
        </p:nvGrpSpPr>
        <p:grpSpPr>
          <a:xfrm>
            <a:off x="3964898" y="616022"/>
            <a:ext cx="686184" cy="694853"/>
            <a:chOff x="5237224" y="1404429"/>
            <a:chExt cx="914912" cy="926470"/>
          </a:xfrm>
          <a:solidFill>
            <a:schemeClr val="bg1"/>
          </a:solidFill>
        </p:grpSpPr>
        <p:sp>
          <p:nvSpPr>
            <p:cNvPr id="56" name="Freeform 1812"/>
            <p:cNvSpPr/>
            <p:nvPr/>
          </p:nvSpPr>
          <p:spPr>
            <a:xfrm>
              <a:off x="5237224" y="1404429"/>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6" name="组合 25"/>
            <p:cNvGrpSpPr/>
            <p:nvPr/>
          </p:nvGrpSpPr>
          <p:grpSpPr>
            <a:xfrm>
              <a:off x="5414070" y="1669201"/>
              <a:ext cx="567104" cy="386174"/>
              <a:chOff x="5842315" y="2065986"/>
              <a:chExt cx="592138" cy="403225"/>
            </a:xfrm>
            <a:grpFill/>
          </p:grpSpPr>
          <p:sp>
            <p:nvSpPr>
              <p:cNvPr id="36" name="Oval 14"/>
              <p:cNvSpPr>
                <a:spLocks noChangeArrowheads="1"/>
              </p:cNvSpPr>
              <p:nvPr/>
            </p:nvSpPr>
            <p:spPr bwMode="auto">
              <a:xfrm>
                <a:off x="6050278" y="2065986"/>
                <a:ext cx="174625" cy="171450"/>
              </a:xfrm>
              <a:prstGeom prst="ellipse">
                <a:avLst/>
              </a:prstGeom>
              <a:grpFill/>
              <a:ln w="9525">
                <a:solidFill>
                  <a:schemeClr val="bg1"/>
                </a:solidFill>
                <a:round/>
              </a:ln>
            </p:spPr>
            <p:txBody>
              <a:bodyPr/>
              <a:lstStyle/>
              <a:p>
                <a:pPr>
                  <a:defRPr/>
                </a:pPr>
                <a:endParaRPr lang="zh-CN" altLang="en-US">
                  <a:cs typeface="+mn-ea"/>
                  <a:sym typeface="+mn-lt"/>
                </a:endParaRPr>
              </a:p>
            </p:txBody>
          </p:sp>
          <p:grpSp>
            <p:nvGrpSpPr>
              <p:cNvPr id="37" name="组合 36"/>
              <p:cNvGrpSpPr/>
              <p:nvPr/>
            </p:nvGrpSpPr>
            <p:grpSpPr>
              <a:xfrm>
                <a:off x="5842315" y="2112023"/>
                <a:ext cx="592138" cy="357188"/>
                <a:chOff x="5543551" y="2033588"/>
                <a:chExt cx="592138" cy="357188"/>
              </a:xfrm>
              <a:grpFill/>
            </p:grpSpPr>
            <p:sp>
              <p:nvSpPr>
                <p:cNvPr id="38" name="Freeform 15"/>
                <p:cNvSpPr/>
                <p:nvPr/>
              </p:nvSpPr>
              <p:spPr bwMode="auto">
                <a:xfrm>
                  <a:off x="5681664" y="2170113"/>
                  <a:ext cx="315913" cy="220663"/>
                </a:xfrm>
                <a:custGeom>
                  <a:avLst/>
                  <a:gdLst>
                    <a:gd name="T0" fmla="*/ 219 w 219"/>
                    <a:gd name="T1" fmla="*/ 93 h 154"/>
                    <a:gd name="T2" fmla="*/ 156 w 219"/>
                    <a:gd name="T3" fmla="*/ 0 h 154"/>
                    <a:gd name="T4" fmla="*/ 110 w 219"/>
                    <a:gd name="T5" fmla="*/ 125 h 154"/>
                    <a:gd name="T6" fmla="*/ 64 w 219"/>
                    <a:gd name="T7" fmla="*/ 0 h 154"/>
                    <a:gd name="T8" fmla="*/ 0 w 219"/>
                    <a:gd name="T9" fmla="*/ 93 h 154"/>
                    <a:gd name="T10" fmla="*/ 0 w 219"/>
                    <a:gd name="T11" fmla="*/ 96 h 154"/>
                    <a:gd name="T12" fmla="*/ 0 w 219"/>
                    <a:gd name="T13" fmla="*/ 97 h 154"/>
                    <a:gd name="T14" fmla="*/ 110 w 219"/>
                    <a:gd name="T15" fmla="*/ 154 h 154"/>
                    <a:gd name="T16" fmla="*/ 219 w 219"/>
                    <a:gd name="T17" fmla="*/ 97 h 154"/>
                    <a:gd name="T18" fmla="*/ 219 w 219"/>
                    <a:gd name="T19" fmla="*/ 96 h 154"/>
                    <a:gd name="T20" fmla="*/ 219 w 219"/>
                    <a:gd name="T21" fmla="*/ 93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154">
                      <a:moveTo>
                        <a:pt x="219" y="93"/>
                      </a:moveTo>
                      <a:cubicBezTo>
                        <a:pt x="217" y="52"/>
                        <a:pt x="191" y="16"/>
                        <a:pt x="156" y="0"/>
                      </a:cubicBezTo>
                      <a:cubicBezTo>
                        <a:pt x="110" y="125"/>
                        <a:pt x="110" y="125"/>
                        <a:pt x="110" y="125"/>
                      </a:cubicBezTo>
                      <a:cubicBezTo>
                        <a:pt x="64" y="0"/>
                        <a:pt x="64" y="0"/>
                        <a:pt x="64" y="0"/>
                      </a:cubicBezTo>
                      <a:cubicBezTo>
                        <a:pt x="28" y="16"/>
                        <a:pt x="2" y="52"/>
                        <a:pt x="0" y="93"/>
                      </a:cubicBezTo>
                      <a:cubicBezTo>
                        <a:pt x="0" y="94"/>
                        <a:pt x="0" y="95"/>
                        <a:pt x="0" y="96"/>
                      </a:cubicBezTo>
                      <a:cubicBezTo>
                        <a:pt x="0" y="96"/>
                        <a:pt x="0" y="97"/>
                        <a:pt x="0" y="97"/>
                      </a:cubicBezTo>
                      <a:cubicBezTo>
                        <a:pt x="1" y="122"/>
                        <a:pt x="50" y="154"/>
                        <a:pt x="110" y="154"/>
                      </a:cubicBezTo>
                      <a:cubicBezTo>
                        <a:pt x="169" y="154"/>
                        <a:pt x="218" y="122"/>
                        <a:pt x="219" y="97"/>
                      </a:cubicBezTo>
                      <a:cubicBezTo>
                        <a:pt x="219" y="97"/>
                        <a:pt x="219" y="96"/>
                        <a:pt x="219" y="96"/>
                      </a:cubicBezTo>
                      <a:cubicBezTo>
                        <a:pt x="219" y="95"/>
                        <a:pt x="219" y="94"/>
                        <a:pt x="219" y="93"/>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39" name="Freeform 16"/>
                <p:cNvSpPr/>
                <p:nvPr/>
              </p:nvSpPr>
              <p:spPr bwMode="auto">
                <a:xfrm>
                  <a:off x="5824539" y="2165351"/>
                  <a:ext cx="31750" cy="31750"/>
                </a:xfrm>
                <a:custGeom>
                  <a:avLst/>
                  <a:gdLst>
                    <a:gd name="T0" fmla="*/ 10 w 20"/>
                    <a:gd name="T1" fmla="*/ 0 h 20"/>
                    <a:gd name="T2" fmla="*/ 20 w 20"/>
                    <a:gd name="T3" fmla="*/ 10 h 20"/>
                    <a:gd name="T4" fmla="*/ 10 w 20"/>
                    <a:gd name="T5" fmla="*/ 20 h 20"/>
                    <a:gd name="T6" fmla="*/ 0 w 20"/>
                    <a:gd name="T7" fmla="*/ 10 h 20"/>
                    <a:gd name="T8" fmla="*/ 10 w 20"/>
                    <a:gd name="T9" fmla="*/ 0 h 20"/>
                  </a:gdLst>
                  <a:ahLst/>
                  <a:cxnLst>
                    <a:cxn ang="0">
                      <a:pos x="T0" y="T1"/>
                    </a:cxn>
                    <a:cxn ang="0">
                      <a:pos x="T2" y="T3"/>
                    </a:cxn>
                    <a:cxn ang="0">
                      <a:pos x="T4" y="T5"/>
                    </a:cxn>
                    <a:cxn ang="0">
                      <a:pos x="T6" y="T7"/>
                    </a:cxn>
                    <a:cxn ang="0">
                      <a:pos x="T8" y="T9"/>
                    </a:cxn>
                  </a:cxnLst>
                  <a:rect l="0" t="0" r="r" b="b"/>
                  <a:pathLst>
                    <a:path w="20" h="20">
                      <a:moveTo>
                        <a:pt x="10" y="0"/>
                      </a:moveTo>
                      <a:lnTo>
                        <a:pt x="20" y="10"/>
                      </a:lnTo>
                      <a:lnTo>
                        <a:pt x="10" y="20"/>
                      </a:lnTo>
                      <a:lnTo>
                        <a:pt x="0" y="10"/>
                      </a:lnTo>
                      <a:lnTo>
                        <a:pt x="10"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0" name="Freeform 17"/>
                <p:cNvSpPr/>
                <p:nvPr/>
              </p:nvSpPr>
              <p:spPr bwMode="auto">
                <a:xfrm>
                  <a:off x="5816601" y="2197101"/>
                  <a:ext cx="46038" cy="117475"/>
                </a:xfrm>
                <a:custGeom>
                  <a:avLst/>
                  <a:gdLst>
                    <a:gd name="T0" fmla="*/ 21 w 29"/>
                    <a:gd name="T1" fmla="*/ 6 h 74"/>
                    <a:gd name="T2" fmla="*/ 15 w 29"/>
                    <a:gd name="T3" fmla="*/ 0 h 74"/>
                    <a:gd name="T4" fmla="*/ 7 w 29"/>
                    <a:gd name="T5" fmla="*/ 6 h 74"/>
                    <a:gd name="T6" fmla="*/ 0 w 29"/>
                    <a:gd name="T7" fmla="*/ 37 h 74"/>
                    <a:gd name="T8" fmla="*/ 15 w 29"/>
                    <a:gd name="T9" fmla="*/ 74 h 74"/>
                    <a:gd name="T10" fmla="*/ 29 w 29"/>
                    <a:gd name="T11" fmla="*/ 37 h 74"/>
                    <a:gd name="T12" fmla="*/ 21 w 29"/>
                    <a:gd name="T13" fmla="*/ 6 h 74"/>
                  </a:gdLst>
                  <a:ahLst/>
                  <a:cxnLst>
                    <a:cxn ang="0">
                      <a:pos x="T0" y="T1"/>
                    </a:cxn>
                    <a:cxn ang="0">
                      <a:pos x="T2" y="T3"/>
                    </a:cxn>
                    <a:cxn ang="0">
                      <a:pos x="T4" y="T5"/>
                    </a:cxn>
                    <a:cxn ang="0">
                      <a:pos x="T6" y="T7"/>
                    </a:cxn>
                    <a:cxn ang="0">
                      <a:pos x="T8" y="T9"/>
                    </a:cxn>
                    <a:cxn ang="0">
                      <a:pos x="T10" y="T11"/>
                    </a:cxn>
                    <a:cxn ang="0">
                      <a:pos x="T12" y="T13"/>
                    </a:cxn>
                  </a:cxnLst>
                  <a:rect l="0" t="0" r="r" b="b"/>
                  <a:pathLst>
                    <a:path w="29" h="74">
                      <a:moveTo>
                        <a:pt x="21" y="6"/>
                      </a:moveTo>
                      <a:lnTo>
                        <a:pt x="15" y="0"/>
                      </a:lnTo>
                      <a:lnTo>
                        <a:pt x="7" y="6"/>
                      </a:lnTo>
                      <a:lnTo>
                        <a:pt x="0" y="37"/>
                      </a:lnTo>
                      <a:lnTo>
                        <a:pt x="15" y="74"/>
                      </a:lnTo>
                      <a:lnTo>
                        <a:pt x="29" y="37"/>
                      </a:lnTo>
                      <a:lnTo>
                        <a:pt x="21" y="6"/>
                      </a:lnTo>
                      <a:close/>
                    </a:path>
                  </a:pathLst>
                </a:custGeom>
                <a:grpFill/>
                <a:ln w="9525">
                  <a:solidFill>
                    <a:schemeClr val="bg1"/>
                  </a:solidFill>
                  <a:round/>
                </a:ln>
              </p:spPr>
              <p:txBody>
                <a:bodyPr/>
                <a:lstStyle/>
                <a:p>
                  <a:pPr>
                    <a:defRPr/>
                  </a:pPr>
                  <a:endParaRPr lang="zh-CN" altLang="en-US">
                    <a:cs typeface="+mn-ea"/>
                    <a:sym typeface="+mn-lt"/>
                  </a:endParaRPr>
                </a:p>
              </p:txBody>
            </p:sp>
            <p:sp>
              <p:nvSpPr>
                <p:cNvPr id="41" name="Freeform 18"/>
                <p:cNvSpPr/>
                <p:nvPr/>
              </p:nvSpPr>
              <p:spPr bwMode="auto">
                <a:xfrm>
                  <a:off x="5956301" y="2033588"/>
                  <a:ext cx="127000" cy="125413"/>
                </a:xfrm>
                <a:custGeom>
                  <a:avLst/>
                  <a:gdLst>
                    <a:gd name="T0" fmla="*/ 88 w 88"/>
                    <a:gd name="T1" fmla="*/ 44 h 87"/>
                    <a:gd name="T2" fmla="*/ 44 w 88"/>
                    <a:gd name="T3" fmla="*/ 0 h 87"/>
                    <a:gd name="T4" fmla="*/ 0 w 88"/>
                    <a:gd name="T5" fmla="*/ 44 h 87"/>
                    <a:gd name="T6" fmla="*/ 44 w 88"/>
                    <a:gd name="T7" fmla="*/ 87 h 87"/>
                    <a:gd name="T8" fmla="*/ 88 w 88"/>
                    <a:gd name="T9" fmla="*/ 44 h 87"/>
                  </a:gdLst>
                  <a:ahLst/>
                  <a:cxnLst>
                    <a:cxn ang="0">
                      <a:pos x="T0" y="T1"/>
                    </a:cxn>
                    <a:cxn ang="0">
                      <a:pos x="T2" y="T3"/>
                    </a:cxn>
                    <a:cxn ang="0">
                      <a:pos x="T4" y="T5"/>
                    </a:cxn>
                    <a:cxn ang="0">
                      <a:pos x="T6" y="T7"/>
                    </a:cxn>
                    <a:cxn ang="0">
                      <a:pos x="T8" y="T9"/>
                    </a:cxn>
                  </a:cxnLst>
                  <a:rect l="0" t="0" r="r" b="b"/>
                  <a:pathLst>
                    <a:path w="88" h="87">
                      <a:moveTo>
                        <a:pt x="88" y="44"/>
                      </a:moveTo>
                      <a:cubicBezTo>
                        <a:pt x="88" y="19"/>
                        <a:pt x="68" y="0"/>
                        <a:pt x="44" y="0"/>
                      </a:cubicBezTo>
                      <a:cubicBezTo>
                        <a:pt x="20" y="0"/>
                        <a:pt x="1" y="19"/>
                        <a:pt x="0" y="44"/>
                      </a:cubicBezTo>
                      <a:cubicBezTo>
                        <a:pt x="0" y="68"/>
                        <a:pt x="20" y="87"/>
                        <a:pt x="44" y="87"/>
                      </a:cubicBezTo>
                      <a:cubicBezTo>
                        <a:pt x="68" y="87"/>
                        <a:pt x="88" y="68"/>
                        <a:pt x="88" y="44"/>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42" name="Freeform 19"/>
                <p:cNvSpPr/>
                <p:nvPr/>
              </p:nvSpPr>
              <p:spPr bwMode="auto">
                <a:xfrm>
                  <a:off x="6008689" y="2162176"/>
                  <a:ext cx="23813" cy="23813"/>
                </a:xfrm>
                <a:custGeom>
                  <a:avLst/>
                  <a:gdLst>
                    <a:gd name="T0" fmla="*/ 7 w 15"/>
                    <a:gd name="T1" fmla="*/ 0 h 15"/>
                    <a:gd name="T2" fmla="*/ 15 w 15"/>
                    <a:gd name="T3" fmla="*/ 7 h 15"/>
                    <a:gd name="T4" fmla="*/ 7 w 15"/>
                    <a:gd name="T5" fmla="*/ 15 h 15"/>
                    <a:gd name="T6" fmla="*/ 0 w 15"/>
                    <a:gd name="T7" fmla="*/ 7 h 15"/>
                    <a:gd name="T8" fmla="*/ 7 w 15"/>
                    <a:gd name="T9" fmla="*/ 0 h 15"/>
                  </a:gdLst>
                  <a:ahLst/>
                  <a:cxnLst>
                    <a:cxn ang="0">
                      <a:pos x="T0" y="T1"/>
                    </a:cxn>
                    <a:cxn ang="0">
                      <a:pos x="T2" y="T3"/>
                    </a:cxn>
                    <a:cxn ang="0">
                      <a:pos x="T4" y="T5"/>
                    </a:cxn>
                    <a:cxn ang="0">
                      <a:pos x="T6" y="T7"/>
                    </a:cxn>
                    <a:cxn ang="0">
                      <a:pos x="T8" y="T9"/>
                    </a:cxn>
                  </a:cxnLst>
                  <a:rect l="0" t="0" r="r" b="b"/>
                  <a:pathLst>
                    <a:path w="15" h="15">
                      <a:moveTo>
                        <a:pt x="7" y="0"/>
                      </a:moveTo>
                      <a:lnTo>
                        <a:pt x="15" y="7"/>
                      </a:lnTo>
                      <a:lnTo>
                        <a:pt x="7" y="15"/>
                      </a:lnTo>
                      <a:lnTo>
                        <a:pt x="0" y="7"/>
                      </a:lnTo>
                      <a:lnTo>
                        <a:pt x="7"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3" name="Freeform 20"/>
                <p:cNvSpPr/>
                <p:nvPr/>
              </p:nvSpPr>
              <p:spPr bwMode="auto">
                <a:xfrm>
                  <a:off x="6003926" y="2185988"/>
                  <a:ext cx="33338" cy="85725"/>
                </a:xfrm>
                <a:custGeom>
                  <a:avLst/>
                  <a:gdLst>
                    <a:gd name="T0" fmla="*/ 16 w 21"/>
                    <a:gd name="T1" fmla="*/ 4 h 54"/>
                    <a:gd name="T2" fmla="*/ 10 w 21"/>
                    <a:gd name="T3" fmla="*/ 0 h 54"/>
                    <a:gd name="T4" fmla="*/ 6 w 21"/>
                    <a:gd name="T5" fmla="*/ 4 h 54"/>
                    <a:gd name="T6" fmla="*/ 0 w 21"/>
                    <a:gd name="T7" fmla="*/ 27 h 54"/>
                    <a:gd name="T8" fmla="*/ 10 w 21"/>
                    <a:gd name="T9" fmla="*/ 54 h 54"/>
                    <a:gd name="T10" fmla="*/ 21 w 21"/>
                    <a:gd name="T11" fmla="*/ 27 h 54"/>
                    <a:gd name="T12" fmla="*/ 16 w 21"/>
                    <a:gd name="T13" fmla="*/ 4 h 54"/>
                  </a:gdLst>
                  <a:ahLst/>
                  <a:cxnLst>
                    <a:cxn ang="0">
                      <a:pos x="T0" y="T1"/>
                    </a:cxn>
                    <a:cxn ang="0">
                      <a:pos x="T2" y="T3"/>
                    </a:cxn>
                    <a:cxn ang="0">
                      <a:pos x="T4" y="T5"/>
                    </a:cxn>
                    <a:cxn ang="0">
                      <a:pos x="T6" y="T7"/>
                    </a:cxn>
                    <a:cxn ang="0">
                      <a:pos x="T8" y="T9"/>
                    </a:cxn>
                    <a:cxn ang="0">
                      <a:pos x="T10" y="T11"/>
                    </a:cxn>
                    <a:cxn ang="0">
                      <a:pos x="T12" y="T13"/>
                    </a:cxn>
                  </a:cxnLst>
                  <a:rect l="0" t="0" r="r" b="b"/>
                  <a:pathLst>
                    <a:path w="21" h="54">
                      <a:moveTo>
                        <a:pt x="16" y="4"/>
                      </a:moveTo>
                      <a:lnTo>
                        <a:pt x="10" y="0"/>
                      </a:lnTo>
                      <a:lnTo>
                        <a:pt x="6" y="4"/>
                      </a:lnTo>
                      <a:lnTo>
                        <a:pt x="0" y="27"/>
                      </a:lnTo>
                      <a:lnTo>
                        <a:pt x="10" y="54"/>
                      </a:lnTo>
                      <a:lnTo>
                        <a:pt x="21" y="27"/>
                      </a:lnTo>
                      <a:lnTo>
                        <a:pt x="16" y="4"/>
                      </a:lnTo>
                      <a:close/>
                    </a:path>
                  </a:pathLst>
                </a:custGeom>
                <a:grpFill/>
                <a:ln w="9525">
                  <a:solidFill>
                    <a:schemeClr val="bg1"/>
                  </a:solidFill>
                  <a:round/>
                </a:ln>
              </p:spPr>
              <p:txBody>
                <a:bodyPr/>
                <a:lstStyle/>
                <a:p>
                  <a:pPr>
                    <a:defRPr/>
                  </a:pPr>
                  <a:endParaRPr lang="zh-CN" altLang="en-US">
                    <a:cs typeface="+mn-ea"/>
                    <a:sym typeface="+mn-lt"/>
                  </a:endParaRPr>
                </a:p>
              </p:txBody>
            </p:sp>
            <p:sp>
              <p:nvSpPr>
                <p:cNvPr id="44" name="Oval 21"/>
                <p:cNvSpPr>
                  <a:spLocks noChangeArrowheads="1"/>
                </p:cNvSpPr>
                <p:nvPr/>
              </p:nvSpPr>
              <p:spPr bwMode="auto">
                <a:xfrm>
                  <a:off x="5594351" y="2033588"/>
                  <a:ext cx="127000" cy="125413"/>
                </a:xfrm>
                <a:prstGeom prst="ellipse">
                  <a:avLst/>
                </a:prstGeom>
                <a:grpFill/>
                <a:ln w="9525">
                  <a:solidFill>
                    <a:schemeClr val="bg1"/>
                  </a:solidFill>
                  <a:round/>
                </a:ln>
              </p:spPr>
              <p:txBody>
                <a:bodyPr/>
                <a:lstStyle/>
                <a:p>
                  <a:pPr>
                    <a:defRPr/>
                  </a:pPr>
                  <a:endParaRPr lang="zh-CN" altLang="en-US">
                    <a:cs typeface="+mn-ea"/>
                    <a:sym typeface="+mn-lt"/>
                  </a:endParaRPr>
                </a:p>
              </p:txBody>
            </p:sp>
            <p:sp>
              <p:nvSpPr>
                <p:cNvPr id="45" name="Freeform 22"/>
                <p:cNvSpPr/>
                <p:nvPr/>
              </p:nvSpPr>
              <p:spPr bwMode="auto">
                <a:xfrm>
                  <a:off x="5543551" y="2165351"/>
                  <a:ext cx="190500" cy="161925"/>
                </a:xfrm>
                <a:custGeom>
                  <a:avLst/>
                  <a:gdLst>
                    <a:gd name="T0" fmla="*/ 91 w 133"/>
                    <a:gd name="T1" fmla="*/ 100 h 112"/>
                    <a:gd name="T2" fmla="*/ 91 w 133"/>
                    <a:gd name="T3" fmla="*/ 100 h 112"/>
                    <a:gd name="T4" fmla="*/ 91 w 133"/>
                    <a:gd name="T5" fmla="*/ 99 h 112"/>
                    <a:gd name="T6" fmla="*/ 91 w 133"/>
                    <a:gd name="T7" fmla="*/ 96 h 112"/>
                    <a:gd name="T8" fmla="*/ 133 w 133"/>
                    <a:gd name="T9" fmla="*/ 13 h 112"/>
                    <a:gd name="T10" fmla="*/ 114 w 133"/>
                    <a:gd name="T11" fmla="*/ 0 h 112"/>
                    <a:gd name="T12" fmla="*/ 80 w 133"/>
                    <a:gd name="T13" fmla="*/ 92 h 112"/>
                    <a:gd name="T14" fmla="*/ 47 w 133"/>
                    <a:gd name="T15" fmla="*/ 0 h 112"/>
                    <a:gd name="T16" fmla="*/ 0 w 133"/>
                    <a:gd name="T17" fmla="*/ 68 h 112"/>
                    <a:gd name="T18" fmla="*/ 0 w 133"/>
                    <a:gd name="T19" fmla="*/ 70 h 112"/>
                    <a:gd name="T20" fmla="*/ 0 w 133"/>
                    <a:gd name="T21" fmla="*/ 71 h 112"/>
                    <a:gd name="T22" fmla="*/ 80 w 133"/>
                    <a:gd name="T23" fmla="*/ 112 h 112"/>
                    <a:gd name="T24" fmla="*/ 94 w 133"/>
                    <a:gd name="T25" fmla="*/ 112 h 112"/>
                    <a:gd name="T26" fmla="*/ 91 w 133"/>
                    <a:gd name="T27" fmla="*/ 10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112">
                      <a:moveTo>
                        <a:pt x="91" y="100"/>
                      </a:moveTo>
                      <a:cubicBezTo>
                        <a:pt x="91" y="100"/>
                        <a:pt x="91" y="100"/>
                        <a:pt x="91" y="100"/>
                      </a:cubicBezTo>
                      <a:cubicBezTo>
                        <a:pt x="91" y="100"/>
                        <a:pt x="91" y="100"/>
                        <a:pt x="91" y="99"/>
                      </a:cubicBezTo>
                      <a:cubicBezTo>
                        <a:pt x="91" y="98"/>
                        <a:pt x="91" y="97"/>
                        <a:pt x="91" y="96"/>
                      </a:cubicBezTo>
                      <a:cubicBezTo>
                        <a:pt x="93" y="63"/>
                        <a:pt x="108" y="33"/>
                        <a:pt x="133" y="13"/>
                      </a:cubicBezTo>
                      <a:cubicBezTo>
                        <a:pt x="127" y="8"/>
                        <a:pt x="121" y="4"/>
                        <a:pt x="114" y="0"/>
                      </a:cubicBezTo>
                      <a:cubicBezTo>
                        <a:pt x="80" y="92"/>
                        <a:pt x="80" y="92"/>
                        <a:pt x="80" y="92"/>
                      </a:cubicBezTo>
                      <a:cubicBezTo>
                        <a:pt x="47" y="0"/>
                        <a:pt x="47" y="0"/>
                        <a:pt x="47" y="0"/>
                      </a:cubicBezTo>
                      <a:cubicBezTo>
                        <a:pt x="21" y="12"/>
                        <a:pt x="2" y="38"/>
                        <a:pt x="0" y="68"/>
                      </a:cubicBezTo>
                      <a:cubicBezTo>
                        <a:pt x="0" y="69"/>
                        <a:pt x="0" y="70"/>
                        <a:pt x="0" y="70"/>
                      </a:cubicBezTo>
                      <a:cubicBezTo>
                        <a:pt x="0" y="71"/>
                        <a:pt x="0" y="71"/>
                        <a:pt x="0" y="71"/>
                      </a:cubicBezTo>
                      <a:cubicBezTo>
                        <a:pt x="1" y="90"/>
                        <a:pt x="37" y="112"/>
                        <a:pt x="80" y="112"/>
                      </a:cubicBezTo>
                      <a:cubicBezTo>
                        <a:pt x="85" y="112"/>
                        <a:pt x="89" y="112"/>
                        <a:pt x="94" y="112"/>
                      </a:cubicBezTo>
                      <a:cubicBezTo>
                        <a:pt x="92" y="108"/>
                        <a:pt x="91" y="104"/>
                        <a:pt x="91" y="100"/>
                      </a:cubicBezTo>
                      <a:close/>
                    </a:path>
                  </a:pathLst>
                </a:custGeom>
                <a:grpFill/>
                <a:ln w="9525">
                  <a:solidFill>
                    <a:schemeClr val="bg1"/>
                  </a:solidFill>
                  <a:round/>
                </a:ln>
              </p:spPr>
              <p:txBody>
                <a:bodyPr/>
                <a:lstStyle/>
                <a:p>
                  <a:pPr>
                    <a:defRPr/>
                  </a:pPr>
                  <a:endParaRPr lang="zh-CN" altLang="en-US">
                    <a:cs typeface="+mn-ea"/>
                    <a:sym typeface="+mn-lt"/>
                  </a:endParaRPr>
                </a:p>
              </p:txBody>
            </p:sp>
            <p:sp>
              <p:nvSpPr>
                <p:cNvPr id="46" name="Freeform 23"/>
                <p:cNvSpPr/>
                <p:nvPr/>
              </p:nvSpPr>
              <p:spPr bwMode="auto">
                <a:xfrm>
                  <a:off x="5646739" y="2162176"/>
                  <a:ext cx="23813" cy="23813"/>
                </a:xfrm>
                <a:custGeom>
                  <a:avLst/>
                  <a:gdLst>
                    <a:gd name="T0" fmla="*/ 7 w 15"/>
                    <a:gd name="T1" fmla="*/ 0 h 15"/>
                    <a:gd name="T2" fmla="*/ 15 w 15"/>
                    <a:gd name="T3" fmla="*/ 7 h 15"/>
                    <a:gd name="T4" fmla="*/ 7 w 15"/>
                    <a:gd name="T5" fmla="*/ 15 h 15"/>
                    <a:gd name="T6" fmla="*/ 0 w 15"/>
                    <a:gd name="T7" fmla="*/ 7 h 15"/>
                    <a:gd name="T8" fmla="*/ 7 w 15"/>
                    <a:gd name="T9" fmla="*/ 0 h 15"/>
                  </a:gdLst>
                  <a:ahLst/>
                  <a:cxnLst>
                    <a:cxn ang="0">
                      <a:pos x="T0" y="T1"/>
                    </a:cxn>
                    <a:cxn ang="0">
                      <a:pos x="T2" y="T3"/>
                    </a:cxn>
                    <a:cxn ang="0">
                      <a:pos x="T4" y="T5"/>
                    </a:cxn>
                    <a:cxn ang="0">
                      <a:pos x="T6" y="T7"/>
                    </a:cxn>
                    <a:cxn ang="0">
                      <a:pos x="T8" y="T9"/>
                    </a:cxn>
                  </a:cxnLst>
                  <a:rect l="0" t="0" r="r" b="b"/>
                  <a:pathLst>
                    <a:path w="15" h="15">
                      <a:moveTo>
                        <a:pt x="7" y="0"/>
                      </a:moveTo>
                      <a:lnTo>
                        <a:pt x="15" y="7"/>
                      </a:lnTo>
                      <a:lnTo>
                        <a:pt x="7" y="15"/>
                      </a:lnTo>
                      <a:lnTo>
                        <a:pt x="0" y="7"/>
                      </a:lnTo>
                      <a:lnTo>
                        <a:pt x="7"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47" name="Freeform 24"/>
                <p:cNvSpPr/>
                <p:nvPr/>
              </p:nvSpPr>
              <p:spPr bwMode="auto">
                <a:xfrm>
                  <a:off x="5641976" y="2185988"/>
                  <a:ext cx="33338" cy="85725"/>
                </a:xfrm>
                <a:custGeom>
                  <a:avLst/>
                  <a:gdLst>
                    <a:gd name="T0" fmla="*/ 16 w 21"/>
                    <a:gd name="T1" fmla="*/ 4 h 54"/>
                    <a:gd name="T2" fmla="*/ 10 w 21"/>
                    <a:gd name="T3" fmla="*/ 0 h 54"/>
                    <a:gd name="T4" fmla="*/ 5 w 21"/>
                    <a:gd name="T5" fmla="*/ 4 h 54"/>
                    <a:gd name="T6" fmla="*/ 0 w 21"/>
                    <a:gd name="T7" fmla="*/ 27 h 54"/>
                    <a:gd name="T8" fmla="*/ 10 w 21"/>
                    <a:gd name="T9" fmla="*/ 54 h 54"/>
                    <a:gd name="T10" fmla="*/ 21 w 21"/>
                    <a:gd name="T11" fmla="*/ 27 h 54"/>
                    <a:gd name="T12" fmla="*/ 16 w 21"/>
                    <a:gd name="T13" fmla="*/ 4 h 54"/>
                  </a:gdLst>
                  <a:ahLst/>
                  <a:cxnLst>
                    <a:cxn ang="0">
                      <a:pos x="T0" y="T1"/>
                    </a:cxn>
                    <a:cxn ang="0">
                      <a:pos x="T2" y="T3"/>
                    </a:cxn>
                    <a:cxn ang="0">
                      <a:pos x="T4" y="T5"/>
                    </a:cxn>
                    <a:cxn ang="0">
                      <a:pos x="T6" y="T7"/>
                    </a:cxn>
                    <a:cxn ang="0">
                      <a:pos x="T8" y="T9"/>
                    </a:cxn>
                    <a:cxn ang="0">
                      <a:pos x="T10" y="T11"/>
                    </a:cxn>
                    <a:cxn ang="0">
                      <a:pos x="T12" y="T13"/>
                    </a:cxn>
                  </a:cxnLst>
                  <a:rect l="0" t="0" r="r" b="b"/>
                  <a:pathLst>
                    <a:path w="21" h="54">
                      <a:moveTo>
                        <a:pt x="16" y="4"/>
                      </a:moveTo>
                      <a:lnTo>
                        <a:pt x="10" y="0"/>
                      </a:lnTo>
                      <a:lnTo>
                        <a:pt x="5" y="4"/>
                      </a:lnTo>
                      <a:lnTo>
                        <a:pt x="0" y="27"/>
                      </a:lnTo>
                      <a:lnTo>
                        <a:pt x="10" y="54"/>
                      </a:lnTo>
                      <a:lnTo>
                        <a:pt x="21" y="27"/>
                      </a:lnTo>
                      <a:lnTo>
                        <a:pt x="16" y="4"/>
                      </a:lnTo>
                      <a:close/>
                    </a:path>
                  </a:pathLst>
                </a:custGeom>
                <a:grpFill/>
                <a:ln w="9525">
                  <a:solidFill>
                    <a:schemeClr val="bg1"/>
                  </a:solidFill>
                  <a:round/>
                </a:ln>
              </p:spPr>
              <p:txBody>
                <a:bodyPr/>
                <a:lstStyle/>
                <a:p>
                  <a:pPr>
                    <a:defRPr/>
                  </a:pPr>
                  <a:endParaRPr lang="zh-CN" altLang="en-US">
                    <a:cs typeface="+mn-ea"/>
                    <a:sym typeface="+mn-lt"/>
                  </a:endParaRPr>
                </a:p>
              </p:txBody>
            </p:sp>
            <p:sp>
              <p:nvSpPr>
                <p:cNvPr id="48" name="Freeform 25"/>
                <p:cNvSpPr/>
                <p:nvPr/>
              </p:nvSpPr>
              <p:spPr bwMode="auto">
                <a:xfrm>
                  <a:off x="5943601" y="2165351"/>
                  <a:ext cx="192088" cy="161925"/>
                </a:xfrm>
                <a:custGeom>
                  <a:avLst/>
                  <a:gdLst>
                    <a:gd name="T0" fmla="*/ 133 w 133"/>
                    <a:gd name="T1" fmla="*/ 69 h 113"/>
                    <a:gd name="T2" fmla="*/ 87 w 133"/>
                    <a:gd name="T3" fmla="*/ 0 h 113"/>
                    <a:gd name="T4" fmla="*/ 53 w 133"/>
                    <a:gd name="T5" fmla="*/ 92 h 113"/>
                    <a:gd name="T6" fmla="*/ 20 w 133"/>
                    <a:gd name="T7" fmla="*/ 0 h 113"/>
                    <a:gd name="T8" fmla="*/ 0 w 133"/>
                    <a:gd name="T9" fmla="*/ 13 h 113"/>
                    <a:gd name="T10" fmla="*/ 22 w 133"/>
                    <a:gd name="T11" fmla="*/ 37 h 113"/>
                    <a:gd name="T12" fmla="*/ 43 w 133"/>
                    <a:gd name="T13" fmla="*/ 96 h 113"/>
                    <a:gd name="T14" fmla="*/ 43 w 133"/>
                    <a:gd name="T15" fmla="*/ 99 h 113"/>
                    <a:gd name="T16" fmla="*/ 43 w 133"/>
                    <a:gd name="T17" fmla="*/ 100 h 113"/>
                    <a:gd name="T18" fmla="*/ 43 w 133"/>
                    <a:gd name="T19" fmla="*/ 100 h 113"/>
                    <a:gd name="T20" fmla="*/ 40 w 133"/>
                    <a:gd name="T21" fmla="*/ 112 h 113"/>
                    <a:gd name="T22" fmla="*/ 53 w 133"/>
                    <a:gd name="T23" fmla="*/ 113 h 113"/>
                    <a:gd name="T24" fmla="*/ 133 w 133"/>
                    <a:gd name="T25" fmla="*/ 71 h 113"/>
                    <a:gd name="T26" fmla="*/ 133 w 133"/>
                    <a:gd name="T27" fmla="*/ 70 h 113"/>
                    <a:gd name="T28" fmla="*/ 133 w 133"/>
                    <a:gd name="T29" fmla="*/ 6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3">
                      <a:moveTo>
                        <a:pt x="133" y="69"/>
                      </a:moveTo>
                      <a:cubicBezTo>
                        <a:pt x="131" y="38"/>
                        <a:pt x="113" y="12"/>
                        <a:pt x="87" y="0"/>
                      </a:cubicBezTo>
                      <a:cubicBezTo>
                        <a:pt x="53" y="92"/>
                        <a:pt x="53" y="92"/>
                        <a:pt x="53" y="92"/>
                      </a:cubicBezTo>
                      <a:cubicBezTo>
                        <a:pt x="20" y="0"/>
                        <a:pt x="20" y="0"/>
                        <a:pt x="20" y="0"/>
                      </a:cubicBezTo>
                      <a:cubicBezTo>
                        <a:pt x="13" y="4"/>
                        <a:pt x="6" y="8"/>
                        <a:pt x="0" y="13"/>
                      </a:cubicBezTo>
                      <a:cubicBezTo>
                        <a:pt x="9" y="20"/>
                        <a:pt x="16" y="28"/>
                        <a:pt x="22" y="37"/>
                      </a:cubicBezTo>
                      <a:cubicBezTo>
                        <a:pt x="34" y="55"/>
                        <a:pt x="41" y="75"/>
                        <a:pt x="43" y="96"/>
                      </a:cubicBezTo>
                      <a:cubicBezTo>
                        <a:pt x="43" y="97"/>
                        <a:pt x="43" y="98"/>
                        <a:pt x="43" y="99"/>
                      </a:cubicBezTo>
                      <a:cubicBezTo>
                        <a:pt x="43" y="100"/>
                        <a:pt x="43" y="100"/>
                        <a:pt x="43" y="100"/>
                      </a:cubicBezTo>
                      <a:cubicBezTo>
                        <a:pt x="43" y="100"/>
                        <a:pt x="43" y="100"/>
                        <a:pt x="43" y="100"/>
                      </a:cubicBezTo>
                      <a:cubicBezTo>
                        <a:pt x="43" y="104"/>
                        <a:pt x="41" y="108"/>
                        <a:pt x="40" y="112"/>
                      </a:cubicBezTo>
                      <a:cubicBezTo>
                        <a:pt x="44" y="112"/>
                        <a:pt x="49" y="113"/>
                        <a:pt x="53" y="113"/>
                      </a:cubicBezTo>
                      <a:cubicBezTo>
                        <a:pt x="97" y="112"/>
                        <a:pt x="132" y="90"/>
                        <a:pt x="133" y="71"/>
                      </a:cubicBezTo>
                      <a:cubicBezTo>
                        <a:pt x="133" y="71"/>
                        <a:pt x="133" y="71"/>
                        <a:pt x="133" y="70"/>
                      </a:cubicBezTo>
                      <a:cubicBezTo>
                        <a:pt x="133" y="70"/>
                        <a:pt x="133" y="69"/>
                        <a:pt x="133" y="69"/>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grpSp>
        <p:nvGrpSpPr>
          <p:cNvPr id="71" name="组合 70"/>
          <p:cNvGrpSpPr/>
          <p:nvPr/>
        </p:nvGrpSpPr>
        <p:grpSpPr>
          <a:xfrm>
            <a:off x="3964899" y="1440034"/>
            <a:ext cx="686184" cy="694853"/>
            <a:chOff x="5237226" y="2582137"/>
            <a:chExt cx="914912" cy="926470"/>
          </a:xfrm>
          <a:solidFill>
            <a:schemeClr val="bg1"/>
          </a:solidFill>
        </p:grpSpPr>
        <p:sp>
          <p:nvSpPr>
            <p:cNvPr id="63" name="Freeform 1812"/>
            <p:cNvSpPr/>
            <p:nvPr/>
          </p:nvSpPr>
          <p:spPr>
            <a:xfrm>
              <a:off x="5237226" y="2582137"/>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7" name="组合 26"/>
            <p:cNvGrpSpPr/>
            <p:nvPr/>
          </p:nvGrpSpPr>
          <p:grpSpPr>
            <a:xfrm>
              <a:off x="5443702" y="2786512"/>
              <a:ext cx="478851" cy="491868"/>
              <a:chOff x="5572126" y="3962401"/>
              <a:chExt cx="525463" cy="539750"/>
            </a:xfrm>
            <a:grpFill/>
          </p:grpSpPr>
          <p:sp>
            <p:nvSpPr>
              <p:cNvPr id="33" name="Freeform 26"/>
              <p:cNvSpPr>
                <a:spLocks noEditPoints="1"/>
              </p:cNvSpPr>
              <p:nvPr/>
            </p:nvSpPr>
            <p:spPr bwMode="auto">
              <a:xfrm>
                <a:off x="5572126" y="4130676"/>
                <a:ext cx="371475" cy="371475"/>
              </a:xfrm>
              <a:custGeom>
                <a:avLst/>
                <a:gdLst>
                  <a:gd name="T0" fmla="*/ 258 w 258"/>
                  <a:gd name="T1" fmla="*/ 156 h 259"/>
                  <a:gd name="T2" fmla="*/ 258 w 258"/>
                  <a:gd name="T3" fmla="*/ 104 h 259"/>
                  <a:gd name="T4" fmla="*/ 239 w 258"/>
                  <a:gd name="T5" fmla="*/ 94 h 259"/>
                  <a:gd name="T6" fmla="*/ 232 w 258"/>
                  <a:gd name="T7" fmla="*/ 78 h 259"/>
                  <a:gd name="T8" fmla="*/ 239 w 258"/>
                  <a:gd name="T9" fmla="*/ 57 h 259"/>
                  <a:gd name="T10" fmla="*/ 202 w 258"/>
                  <a:gd name="T11" fmla="*/ 20 h 259"/>
                  <a:gd name="T12" fmla="*/ 180 w 258"/>
                  <a:gd name="T13" fmla="*/ 27 h 259"/>
                  <a:gd name="T14" fmla="*/ 166 w 258"/>
                  <a:gd name="T15" fmla="*/ 21 h 259"/>
                  <a:gd name="T16" fmla="*/ 155 w 258"/>
                  <a:gd name="T17" fmla="*/ 0 h 259"/>
                  <a:gd name="T18" fmla="*/ 103 w 258"/>
                  <a:gd name="T19" fmla="*/ 0 h 259"/>
                  <a:gd name="T20" fmla="*/ 92 w 258"/>
                  <a:gd name="T21" fmla="*/ 21 h 259"/>
                  <a:gd name="T22" fmla="*/ 79 w 258"/>
                  <a:gd name="T23" fmla="*/ 26 h 259"/>
                  <a:gd name="T24" fmla="*/ 56 w 258"/>
                  <a:gd name="T25" fmla="*/ 19 h 259"/>
                  <a:gd name="T26" fmla="*/ 19 w 258"/>
                  <a:gd name="T27" fmla="*/ 56 h 259"/>
                  <a:gd name="T28" fmla="*/ 26 w 258"/>
                  <a:gd name="T29" fmla="*/ 79 h 259"/>
                  <a:gd name="T30" fmla="*/ 21 w 258"/>
                  <a:gd name="T31" fmla="*/ 92 h 259"/>
                  <a:gd name="T32" fmla="*/ 0 w 258"/>
                  <a:gd name="T33" fmla="*/ 103 h 259"/>
                  <a:gd name="T34" fmla="*/ 0 w 258"/>
                  <a:gd name="T35" fmla="*/ 155 h 259"/>
                  <a:gd name="T36" fmla="*/ 20 w 258"/>
                  <a:gd name="T37" fmla="*/ 166 h 259"/>
                  <a:gd name="T38" fmla="*/ 26 w 258"/>
                  <a:gd name="T39" fmla="*/ 180 h 259"/>
                  <a:gd name="T40" fmla="*/ 19 w 258"/>
                  <a:gd name="T41" fmla="*/ 202 h 259"/>
                  <a:gd name="T42" fmla="*/ 56 w 258"/>
                  <a:gd name="T43" fmla="*/ 239 h 259"/>
                  <a:gd name="T44" fmla="*/ 76 w 258"/>
                  <a:gd name="T45" fmla="*/ 233 h 259"/>
                  <a:gd name="T46" fmla="*/ 92 w 258"/>
                  <a:gd name="T47" fmla="*/ 240 h 259"/>
                  <a:gd name="T48" fmla="*/ 102 w 258"/>
                  <a:gd name="T49" fmla="*/ 259 h 259"/>
                  <a:gd name="T50" fmla="*/ 155 w 258"/>
                  <a:gd name="T51" fmla="*/ 259 h 259"/>
                  <a:gd name="T52" fmla="*/ 164 w 258"/>
                  <a:gd name="T53" fmla="*/ 240 h 259"/>
                  <a:gd name="T54" fmla="*/ 181 w 258"/>
                  <a:gd name="T55" fmla="*/ 233 h 259"/>
                  <a:gd name="T56" fmla="*/ 201 w 258"/>
                  <a:gd name="T57" fmla="*/ 240 h 259"/>
                  <a:gd name="T58" fmla="*/ 238 w 258"/>
                  <a:gd name="T59" fmla="*/ 202 h 259"/>
                  <a:gd name="T60" fmla="*/ 232 w 258"/>
                  <a:gd name="T61" fmla="*/ 183 h 259"/>
                  <a:gd name="T62" fmla="*/ 239 w 258"/>
                  <a:gd name="T63" fmla="*/ 166 h 259"/>
                  <a:gd name="T64" fmla="*/ 258 w 258"/>
                  <a:gd name="T65" fmla="*/ 156 h 259"/>
                  <a:gd name="T66" fmla="*/ 187 w 258"/>
                  <a:gd name="T67" fmla="*/ 130 h 259"/>
                  <a:gd name="T68" fmla="*/ 130 w 258"/>
                  <a:gd name="T69" fmla="*/ 188 h 259"/>
                  <a:gd name="T70" fmla="*/ 71 w 258"/>
                  <a:gd name="T71" fmla="*/ 130 h 259"/>
                  <a:gd name="T72" fmla="*/ 130 w 258"/>
                  <a:gd name="T73" fmla="*/ 72 h 259"/>
                  <a:gd name="T74" fmla="*/ 187 w 258"/>
                  <a:gd name="T75" fmla="*/ 13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8" h="259">
                    <a:moveTo>
                      <a:pt x="258" y="156"/>
                    </a:moveTo>
                    <a:cubicBezTo>
                      <a:pt x="258" y="104"/>
                      <a:pt x="258" y="104"/>
                      <a:pt x="258" y="104"/>
                    </a:cubicBezTo>
                    <a:cubicBezTo>
                      <a:pt x="239" y="94"/>
                      <a:pt x="239" y="94"/>
                      <a:pt x="239" y="94"/>
                    </a:cubicBezTo>
                    <a:cubicBezTo>
                      <a:pt x="237" y="88"/>
                      <a:pt x="235" y="83"/>
                      <a:pt x="232" y="78"/>
                    </a:cubicBezTo>
                    <a:cubicBezTo>
                      <a:pt x="239" y="57"/>
                      <a:pt x="239" y="57"/>
                      <a:pt x="239" y="57"/>
                    </a:cubicBezTo>
                    <a:cubicBezTo>
                      <a:pt x="202" y="20"/>
                      <a:pt x="202" y="20"/>
                      <a:pt x="202" y="20"/>
                    </a:cubicBezTo>
                    <a:cubicBezTo>
                      <a:pt x="180" y="27"/>
                      <a:pt x="180" y="27"/>
                      <a:pt x="180" y="27"/>
                    </a:cubicBezTo>
                    <a:cubicBezTo>
                      <a:pt x="175" y="25"/>
                      <a:pt x="171" y="23"/>
                      <a:pt x="166" y="21"/>
                    </a:cubicBezTo>
                    <a:cubicBezTo>
                      <a:pt x="155" y="0"/>
                      <a:pt x="155" y="0"/>
                      <a:pt x="155" y="0"/>
                    </a:cubicBezTo>
                    <a:cubicBezTo>
                      <a:pt x="103" y="0"/>
                      <a:pt x="103" y="0"/>
                      <a:pt x="103" y="0"/>
                    </a:cubicBezTo>
                    <a:cubicBezTo>
                      <a:pt x="92" y="21"/>
                      <a:pt x="92" y="21"/>
                      <a:pt x="92" y="21"/>
                    </a:cubicBezTo>
                    <a:cubicBezTo>
                      <a:pt x="88" y="23"/>
                      <a:pt x="83" y="25"/>
                      <a:pt x="79" y="26"/>
                    </a:cubicBezTo>
                    <a:cubicBezTo>
                      <a:pt x="56" y="19"/>
                      <a:pt x="56" y="19"/>
                      <a:pt x="56" y="19"/>
                    </a:cubicBezTo>
                    <a:cubicBezTo>
                      <a:pt x="19" y="56"/>
                      <a:pt x="19" y="56"/>
                      <a:pt x="19" y="56"/>
                    </a:cubicBezTo>
                    <a:cubicBezTo>
                      <a:pt x="26" y="79"/>
                      <a:pt x="26" y="79"/>
                      <a:pt x="26" y="79"/>
                    </a:cubicBezTo>
                    <a:cubicBezTo>
                      <a:pt x="24" y="83"/>
                      <a:pt x="22" y="87"/>
                      <a:pt x="21" y="92"/>
                    </a:cubicBezTo>
                    <a:cubicBezTo>
                      <a:pt x="0" y="103"/>
                      <a:pt x="0" y="103"/>
                      <a:pt x="0" y="103"/>
                    </a:cubicBezTo>
                    <a:cubicBezTo>
                      <a:pt x="0" y="155"/>
                      <a:pt x="0" y="155"/>
                      <a:pt x="0" y="155"/>
                    </a:cubicBezTo>
                    <a:cubicBezTo>
                      <a:pt x="20" y="166"/>
                      <a:pt x="20" y="166"/>
                      <a:pt x="20" y="166"/>
                    </a:cubicBezTo>
                    <a:cubicBezTo>
                      <a:pt x="21" y="171"/>
                      <a:pt x="23" y="176"/>
                      <a:pt x="26" y="180"/>
                    </a:cubicBezTo>
                    <a:cubicBezTo>
                      <a:pt x="19" y="202"/>
                      <a:pt x="19" y="202"/>
                      <a:pt x="19" y="202"/>
                    </a:cubicBezTo>
                    <a:cubicBezTo>
                      <a:pt x="56" y="239"/>
                      <a:pt x="56" y="239"/>
                      <a:pt x="56" y="239"/>
                    </a:cubicBezTo>
                    <a:cubicBezTo>
                      <a:pt x="76" y="233"/>
                      <a:pt x="76" y="233"/>
                      <a:pt x="76" y="233"/>
                    </a:cubicBezTo>
                    <a:cubicBezTo>
                      <a:pt x="81" y="235"/>
                      <a:pt x="87" y="238"/>
                      <a:pt x="92" y="240"/>
                    </a:cubicBezTo>
                    <a:cubicBezTo>
                      <a:pt x="102" y="259"/>
                      <a:pt x="102" y="259"/>
                      <a:pt x="102" y="259"/>
                    </a:cubicBezTo>
                    <a:cubicBezTo>
                      <a:pt x="155" y="259"/>
                      <a:pt x="155" y="259"/>
                      <a:pt x="155" y="259"/>
                    </a:cubicBezTo>
                    <a:cubicBezTo>
                      <a:pt x="164" y="240"/>
                      <a:pt x="164" y="240"/>
                      <a:pt x="164" y="240"/>
                    </a:cubicBezTo>
                    <a:cubicBezTo>
                      <a:pt x="170" y="239"/>
                      <a:pt x="176" y="236"/>
                      <a:pt x="181" y="233"/>
                    </a:cubicBezTo>
                    <a:cubicBezTo>
                      <a:pt x="201" y="240"/>
                      <a:pt x="201" y="240"/>
                      <a:pt x="201" y="240"/>
                    </a:cubicBezTo>
                    <a:cubicBezTo>
                      <a:pt x="238" y="202"/>
                      <a:pt x="238" y="202"/>
                      <a:pt x="238" y="202"/>
                    </a:cubicBezTo>
                    <a:cubicBezTo>
                      <a:pt x="232" y="183"/>
                      <a:pt x="232" y="183"/>
                      <a:pt x="232" y="183"/>
                    </a:cubicBezTo>
                    <a:cubicBezTo>
                      <a:pt x="235" y="177"/>
                      <a:pt x="237" y="172"/>
                      <a:pt x="239" y="166"/>
                    </a:cubicBezTo>
                    <a:lnTo>
                      <a:pt x="258" y="156"/>
                    </a:lnTo>
                    <a:close/>
                    <a:moveTo>
                      <a:pt x="187" y="130"/>
                    </a:moveTo>
                    <a:cubicBezTo>
                      <a:pt x="187" y="162"/>
                      <a:pt x="161" y="188"/>
                      <a:pt x="130" y="188"/>
                    </a:cubicBezTo>
                    <a:cubicBezTo>
                      <a:pt x="97" y="188"/>
                      <a:pt x="71" y="162"/>
                      <a:pt x="71" y="130"/>
                    </a:cubicBezTo>
                    <a:cubicBezTo>
                      <a:pt x="71" y="98"/>
                      <a:pt x="97" y="72"/>
                      <a:pt x="130" y="72"/>
                    </a:cubicBezTo>
                    <a:cubicBezTo>
                      <a:pt x="161" y="72"/>
                      <a:pt x="187" y="98"/>
                      <a:pt x="187" y="130"/>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34" name="Freeform 27"/>
              <p:cNvSpPr>
                <a:spLocks noEditPoints="1"/>
              </p:cNvSpPr>
              <p:nvPr/>
            </p:nvSpPr>
            <p:spPr bwMode="auto">
              <a:xfrm>
                <a:off x="5818189" y="3962401"/>
                <a:ext cx="192088" cy="188913"/>
              </a:xfrm>
              <a:custGeom>
                <a:avLst/>
                <a:gdLst>
                  <a:gd name="T0" fmla="*/ 133 w 133"/>
                  <a:gd name="T1" fmla="*/ 80 h 132"/>
                  <a:gd name="T2" fmla="*/ 133 w 133"/>
                  <a:gd name="T3" fmla="*/ 53 h 132"/>
                  <a:gd name="T4" fmla="*/ 123 w 133"/>
                  <a:gd name="T5" fmla="*/ 48 h 132"/>
                  <a:gd name="T6" fmla="*/ 120 w 133"/>
                  <a:gd name="T7" fmla="*/ 40 h 132"/>
                  <a:gd name="T8" fmla="*/ 123 w 133"/>
                  <a:gd name="T9" fmla="*/ 29 h 132"/>
                  <a:gd name="T10" fmla="*/ 104 w 133"/>
                  <a:gd name="T11" fmla="*/ 9 h 132"/>
                  <a:gd name="T12" fmla="*/ 93 w 133"/>
                  <a:gd name="T13" fmla="*/ 13 h 132"/>
                  <a:gd name="T14" fmla="*/ 86 w 133"/>
                  <a:gd name="T15" fmla="*/ 10 h 132"/>
                  <a:gd name="T16" fmla="*/ 80 w 133"/>
                  <a:gd name="T17" fmla="*/ 0 h 132"/>
                  <a:gd name="T18" fmla="*/ 53 w 133"/>
                  <a:gd name="T19" fmla="*/ 0 h 132"/>
                  <a:gd name="T20" fmla="*/ 48 w 133"/>
                  <a:gd name="T21" fmla="*/ 10 h 132"/>
                  <a:gd name="T22" fmla="*/ 41 w 133"/>
                  <a:gd name="T23" fmla="*/ 13 h 132"/>
                  <a:gd name="T24" fmla="*/ 29 w 133"/>
                  <a:gd name="T25" fmla="*/ 9 h 132"/>
                  <a:gd name="T26" fmla="*/ 10 w 133"/>
                  <a:gd name="T27" fmla="*/ 28 h 132"/>
                  <a:gd name="T28" fmla="*/ 14 w 133"/>
                  <a:gd name="T29" fmla="*/ 40 h 132"/>
                  <a:gd name="T30" fmla="*/ 11 w 133"/>
                  <a:gd name="T31" fmla="*/ 47 h 132"/>
                  <a:gd name="T32" fmla="*/ 0 w 133"/>
                  <a:gd name="T33" fmla="*/ 52 h 132"/>
                  <a:gd name="T34" fmla="*/ 0 w 133"/>
                  <a:gd name="T35" fmla="*/ 79 h 132"/>
                  <a:gd name="T36" fmla="*/ 11 w 133"/>
                  <a:gd name="T37" fmla="*/ 85 h 132"/>
                  <a:gd name="T38" fmla="*/ 13 w 133"/>
                  <a:gd name="T39" fmla="*/ 92 h 132"/>
                  <a:gd name="T40" fmla="*/ 10 w 133"/>
                  <a:gd name="T41" fmla="*/ 103 h 132"/>
                  <a:gd name="T42" fmla="*/ 29 w 133"/>
                  <a:gd name="T43" fmla="*/ 122 h 132"/>
                  <a:gd name="T44" fmla="*/ 39 w 133"/>
                  <a:gd name="T45" fmla="*/ 119 h 132"/>
                  <a:gd name="T46" fmla="*/ 48 w 133"/>
                  <a:gd name="T47" fmla="*/ 122 h 132"/>
                  <a:gd name="T48" fmla="*/ 53 w 133"/>
                  <a:gd name="T49" fmla="*/ 132 h 132"/>
                  <a:gd name="T50" fmla="*/ 80 w 133"/>
                  <a:gd name="T51" fmla="*/ 132 h 132"/>
                  <a:gd name="T52" fmla="*/ 85 w 133"/>
                  <a:gd name="T53" fmla="*/ 123 h 132"/>
                  <a:gd name="T54" fmla="*/ 94 w 133"/>
                  <a:gd name="T55" fmla="*/ 119 h 132"/>
                  <a:gd name="T56" fmla="*/ 104 w 133"/>
                  <a:gd name="T57" fmla="*/ 122 h 132"/>
                  <a:gd name="T58" fmla="*/ 123 w 133"/>
                  <a:gd name="T59" fmla="*/ 103 h 132"/>
                  <a:gd name="T60" fmla="*/ 120 w 133"/>
                  <a:gd name="T61" fmla="*/ 93 h 132"/>
                  <a:gd name="T62" fmla="*/ 123 w 133"/>
                  <a:gd name="T63" fmla="*/ 85 h 132"/>
                  <a:gd name="T64" fmla="*/ 133 w 133"/>
                  <a:gd name="T65" fmla="*/ 80 h 132"/>
                  <a:gd name="T66" fmla="*/ 97 w 133"/>
                  <a:gd name="T67" fmla="*/ 66 h 132"/>
                  <a:gd name="T68" fmla="*/ 67 w 133"/>
                  <a:gd name="T69" fmla="*/ 96 h 132"/>
                  <a:gd name="T70" fmla="*/ 37 w 133"/>
                  <a:gd name="T71" fmla="*/ 66 h 132"/>
                  <a:gd name="T72" fmla="*/ 67 w 133"/>
                  <a:gd name="T73" fmla="*/ 37 h 132"/>
                  <a:gd name="T74" fmla="*/ 97 w 133"/>
                  <a:gd name="T75"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 h="132">
                    <a:moveTo>
                      <a:pt x="133" y="80"/>
                    </a:moveTo>
                    <a:cubicBezTo>
                      <a:pt x="133" y="53"/>
                      <a:pt x="133" y="53"/>
                      <a:pt x="133" y="53"/>
                    </a:cubicBezTo>
                    <a:cubicBezTo>
                      <a:pt x="123" y="48"/>
                      <a:pt x="123" y="48"/>
                      <a:pt x="123" y="48"/>
                    </a:cubicBezTo>
                    <a:cubicBezTo>
                      <a:pt x="122" y="45"/>
                      <a:pt x="121" y="42"/>
                      <a:pt x="120" y="40"/>
                    </a:cubicBezTo>
                    <a:cubicBezTo>
                      <a:pt x="123" y="29"/>
                      <a:pt x="123" y="29"/>
                      <a:pt x="123" y="29"/>
                    </a:cubicBezTo>
                    <a:cubicBezTo>
                      <a:pt x="104" y="9"/>
                      <a:pt x="104" y="9"/>
                      <a:pt x="104" y="9"/>
                    </a:cubicBezTo>
                    <a:cubicBezTo>
                      <a:pt x="93" y="13"/>
                      <a:pt x="93" y="13"/>
                      <a:pt x="93" y="13"/>
                    </a:cubicBezTo>
                    <a:cubicBezTo>
                      <a:pt x="91" y="12"/>
                      <a:pt x="88" y="11"/>
                      <a:pt x="86" y="10"/>
                    </a:cubicBezTo>
                    <a:cubicBezTo>
                      <a:pt x="80" y="0"/>
                      <a:pt x="80" y="0"/>
                      <a:pt x="80" y="0"/>
                    </a:cubicBezTo>
                    <a:cubicBezTo>
                      <a:pt x="53" y="0"/>
                      <a:pt x="53" y="0"/>
                      <a:pt x="53" y="0"/>
                    </a:cubicBezTo>
                    <a:cubicBezTo>
                      <a:pt x="48" y="10"/>
                      <a:pt x="48" y="10"/>
                      <a:pt x="48" y="10"/>
                    </a:cubicBezTo>
                    <a:cubicBezTo>
                      <a:pt x="46" y="11"/>
                      <a:pt x="43" y="12"/>
                      <a:pt x="41" y="13"/>
                    </a:cubicBezTo>
                    <a:cubicBezTo>
                      <a:pt x="29" y="9"/>
                      <a:pt x="29" y="9"/>
                      <a:pt x="29" y="9"/>
                    </a:cubicBezTo>
                    <a:cubicBezTo>
                      <a:pt x="10" y="28"/>
                      <a:pt x="10" y="28"/>
                      <a:pt x="10" y="28"/>
                    </a:cubicBezTo>
                    <a:cubicBezTo>
                      <a:pt x="14" y="40"/>
                      <a:pt x="14" y="40"/>
                      <a:pt x="14" y="40"/>
                    </a:cubicBezTo>
                    <a:cubicBezTo>
                      <a:pt x="13" y="42"/>
                      <a:pt x="12" y="44"/>
                      <a:pt x="11" y="47"/>
                    </a:cubicBezTo>
                    <a:cubicBezTo>
                      <a:pt x="0" y="52"/>
                      <a:pt x="0" y="52"/>
                      <a:pt x="0" y="52"/>
                    </a:cubicBezTo>
                    <a:cubicBezTo>
                      <a:pt x="0" y="79"/>
                      <a:pt x="0" y="79"/>
                      <a:pt x="0" y="79"/>
                    </a:cubicBezTo>
                    <a:cubicBezTo>
                      <a:pt x="11" y="85"/>
                      <a:pt x="11" y="85"/>
                      <a:pt x="11" y="85"/>
                    </a:cubicBezTo>
                    <a:cubicBezTo>
                      <a:pt x="11" y="87"/>
                      <a:pt x="12" y="90"/>
                      <a:pt x="13" y="92"/>
                    </a:cubicBezTo>
                    <a:cubicBezTo>
                      <a:pt x="10" y="103"/>
                      <a:pt x="10" y="103"/>
                      <a:pt x="10" y="103"/>
                    </a:cubicBezTo>
                    <a:cubicBezTo>
                      <a:pt x="29" y="122"/>
                      <a:pt x="29" y="122"/>
                      <a:pt x="29" y="122"/>
                    </a:cubicBezTo>
                    <a:cubicBezTo>
                      <a:pt x="39" y="119"/>
                      <a:pt x="39" y="119"/>
                      <a:pt x="39" y="119"/>
                    </a:cubicBezTo>
                    <a:cubicBezTo>
                      <a:pt x="42" y="120"/>
                      <a:pt x="45" y="122"/>
                      <a:pt x="48" y="122"/>
                    </a:cubicBezTo>
                    <a:cubicBezTo>
                      <a:pt x="53" y="132"/>
                      <a:pt x="53" y="132"/>
                      <a:pt x="53" y="132"/>
                    </a:cubicBezTo>
                    <a:cubicBezTo>
                      <a:pt x="80" y="132"/>
                      <a:pt x="80" y="132"/>
                      <a:pt x="80" y="132"/>
                    </a:cubicBezTo>
                    <a:cubicBezTo>
                      <a:pt x="85" y="123"/>
                      <a:pt x="85" y="123"/>
                      <a:pt x="85" y="123"/>
                    </a:cubicBezTo>
                    <a:cubicBezTo>
                      <a:pt x="88" y="122"/>
                      <a:pt x="91" y="121"/>
                      <a:pt x="94" y="119"/>
                    </a:cubicBezTo>
                    <a:cubicBezTo>
                      <a:pt x="104" y="122"/>
                      <a:pt x="104" y="122"/>
                      <a:pt x="104" y="122"/>
                    </a:cubicBezTo>
                    <a:cubicBezTo>
                      <a:pt x="123" y="103"/>
                      <a:pt x="123" y="103"/>
                      <a:pt x="123" y="103"/>
                    </a:cubicBezTo>
                    <a:cubicBezTo>
                      <a:pt x="120" y="93"/>
                      <a:pt x="120" y="93"/>
                      <a:pt x="120" y="93"/>
                    </a:cubicBezTo>
                    <a:cubicBezTo>
                      <a:pt x="121" y="90"/>
                      <a:pt x="122" y="88"/>
                      <a:pt x="123" y="85"/>
                    </a:cubicBezTo>
                    <a:lnTo>
                      <a:pt x="133" y="80"/>
                    </a:lnTo>
                    <a:close/>
                    <a:moveTo>
                      <a:pt x="97" y="66"/>
                    </a:moveTo>
                    <a:cubicBezTo>
                      <a:pt x="97" y="83"/>
                      <a:pt x="83" y="96"/>
                      <a:pt x="67" y="96"/>
                    </a:cubicBezTo>
                    <a:cubicBezTo>
                      <a:pt x="50" y="96"/>
                      <a:pt x="37" y="83"/>
                      <a:pt x="37" y="66"/>
                    </a:cubicBezTo>
                    <a:cubicBezTo>
                      <a:pt x="37" y="50"/>
                      <a:pt x="50" y="37"/>
                      <a:pt x="67" y="37"/>
                    </a:cubicBezTo>
                    <a:cubicBezTo>
                      <a:pt x="83" y="37"/>
                      <a:pt x="97" y="50"/>
                      <a:pt x="97" y="66"/>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sp>
            <p:nvSpPr>
              <p:cNvPr id="35" name="Freeform 28"/>
              <p:cNvSpPr>
                <a:spLocks noEditPoints="1"/>
              </p:cNvSpPr>
              <p:nvPr/>
            </p:nvSpPr>
            <p:spPr bwMode="auto">
              <a:xfrm>
                <a:off x="5942014" y="4138613"/>
                <a:ext cx="155575" cy="155575"/>
              </a:xfrm>
              <a:custGeom>
                <a:avLst/>
                <a:gdLst>
                  <a:gd name="T0" fmla="*/ 108 w 108"/>
                  <a:gd name="T1" fmla="*/ 65 h 108"/>
                  <a:gd name="T2" fmla="*/ 108 w 108"/>
                  <a:gd name="T3" fmla="*/ 43 h 108"/>
                  <a:gd name="T4" fmla="*/ 100 w 108"/>
                  <a:gd name="T5" fmla="*/ 39 h 108"/>
                  <a:gd name="T6" fmla="*/ 97 w 108"/>
                  <a:gd name="T7" fmla="*/ 33 h 108"/>
                  <a:gd name="T8" fmla="*/ 100 w 108"/>
                  <a:gd name="T9" fmla="*/ 24 h 108"/>
                  <a:gd name="T10" fmla="*/ 84 w 108"/>
                  <a:gd name="T11" fmla="*/ 8 h 108"/>
                  <a:gd name="T12" fmla="*/ 75 w 108"/>
                  <a:gd name="T13" fmla="*/ 11 h 108"/>
                  <a:gd name="T14" fmla="*/ 70 w 108"/>
                  <a:gd name="T15" fmla="*/ 9 h 108"/>
                  <a:gd name="T16" fmla="*/ 65 w 108"/>
                  <a:gd name="T17" fmla="*/ 0 h 108"/>
                  <a:gd name="T18" fmla="*/ 43 w 108"/>
                  <a:gd name="T19" fmla="*/ 0 h 108"/>
                  <a:gd name="T20" fmla="*/ 39 w 108"/>
                  <a:gd name="T21" fmla="*/ 9 h 108"/>
                  <a:gd name="T22" fmla="*/ 33 w 108"/>
                  <a:gd name="T23" fmla="*/ 11 h 108"/>
                  <a:gd name="T24" fmla="*/ 24 w 108"/>
                  <a:gd name="T25" fmla="*/ 8 h 108"/>
                  <a:gd name="T26" fmla="*/ 8 w 108"/>
                  <a:gd name="T27" fmla="*/ 24 h 108"/>
                  <a:gd name="T28" fmla="*/ 11 w 108"/>
                  <a:gd name="T29" fmla="*/ 33 h 108"/>
                  <a:gd name="T30" fmla="*/ 9 w 108"/>
                  <a:gd name="T31" fmla="*/ 39 h 108"/>
                  <a:gd name="T32" fmla="*/ 0 w 108"/>
                  <a:gd name="T33" fmla="*/ 43 h 108"/>
                  <a:gd name="T34" fmla="*/ 0 w 108"/>
                  <a:gd name="T35" fmla="*/ 65 h 108"/>
                  <a:gd name="T36" fmla="*/ 8 w 108"/>
                  <a:gd name="T37" fmla="*/ 69 h 108"/>
                  <a:gd name="T38" fmla="*/ 11 w 108"/>
                  <a:gd name="T39" fmla="*/ 76 h 108"/>
                  <a:gd name="T40" fmla="*/ 8 w 108"/>
                  <a:gd name="T41" fmla="*/ 84 h 108"/>
                  <a:gd name="T42" fmla="*/ 23 w 108"/>
                  <a:gd name="T43" fmla="*/ 100 h 108"/>
                  <a:gd name="T44" fmla="*/ 32 w 108"/>
                  <a:gd name="T45" fmla="*/ 97 h 108"/>
                  <a:gd name="T46" fmla="*/ 39 w 108"/>
                  <a:gd name="T47" fmla="*/ 100 h 108"/>
                  <a:gd name="T48" fmla="*/ 43 w 108"/>
                  <a:gd name="T49" fmla="*/ 108 h 108"/>
                  <a:gd name="T50" fmla="*/ 65 w 108"/>
                  <a:gd name="T51" fmla="*/ 108 h 108"/>
                  <a:gd name="T52" fmla="*/ 69 w 108"/>
                  <a:gd name="T53" fmla="*/ 100 h 108"/>
                  <a:gd name="T54" fmla="*/ 76 w 108"/>
                  <a:gd name="T55" fmla="*/ 98 h 108"/>
                  <a:gd name="T56" fmla="*/ 84 w 108"/>
                  <a:gd name="T57" fmla="*/ 100 h 108"/>
                  <a:gd name="T58" fmla="*/ 100 w 108"/>
                  <a:gd name="T59" fmla="*/ 85 h 108"/>
                  <a:gd name="T60" fmla="*/ 97 w 108"/>
                  <a:gd name="T61" fmla="*/ 76 h 108"/>
                  <a:gd name="T62" fmla="*/ 100 w 108"/>
                  <a:gd name="T63" fmla="*/ 69 h 108"/>
                  <a:gd name="T64" fmla="*/ 108 w 108"/>
                  <a:gd name="T65" fmla="*/ 65 h 108"/>
                  <a:gd name="T66" fmla="*/ 78 w 108"/>
                  <a:gd name="T67" fmla="*/ 54 h 108"/>
                  <a:gd name="T68" fmla="*/ 54 w 108"/>
                  <a:gd name="T69" fmla="*/ 79 h 108"/>
                  <a:gd name="T70" fmla="*/ 30 w 108"/>
                  <a:gd name="T71" fmla="*/ 54 h 108"/>
                  <a:gd name="T72" fmla="*/ 54 w 108"/>
                  <a:gd name="T73" fmla="*/ 30 h 108"/>
                  <a:gd name="T74" fmla="*/ 78 w 108"/>
                  <a:gd name="T75" fmla="*/ 5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8" h="108">
                    <a:moveTo>
                      <a:pt x="108" y="65"/>
                    </a:moveTo>
                    <a:cubicBezTo>
                      <a:pt x="108" y="43"/>
                      <a:pt x="108" y="43"/>
                      <a:pt x="108" y="43"/>
                    </a:cubicBezTo>
                    <a:cubicBezTo>
                      <a:pt x="100" y="39"/>
                      <a:pt x="100" y="39"/>
                      <a:pt x="100" y="39"/>
                    </a:cubicBezTo>
                    <a:cubicBezTo>
                      <a:pt x="99" y="37"/>
                      <a:pt x="98" y="35"/>
                      <a:pt x="97" y="33"/>
                    </a:cubicBezTo>
                    <a:cubicBezTo>
                      <a:pt x="100" y="24"/>
                      <a:pt x="100" y="24"/>
                      <a:pt x="100" y="24"/>
                    </a:cubicBezTo>
                    <a:cubicBezTo>
                      <a:pt x="84" y="8"/>
                      <a:pt x="84" y="8"/>
                      <a:pt x="84" y="8"/>
                    </a:cubicBezTo>
                    <a:cubicBezTo>
                      <a:pt x="75" y="11"/>
                      <a:pt x="75" y="11"/>
                      <a:pt x="75" y="11"/>
                    </a:cubicBezTo>
                    <a:cubicBezTo>
                      <a:pt x="73" y="10"/>
                      <a:pt x="72" y="10"/>
                      <a:pt x="70" y="9"/>
                    </a:cubicBezTo>
                    <a:cubicBezTo>
                      <a:pt x="65" y="0"/>
                      <a:pt x="65" y="0"/>
                      <a:pt x="65" y="0"/>
                    </a:cubicBezTo>
                    <a:cubicBezTo>
                      <a:pt x="43" y="0"/>
                      <a:pt x="43" y="0"/>
                      <a:pt x="43" y="0"/>
                    </a:cubicBezTo>
                    <a:cubicBezTo>
                      <a:pt x="39" y="9"/>
                      <a:pt x="39" y="9"/>
                      <a:pt x="39" y="9"/>
                    </a:cubicBezTo>
                    <a:cubicBezTo>
                      <a:pt x="37" y="10"/>
                      <a:pt x="35" y="10"/>
                      <a:pt x="33" y="11"/>
                    </a:cubicBezTo>
                    <a:cubicBezTo>
                      <a:pt x="24" y="8"/>
                      <a:pt x="24" y="8"/>
                      <a:pt x="24" y="8"/>
                    </a:cubicBezTo>
                    <a:cubicBezTo>
                      <a:pt x="8" y="24"/>
                      <a:pt x="8" y="24"/>
                      <a:pt x="8" y="24"/>
                    </a:cubicBezTo>
                    <a:cubicBezTo>
                      <a:pt x="11" y="33"/>
                      <a:pt x="11" y="33"/>
                      <a:pt x="11" y="33"/>
                    </a:cubicBezTo>
                    <a:cubicBezTo>
                      <a:pt x="10" y="35"/>
                      <a:pt x="9" y="37"/>
                      <a:pt x="9" y="39"/>
                    </a:cubicBezTo>
                    <a:cubicBezTo>
                      <a:pt x="0" y="43"/>
                      <a:pt x="0" y="43"/>
                      <a:pt x="0" y="43"/>
                    </a:cubicBezTo>
                    <a:cubicBezTo>
                      <a:pt x="0" y="65"/>
                      <a:pt x="0" y="65"/>
                      <a:pt x="0" y="65"/>
                    </a:cubicBezTo>
                    <a:cubicBezTo>
                      <a:pt x="8" y="69"/>
                      <a:pt x="8" y="69"/>
                      <a:pt x="8" y="69"/>
                    </a:cubicBezTo>
                    <a:cubicBezTo>
                      <a:pt x="9" y="71"/>
                      <a:pt x="10" y="73"/>
                      <a:pt x="11" y="76"/>
                    </a:cubicBezTo>
                    <a:cubicBezTo>
                      <a:pt x="8" y="84"/>
                      <a:pt x="8" y="84"/>
                      <a:pt x="8" y="84"/>
                    </a:cubicBezTo>
                    <a:cubicBezTo>
                      <a:pt x="23" y="100"/>
                      <a:pt x="23" y="100"/>
                      <a:pt x="23" y="100"/>
                    </a:cubicBezTo>
                    <a:cubicBezTo>
                      <a:pt x="32" y="97"/>
                      <a:pt x="32" y="97"/>
                      <a:pt x="32" y="97"/>
                    </a:cubicBezTo>
                    <a:cubicBezTo>
                      <a:pt x="34" y="98"/>
                      <a:pt x="36" y="99"/>
                      <a:pt x="39" y="100"/>
                    </a:cubicBezTo>
                    <a:cubicBezTo>
                      <a:pt x="43" y="108"/>
                      <a:pt x="43" y="108"/>
                      <a:pt x="43" y="108"/>
                    </a:cubicBezTo>
                    <a:cubicBezTo>
                      <a:pt x="65" y="108"/>
                      <a:pt x="65" y="108"/>
                      <a:pt x="65" y="108"/>
                    </a:cubicBezTo>
                    <a:cubicBezTo>
                      <a:pt x="69" y="100"/>
                      <a:pt x="69" y="100"/>
                      <a:pt x="69" y="100"/>
                    </a:cubicBezTo>
                    <a:cubicBezTo>
                      <a:pt x="71" y="100"/>
                      <a:pt x="74" y="99"/>
                      <a:pt x="76" y="98"/>
                    </a:cubicBezTo>
                    <a:cubicBezTo>
                      <a:pt x="84" y="100"/>
                      <a:pt x="84" y="100"/>
                      <a:pt x="84" y="100"/>
                    </a:cubicBezTo>
                    <a:cubicBezTo>
                      <a:pt x="100" y="85"/>
                      <a:pt x="100" y="85"/>
                      <a:pt x="100" y="85"/>
                    </a:cubicBezTo>
                    <a:cubicBezTo>
                      <a:pt x="97" y="76"/>
                      <a:pt x="97" y="76"/>
                      <a:pt x="97" y="76"/>
                    </a:cubicBezTo>
                    <a:cubicBezTo>
                      <a:pt x="98" y="74"/>
                      <a:pt x="99" y="72"/>
                      <a:pt x="100" y="69"/>
                    </a:cubicBezTo>
                    <a:lnTo>
                      <a:pt x="108" y="65"/>
                    </a:lnTo>
                    <a:close/>
                    <a:moveTo>
                      <a:pt x="78" y="54"/>
                    </a:moveTo>
                    <a:cubicBezTo>
                      <a:pt x="78" y="68"/>
                      <a:pt x="68" y="79"/>
                      <a:pt x="54" y="79"/>
                    </a:cubicBezTo>
                    <a:cubicBezTo>
                      <a:pt x="41" y="79"/>
                      <a:pt x="30" y="68"/>
                      <a:pt x="30" y="54"/>
                    </a:cubicBezTo>
                    <a:cubicBezTo>
                      <a:pt x="30" y="41"/>
                      <a:pt x="41" y="30"/>
                      <a:pt x="54" y="30"/>
                    </a:cubicBezTo>
                    <a:cubicBezTo>
                      <a:pt x="68" y="30"/>
                      <a:pt x="78" y="41"/>
                      <a:pt x="78" y="54"/>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cs typeface="+mn-ea"/>
                  <a:sym typeface="+mn-lt"/>
                </a:endParaRPr>
              </a:p>
            </p:txBody>
          </p:sp>
        </p:grpSp>
      </p:grpSp>
      <p:grpSp>
        <p:nvGrpSpPr>
          <p:cNvPr id="72" name="组合 71"/>
          <p:cNvGrpSpPr/>
          <p:nvPr/>
        </p:nvGrpSpPr>
        <p:grpSpPr>
          <a:xfrm>
            <a:off x="3964898" y="2314848"/>
            <a:ext cx="686184" cy="694853"/>
            <a:chOff x="5237224" y="3759845"/>
            <a:chExt cx="914912" cy="926470"/>
          </a:xfrm>
          <a:solidFill>
            <a:schemeClr val="bg1"/>
          </a:solidFill>
        </p:grpSpPr>
        <p:sp>
          <p:nvSpPr>
            <p:cNvPr id="64" name="Freeform 1812"/>
            <p:cNvSpPr/>
            <p:nvPr/>
          </p:nvSpPr>
          <p:spPr>
            <a:xfrm>
              <a:off x="5237224" y="3759845"/>
              <a:ext cx="914912" cy="926470"/>
            </a:xfrm>
            <a:custGeom>
              <a:avLst/>
              <a:gdLst>
                <a:gd name="txL" fmla="*/ 0 w 91"/>
                <a:gd name="txT" fmla="*/ 0 h 92"/>
                <a:gd name="txR" fmla="*/ 91 w 91"/>
                <a:gd name="txB" fmla="*/ 92 h 92"/>
              </a:gdLst>
              <a:ahLst/>
              <a:cxnLst>
                <a:cxn ang="0">
                  <a:pos x="463341" y="150743"/>
                </a:cxn>
                <a:cxn ang="0">
                  <a:pos x="376464" y="463826"/>
                </a:cxn>
                <a:cxn ang="0">
                  <a:pos x="63709" y="382657"/>
                </a:cxn>
                <a:cxn ang="0">
                  <a:pos x="150586" y="63776"/>
                </a:cxn>
                <a:cxn ang="0">
                  <a:pos x="463341" y="150743"/>
                </a:cxn>
              </a:cxnLst>
              <a:rect l="txL" t="txT" r="txR" b="txB"/>
              <a:pathLst>
                <a:path w="91" h="92">
                  <a:moveTo>
                    <a:pt x="80" y="26"/>
                  </a:moveTo>
                  <a:cubicBezTo>
                    <a:pt x="91" y="45"/>
                    <a:pt x="84" y="69"/>
                    <a:pt x="65" y="80"/>
                  </a:cubicBezTo>
                  <a:cubicBezTo>
                    <a:pt x="46" y="92"/>
                    <a:pt x="22" y="85"/>
                    <a:pt x="11" y="66"/>
                  </a:cubicBezTo>
                  <a:cubicBezTo>
                    <a:pt x="0" y="47"/>
                    <a:pt x="6" y="22"/>
                    <a:pt x="26" y="11"/>
                  </a:cubicBezTo>
                  <a:cubicBezTo>
                    <a:pt x="45" y="0"/>
                    <a:pt x="69" y="7"/>
                    <a:pt x="80" y="26"/>
                  </a:cubicBezTo>
                </a:path>
              </a:pathLst>
            </a:custGeom>
            <a:solidFill>
              <a:srgbClr val="1B4367"/>
            </a:solidFill>
            <a:ln w="9525">
              <a:solidFill>
                <a:schemeClr val="bg1"/>
              </a:solidFill>
            </a:ln>
          </p:spPr>
          <p:txBody>
            <a:bodyPr/>
            <a:lstStyle/>
            <a:p>
              <a:endParaRPr lang="zh-CN" altLang="en-US">
                <a:cs typeface="+mn-ea"/>
                <a:sym typeface="+mn-lt"/>
              </a:endParaRPr>
            </a:p>
          </p:txBody>
        </p:sp>
        <p:grpSp>
          <p:nvGrpSpPr>
            <p:cNvPr id="28" name="组合 27"/>
            <p:cNvGrpSpPr/>
            <p:nvPr/>
          </p:nvGrpSpPr>
          <p:grpSpPr>
            <a:xfrm>
              <a:off x="5539564" y="3983837"/>
              <a:ext cx="345128" cy="512366"/>
              <a:chOff x="5649914" y="2946401"/>
              <a:chExt cx="360363" cy="534987"/>
            </a:xfrm>
            <a:grpFill/>
          </p:grpSpPr>
          <p:sp>
            <p:nvSpPr>
              <p:cNvPr id="29" name="Freeform 29"/>
              <p:cNvSpPr/>
              <p:nvPr/>
            </p:nvSpPr>
            <p:spPr bwMode="auto">
              <a:xfrm>
                <a:off x="5776914" y="3424238"/>
                <a:ext cx="106363" cy="57150"/>
              </a:xfrm>
              <a:custGeom>
                <a:avLst/>
                <a:gdLst>
                  <a:gd name="T0" fmla="*/ 0 w 74"/>
                  <a:gd name="T1" fmla="*/ 0 h 40"/>
                  <a:gd name="T2" fmla="*/ 37 w 74"/>
                  <a:gd name="T3" fmla="*/ 40 h 40"/>
                  <a:gd name="T4" fmla="*/ 74 w 74"/>
                  <a:gd name="T5" fmla="*/ 0 h 40"/>
                  <a:gd name="T6" fmla="*/ 0 w 74"/>
                  <a:gd name="T7" fmla="*/ 0 h 40"/>
                </a:gdLst>
                <a:ahLst/>
                <a:cxnLst>
                  <a:cxn ang="0">
                    <a:pos x="T0" y="T1"/>
                  </a:cxn>
                  <a:cxn ang="0">
                    <a:pos x="T2" y="T3"/>
                  </a:cxn>
                  <a:cxn ang="0">
                    <a:pos x="T4" y="T5"/>
                  </a:cxn>
                  <a:cxn ang="0">
                    <a:pos x="T6" y="T7"/>
                  </a:cxn>
                </a:cxnLst>
                <a:rect l="0" t="0" r="r" b="b"/>
                <a:pathLst>
                  <a:path w="74" h="40">
                    <a:moveTo>
                      <a:pt x="0" y="0"/>
                    </a:moveTo>
                    <a:cubicBezTo>
                      <a:pt x="0" y="22"/>
                      <a:pt x="17" y="40"/>
                      <a:pt x="37" y="40"/>
                    </a:cubicBezTo>
                    <a:cubicBezTo>
                      <a:pt x="57" y="40"/>
                      <a:pt x="74" y="22"/>
                      <a:pt x="74" y="0"/>
                    </a:cubicBezTo>
                    <a:lnTo>
                      <a:pt x="0" y="0"/>
                    </a:lnTo>
                    <a:close/>
                  </a:path>
                </a:pathLst>
              </a:custGeom>
              <a:grpFill/>
              <a:ln w="9525">
                <a:solidFill>
                  <a:schemeClr val="bg1"/>
                </a:solidFill>
                <a:round/>
              </a:ln>
            </p:spPr>
            <p:txBody>
              <a:bodyPr/>
              <a:lstStyle/>
              <a:p>
                <a:pPr>
                  <a:defRPr/>
                </a:pPr>
                <a:endParaRPr lang="zh-CN" altLang="en-US">
                  <a:cs typeface="+mn-ea"/>
                  <a:sym typeface="+mn-lt"/>
                </a:endParaRPr>
              </a:p>
            </p:txBody>
          </p:sp>
          <p:sp>
            <p:nvSpPr>
              <p:cNvPr id="30" name="Freeform 30"/>
              <p:cNvSpPr/>
              <p:nvPr/>
            </p:nvSpPr>
            <p:spPr bwMode="auto">
              <a:xfrm>
                <a:off x="5753101" y="3346451"/>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6"/>
                      <a:pt x="103" y="19"/>
                      <a:pt x="98" y="19"/>
                    </a:cubicBezTo>
                    <a:cubicBezTo>
                      <a:pt x="8" y="19"/>
                      <a:pt x="8" y="19"/>
                      <a:pt x="8" y="19"/>
                    </a:cubicBezTo>
                    <a:cubicBezTo>
                      <a:pt x="3" y="19"/>
                      <a:pt x="0" y="16"/>
                      <a:pt x="0" y="11"/>
                    </a:cubicBezTo>
                    <a:cubicBezTo>
                      <a:pt x="0" y="8"/>
                      <a:pt x="0" y="8"/>
                      <a:pt x="0" y="8"/>
                    </a:cubicBezTo>
                    <a:cubicBezTo>
                      <a:pt x="0" y="4"/>
                      <a:pt x="3" y="0"/>
                      <a:pt x="8" y="0"/>
                    </a:cubicBezTo>
                    <a:cubicBezTo>
                      <a:pt x="98" y="0"/>
                      <a:pt x="98" y="0"/>
                      <a:pt x="98" y="0"/>
                    </a:cubicBezTo>
                    <a:cubicBezTo>
                      <a:pt x="103" y="0"/>
                      <a:pt x="106" y="4"/>
                      <a:pt x="106" y="8"/>
                    </a:cubicBezTo>
                    <a:lnTo>
                      <a:pt x="106" y="11"/>
                    </a:lnTo>
                    <a:close/>
                  </a:path>
                </a:pathLst>
              </a:custGeom>
              <a:grpFill/>
              <a:ln w="9525">
                <a:solidFill>
                  <a:schemeClr val="bg1"/>
                </a:solidFill>
                <a:round/>
              </a:ln>
            </p:spPr>
            <p:txBody>
              <a:bodyPr/>
              <a:lstStyle/>
              <a:p>
                <a:pPr>
                  <a:defRPr/>
                </a:pPr>
                <a:endParaRPr lang="zh-CN" altLang="en-US">
                  <a:cs typeface="+mn-ea"/>
                  <a:sym typeface="+mn-lt"/>
                </a:endParaRPr>
              </a:p>
            </p:txBody>
          </p:sp>
          <p:sp>
            <p:nvSpPr>
              <p:cNvPr id="31" name="Freeform 31"/>
              <p:cNvSpPr/>
              <p:nvPr/>
            </p:nvSpPr>
            <p:spPr bwMode="auto">
              <a:xfrm>
                <a:off x="5753101" y="3386138"/>
                <a:ext cx="153988" cy="26988"/>
              </a:xfrm>
              <a:custGeom>
                <a:avLst/>
                <a:gdLst>
                  <a:gd name="T0" fmla="*/ 106 w 106"/>
                  <a:gd name="T1" fmla="*/ 11 h 19"/>
                  <a:gd name="T2" fmla="*/ 98 w 106"/>
                  <a:gd name="T3" fmla="*/ 19 h 19"/>
                  <a:gd name="T4" fmla="*/ 8 w 106"/>
                  <a:gd name="T5" fmla="*/ 19 h 19"/>
                  <a:gd name="T6" fmla="*/ 0 w 106"/>
                  <a:gd name="T7" fmla="*/ 11 h 19"/>
                  <a:gd name="T8" fmla="*/ 0 w 106"/>
                  <a:gd name="T9" fmla="*/ 8 h 19"/>
                  <a:gd name="T10" fmla="*/ 8 w 106"/>
                  <a:gd name="T11" fmla="*/ 0 h 19"/>
                  <a:gd name="T12" fmla="*/ 98 w 106"/>
                  <a:gd name="T13" fmla="*/ 0 h 19"/>
                  <a:gd name="T14" fmla="*/ 106 w 106"/>
                  <a:gd name="T15" fmla="*/ 8 h 19"/>
                  <a:gd name="T16" fmla="*/ 106 w 106"/>
                  <a:gd name="T1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9">
                    <a:moveTo>
                      <a:pt x="106" y="11"/>
                    </a:moveTo>
                    <a:cubicBezTo>
                      <a:pt x="106" y="15"/>
                      <a:pt x="103" y="19"/>
                      <a:pt x="98" y="19"/>
                    </a:cubicBezTo>
                    <a:cubicBezTo>
                      <a:pt x="8" y="19"/>
                      <a:pt x="8" y="19"/>
                      <a:pt x="8" y="19"/>
                    </a:cubicBezTo>
                    <a:cubicBezTo>
                      <a:pt x="3" y="19"/>
                      <a:pt x="0" y="15"/>
                      <a:pt x="0" y="11"/>
                    </a:cubicBezTo>
                    <a:cubicBezTo>
                      <a:pt x="0" y="8"/>
                      <a:pt x="0" y="8"/>
                      <a:pt x="0" y="8"/>
                    </a:cubicBezTo>
                    <a:cubicBezTo>
                      <a:pt x="0" y="3"/>
                      <a:pt x="3" y="0"/>
                      <a:pt x="8" y="0"/>
                    </a:cubicBezTo>
                    <a:cubicBezTo>
                      <a:pt x="98" y="0"/>
                      <a:pt x="98" y="0"/>
                      <a:pt x="98" y="0"/>
                    </a:cubicBezTo>
                    <a:cubicBezTo>
                      <a:pt x="103" y="0"/>
                      <a:pt x="106" y="3"/>
                      <a:pt x="106" y="8"/>
                    </a:cubicBezTo>
                    <a:lnTo>
                      <a:pt x="106" y="11"/>
                    </a:lnTo>
                    <a:close/>
                  </a:path>
                </a:pathLst>
              </a:custGeom>
              <a:grpFill/>
              <a:ln w="9525">
                <a:solidFill>
                  <a:schemeClr val="bg1"/>
                </a:solidFill>
                <a:round/>
              </a:ln>
            </p:spPr>
            <p:txBody>
              <a:bodyPr/>
              <a:lstStyle/>
              <a:p>
                <a:pPr>
                  <a:defRPr/>
                </a:pPr>
                <a:endParaRPr lang="zh-CN" altLang="en-US">
                  <a:cs typeface="+mn-ea"/>
                  <a:sym typeface="+mn-lt"/>
                </a:endParaRPr>
              </a:p>
            </p:txBody>
          </p:sp>
          <p:sp>
            <p:nvSpPr>
              <p:cNvPr id="32" name="Freeform 32"/>
              <p:cNvSpPr/>
              <p:nvPr/>
            </p:nvSpPr>
            <p:spPr bwMode="auto">
              <a:xfrm>
                <a:off x="5649914" y="2946401"/>
                <a:ext cx="360363" cy="385763"/>
              </a:xfrm>
              <a:custGeom>
                <a:avLst/>
                <a:gdLst>
                  <a:gd name="T0" fmla="*/ 250 w 250"/>
                  <a:gd name="T1" fmla="*/ 125 h 268"/>
                  <a:gd name="T2" fmla="*/ 125 w 250"/>
                  <a:gd name="T3" fmla="*/ 0 h 268"/>
                  <a:gd name="T4" fmla="*/ 0 w 250"/>
                  <a:gd name="T5" fmla="*/ 125 h 268"/>
                  <a:gd name="T6" fmla="*/ 72 w 250"/>
                  <a:gd name="T7" fmla="*/ 238 h 268"/>
                  <a:gd name="T8" fmla="*/ 72 w 250"/>
                  <a:gd name="T9" fmla="*/ 244 h 268"/>
                  <a:gd name="T10" fmla="*/ 96 w 250"/>
                  <a:gd name="T11" fmla="*/ 268 h 268"/>
                  <a:gd name="T12" fmla="*/ 154 w 250"/>
                  <a:gd name="T13" fmla="*/ 268 h 268"/>
                  <a:gd name="T14" fmla="*/ 178 w 250"/>
                  <a:gd name="T15" fmla="*/ 244 h 268"/>
                  <a:gd name="T16" fmla="*/ 178 w 250"/>
                  <a:gd name="T17" fmla="*/ 238 h 268"/>
                  <a:gd name="T18" fmla="*/ 250 w 250"/>
                  <a:gd name="T19" fmla="*/ 125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68">
                    <a:moveTo>
                      <a:pt x="250" y="125"/>
                    </a:moveTo>
                    <a:cubicBezTo>
                      <a:pt x="250" y="56"/>
                      <a:pt x="194" y="0"/>
                      <a:pt x="125" y="0"/>
                    </a:cubicBezTo>
                    <a:cubicBezTo>
                      <a:pt x="56" y="0"/>
                      <a:pt x="0" y="56"/>
                      <a:pt x="0" y="125"/>
                    </a:cubicBezTo>
                    <a:cubicBezTo>
                      <a:pt x="0" y="175"/>
                      <a:pt x="30" y="218"/>
                      <a:pt x="72" y="238"/>
                    </a:cubicBezTo>
                    <a:cubicBezTo>
                      <a:pt x="72" y="244"/>
                      <a:pt x="72" y="244"/>
                      <a:pt x="72" y="244"/>
                    </a:cubicBezTo>
                    <a:cubicBezTo>
                      <a:pt x="72" y="257"/>
                      <a:pt x="83" y="268"/>
                      <a:pt x="96" y="268"/>
                    </a:cubicBezTo>
                    <a:cubicBezTo>
                      <a:pt x="154" y="268"/>
                      <a:pt x="154" y="268"/>
                      <a:pt x="154" y="268"/>
                    </a:cubicBezTo>
                    <a:cubicBezTo>
                      <a:pt x="167" y="268"/>
                      <a:pt x="178" y="257"/>
                      <a:pt x="178" y="244"/>
                    </a:cubicBezTo>
                    <a:cubicBezTo>
                      <a:pt x="178" y="238"/>
                      <a:pt x="178" y="238"/>
                      <a:pt x="178" y="238"/>
                    </a:cubicBezTo>
                    <a:cubicBezTo>
                      <a:pt x="221" y="218"/>
                      <a:pt x="250" y="175"/>
                      <a:pt x="250" y="125"/>
                    </a:cubicBezTo>
                    <a:close/>
                  </a:path>
                </a:pathLst>
              </a:custGeom>
              <a:grpFill/>
              <a:ln w="9525">
                <a:solidFill>
                  <a:schemeClr val="bg1"/>
                </a:solidFill>
                <a:round/>
              </a:ln>
            </p:spPr>
            <p:txBody>
              <a:bodyPr/>
              <a:lstStyle/>
              <a:p>
                <a:pPr>
                  <a:defRPr/>
                </a:pPr>
                <a:endParaRPr lang="zh-CN" altLang="en-US">
                  <a:cs typeface="+mn-ea"/>
                  <a:sym typeface="+mn-lt"/>
                </a:endParaRPr>
              </a:p>
            </p:txBody>
          </p:sp>
        </p:grpSp>
      </p:grpSp>
      <p:grpSp>
        <p:nvGrpSpPr>
          <p:cNvPr id="76" name="组合 75"/>
          <p:cNvGrpSpPr/>
          <p:nvPr/>
        </p:nvGrpSpPr>
        <p:grpSpPr>
          <a:xfrm>
            <a:off x="1105991" y="1493194"/>
            <a:ext cx="2856958" cy="1060423"/>
            <a:chOff x="1641794" y="2573986"/>
            <a:chExt cx="3592830" cy="1413894"/>
          </a:xfrm>
        </p:grpSpPr>
        <p:sp>
          <p:nvSpPr>
            <p:cNvPr id="66" name="文本框 85"/>
            <p:cNvSpPr txBox="1"/>
            <p:nvPr/>
          </p:nvSpPr>
          <p:spPr>
            <a:xfrm>
              <a:off x="1641794" y="2862276"/>
              <a:ext cx="3592830" cy="1125604"/>
            </a:xfrm>
            <a:prstGeom prst="rect">
              <a:avLst/>
            </a:prstGeom>
            <a:noFill/>
          </p:spPr>
          <p:txBody>
            <a:bodyPr wrap="square" rtlCol="0">
              <a:spAutoFit/>
            </a:bodyPr>
            <a:lstStyle/>
            <a:p>
              <a:pPr algn="r">
                <a:lnSpc>
                  <a:spcPts val="1500"/>
                </a:lnSpc>
              </a:pP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1</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19</a:t>
              </a:r>
              <a:r>
                <a:rPr lang="zh-CN" altLang="en-US" sz="1000" dirty="0">
                  <a:solidFill>
                    <a:schemeClr val="tx1">
                      <a:lumMod val="75000"/>
                      <a:lumOff val="25000"/>
                    </a:schemeClr>
                  </a:solidFill>
                  <a:cs typeface="+mn-ea"/>
                  <a:sym typeface="+mn-lt"/>
                </a:rPr>
                <a:t>日</a:t>
              </a: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2</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28</a:t>
              </a:r>
              <a:r>
                <a:rPr lang="zh-CN" altLang="en-US" sz="1000" dirty="0">
                  <a:solidFill>
                    <a:schemeClr val="tx1">
                      <a:lumMod val="75000"/>
                      <a:lumOff val="25000"/>
                    </a:schemeClr>
                  </a:solidFill>
                  <a:cs typeface="+mn-ea"/>
                  <a:sym typeface="+mn-lt"/>
                </a:rPr>
                <a:t>日，搜集文献中数据，并对其进行数据清洗；开始熟悉</a:t>
              </a:r>
              <a:r>
                <a:rPr lang="en-US" altLang="zh-CN" sz="1000" dirty="0">
                  <a:solidFill>
                    <a:schemeClr val="tx1">
                      <a:lumMod val="75000"/>
                      <a:lumOff val="25000"/>
                    </a:schemeClr>
                  </a:solidFill>
                  <a:cs typeface="+mn-ea"/>
                  <a:sym typeface="+mn-lt"/>
                </a:rPr>
                <a:t>Python</a:t>
              </a:r>
              <a:r>
                <a:rPr lang="zh-CN" altLang="en-US" sz="1000" dirty="0">
                  <a:solidFill>
                    <a:schemeClr val="tx1">
                      <a:lumMod val="75000"/>
                      <a:lumOff val="25000"/>
                    </a:schemeClr>
                  </a:solidFill>
                  <a:cs typeface="+mn-ea"/>
                  <a:sym typeface="+mn-lt"/>
                </a:rPr>
                <a:t>环境下，</a:t>
              </a:r>
              <a:r>
                <a:rPr lang="en-US" altLang="zh-CN" sz="1000" dirty="0">
                  <a:solidFill>
                    <a:schemeClr val="tx1">
                      <a:lumMod val="75000"/>
                      <a:lumOff val="25000"/>
                    </a:schemeClr>
                  </a:solidFill>
                  <a:cs typeface="+mn-ea"/>
                  <a:sym typeface="+mn-lt"/>
                </a:rPr>
                <a:t>SVM</a:t>
              </a:r>
              <a:r>
                <a:rPr lang="zh-CN" altLang="en-US" sz="1000" dirty="0">
                  <a:solidFill>
                    <a:schemeClr val="tx1">
                      <a:lumMod val="75000"/>
                      <a:lumOff val="25000"/>
                    </a:schemeClr>
                  </a:solidFill>
                  <a:cs typeface="+mn-ea"/>
                  <a:sym typeface="+mn-lt"/>
                </a:rPr>
                <a:t>和</a:t>
              </a:r>
              <a:r>
                <a:rPr lang="en-US" altLang="zh-CN" sz="1000" dirty="0" err="1">
                  <a:solidFill>
                    <a:schemeClr val="tx1">
                      <a:lumMod val="75000"/>
                      <a:lumOff val="25000"/>
                    </a:schemeClr>
                  </a:solidFill>
                  <a:cs typeface="+mn-ea"/>
                  <a:sym typeface="+mn-lt"/>
                </a:rPr>
                <a:t>Kmeans</a:t>
              </a:r>
              <a:r>
                <a:rPr lang="zh-CN" altLang="en-US" sz="1000" dirty="0">
                  <a:solidFill>
                    <a:schemeClr val="tx1">
                      <a:lumMod val="75000"/>
                      <a:lumOff val="25000"/>
                    </a:schemeClr>
                  </a:solidFill>
                  <a:cs typeface="+mn-ea"/>
                  <a:sym typeface="+mn-lt"/>
                </a:rPr>
                <a:t>的调试和应用；</a:t>
              </a:r>
              <a:endParaRPr lang="zh-CN" altLang="da-DK" sz="1000" dirty="0">
                <a:solidFill>
                  <a:schemeClr val="tx1">
                    <a:lumMod val="75000"/>
                    <a:lumOff val="25000"/>
                  </a:schemeClr>
                </a:solidFill>
                <a:cs typeface="+mn-ea"/>
                <a:sym typeface="+mn-lt"/>
              </a:endParaRPr>
            </a:p>
          </p:txBody>
        </p:sp>
        <p:sp>
          <p:nvSpPr>
            <p:cNvPr id="67" name="TextBox 1956"/>
            <p:cNvSpPr/>
            <p:nvPr/>
          </p:nvSpPr>
          <p:spPr>
            <a:xfrm>
              <a:off x="3438210" y="2573986"/>
              <a:ext cx="1765746" cy="379590"/>
            </a:xfrm>
            <a:prstGeom prst="rect">
              <a:avLst/>
            </a:prstGeom>
            <a:noFill/>
            <a:ln w="9525">
              <a:noFill/>
              <a:miter/>
            </a:ln>
          </p:spPr>
          <p:txBody>
            <a:bodyPr wrap="square">
              <a:spAutoFit/>
            </a:bodyPr>
            <a:lstStyle/>
            <a:p>
              <a:pPr lvl="0" algn="r">
                <a:lnSpc>
                  <a:spcPts val="1500"/>
                </a:lnSpc>
              </a:pPr>
              <a:r>
                <a:rPr lang="zh-CN" altLang="en-US" b="1" dirty="0">
                  <a:solidFill>
                    <a:srgbClr val="1B4367"/>
                  </a:solidFill>
                  <a:cs typeface="+mn-ea"/>
                  <a:sym typeface="+mn-lt"/>
                </a:rPr>
                <a:t>数据准备</a:t>
              </a:r>
            </a:p>
          </p:txBody>
        </p:sp>
      </p:grpSp>
      <p:grpSp>
        <p:nvGrpSpPr>
          <p:cNvPr id="77" name="组合 76"/>
          <p:cNvGrpSpPr/>
          <p:nvPr/>
        </p:nvGrpSpPr>
        <p:grpSpPr>
          <a:xfrm>
            <a:off x="1270275" y="3199647"/>
            <a:ext cx="2694623" cy="675703"/>
            <a:chOff x="1644394" y="4873181"/>
            <a:chExt cx="3592830" cy="900939"/>
          </a:xfrm>
        </p:grpSpPr>
        <p:sp>
          <p:nvSpPr>
            <p:cNvPr id="68" name="文本框 5"/>
            <p:cNvSpPr txBox="1"/>
            <p:nvPr/>
          </p:nvSpPr>
          <p:spPr>
            <a:xfrm>
              <a:off x="1644394" y="5161472"/>
              <a:ext cx="3592830" cy="612648"/>
            </a:xfrm>
            <a:prstGeom prst="rect">
              <a:avLst/>
            </a:prstGeom>
            <a:noFill/>
          </p:spPr>
          <p:txBody>
            <a:bodyPr wrap="square" rtlCol="0">
              <a:spAutoFit/>
            </a:bodyPr>
            <a:lstStyle/>
            <a:p>
              <a:pPr algn="r">
                <a:lnSpc>
                  <a:spcPts val="1500"/>
                </a:lnSpc>
              </a:pP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4</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16</a:t>
              </a:r>
              <a:r>
                <a:rPr lang="zh-CN" altLang="en-US" sz="1000" dirty="0">
                  <a:solidFill>
                    <a:schemeClr val="tx1">
                      <a:lumMod val="75000"/>
                      <a:lumOff val="25000"/>
                    </a:schemeClr>
                  </a:solidFill>
                  <a:cs typeface="+mn-ea"/>
                  <a:sym typeface="+mn-lt"/>
                </a:rPr>
                <a:t>日</a:t>
              </a: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5</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15</a:t>
              </a:r>
              <a:r>
                <a:rPr lang="zh-CN" altLang="en-US" sz="1000" dirty="0">
                  <a:solidFill>
                    <a:schemeClr val="tx1">
                      <a:lumMod val="75000"/>
                      <a:lumOff val="25000"/>
                    </a:schemeClr>
                  </a:solidFill>
                  <a:cs typeface="+mn-ea"/>
                  <a:sym typeface="+mn-lt"/>
                </a:rPr>
                <a:t>日，完成论文撰写工作</a:t>
              </a:r>
              <a:endParaRPr lang="zh-CN" altLang="da-DK" sz="1000" dirty="0">
                <a:solidFill>
                  <a:schemeClr val="tx1">
                    <a:lumMod val="75000"/>
                    <a:lumOff val="25000"/>
                  </a:schemeClr>
                </a:solidFill>
                <a:cs typeface="+mn-ea"/>
                <a:sym typeface="+mn-lt"/>
              </a:endParaRPr>
            </a:p>
          </p:txBody>
        </p:sp>
        <p:sp>
          <p:nvSpPr>
            <p:cNvPr id="69" name="TextBox 1956"/>
            <p:cNvSpPr/>
            <p:nvPr/>
          </p:nvSpPr>
          <p:spPr>
            <a:xfrm>
              <a:off x="3334871" y="4873181"/>
              <a:ext cx="1847934" cy="379590"/>
            </a:xfrm>
            <a:prstGeom prst="rect">
              <a:avLst/>
            </a:prstGeom>
            <a:noFill/>
            <a:ln w="9525">
              <a:noFill/>
              <a:miter/>
            </a:ln>
          </p:spPr>
          <p:txBody>
            <a:bodyPr wrap="square">
              <a:spAutoFit/>
            </a:bodyPr>
            <a:lstStyle/>
            <a:p>
              <a:pPr lvl="0" algn="r">
                <a:lnSpc>
                  <a:spcPts val="1500"/>
                </a:lnSpc>
              </a:pPr>
              <a:r>
                <a:rPr lang="zh-CN" altLang="en-US" b="1" dirty="0">
                  <a:solidFill>
                    <a:srgbClr val="1B4367"/>
                  </a:solidFill>
                  <a:cs typeface="+mn-ea"/>
                  <a:sym typeface="+mn-lt"/>
                </a:rPr>
                <a:t>撰写论文</a:t>
              </a:r>
            </a:p>
          </p:txBody>
        </p:sp>
      </p:grpSp>
      <p:sp>
        <p:nvSpPr>
          <p:cNvPr id="55"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进度安排</a:t>
            </a:r>
          </a:p>
        </p:txBody>
      </p:sp>
      <p:cxnSp>
        <p:nvCxnSpPr>
          <p:cNvPr id="57" name="直接连接符 56"/>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9D4E9EA3-6F4F-46F8-A692-E81C55BFD669}"/>
              </a:ext>
            </a:extLst>
          </p:cNvPr>
          <p:cNvGrpSpPr/>
          <p:nvPr/>
        </p:nvGrpSpPr>
        <p:grpSpPr>
          <a:xfrm>
            <a:off x="4016146" y="4052485"/>
            <a:ext cx="582103" cy="588198"/>
            <a:chOff x="4420032" y="1854736"/>
            <a:chExt cx="1603375" cy="1603375"/>
          </a:xfrm>
          <a:solidFill>
            <a:srgbClr val="1B4367"/>
          </a:solidFill>
        </p:grpSpPr>
        <p:sp>
          <p:nvSpPr>
            <p:cNvPr id="59" name="Rectangle 5">
              <a:extLst>
                <a:ext uri="{FF2B5EF4-FFF2-40B4-BE49-F238E27FC236}">
                  <a16:creationId xmlns:a16="http://schemas.microsoft.com/office/drawing/2014/main" id="{884060AF-F0B6-41B5-A501-B3CD820463CB}"/>
                </a:ext>
              </a:extLst>
            </p:cNvPr>
            <p:cNvSpPr/>
            <p:nvPr/>
          </p:nvSpPr>
          <p:spPr>
            <a:xfrm>
              <a:off x="4420032" y="1854736"/>
              <a:ext cx="1603375" cy="1603375"/>
            </a:xfrm>
            <a:prstGeom prst="flowChartConnector">
              <a:avLst/>
            </a:prstGeom>
            <a:grpFill/>
            <a:ln w="9525">
              <a:noFill/>
              <a:miter/>
            </a:ln>
          </p:spPr>
          <p:txBody>
            <a:bodyPr anchor="ctr"/>
            <a:lstStyle/>
            <a:p>
              <a:pPr lvl="0" algn="ctr" eaLnBrk="1" hangingPunct="1"/>
              <a:endParaRPr lang="en-US" altLang="zh-CN" sz="1000" dirty="0">
                <a:solidFill>
                  <a:srgbClr val="FFFFFF"/>
                </a:solidFill>
                <a:cs typeface="+mn-ea"/>
                <a:sym typeface="+mn-lt"/>
              </a:endParaRPr>
            </a:p>
          </p:txBody>
        </p:sp>
        <p:sp>
          <p:nvSpPr>
            <p:cNvPr id="60" name="Freeform 132">
              <a:extLst>
                <a:ext uri="{FF2B5EF4-FFF2-40B4-BE49-F238E27FC236}">
                  <a16:creationId xmlns:a16="http://schemas.microsoft.com/office/drawing/2014/main" id="{A13F8650-DFFA-4262-85EF-DFF5BC7D3028}"/>
                </a:ext>
              </a:extLst>
            </p:cNvPr>
            <p:cNvSpPr>
              <a:spLocks noEditPoints="1"/>
            </p:cNvSpPr>
            <p:nvPr/>
          </p:nvSpPr>
          <p:spPr>
            <a:xfrm>
              <a:off x="4971860" y="2268369"/>
              <a:ext cx="497814" cy="691654"/>
            </a:xfrm>
            <a:custGeom>
              <a:avLst/>
              <a:gdLst/>
              <a:ahLst/>
              <a:cxnLst>
                <a:cxn ang="0">
                  <a:pos x="69148" y="0"/>
                </a:cxn>
                <a:cxn ang="0">
                  <a:pos x="69148" y="0"/>
                </a:cxn>
                <a:cxn ang="0">
                  <a:pos x="69148" y="48617"/>
                </a:cxn>
                <a:cxn ang="0">
                  <a:pos x="69148" y="70611"/>
                </a:cxn>
                <a:cxn ang="0">
                  <a:pos x="47251" y="70611"/>
                </a:cxn>
                <a:cxn ang="0">
                  <a:pos x="0" y="70611"/>
                </a:cxn>
                <a:cxn ang="0">
                  <a:pos x="0" y="333375"/>
                </a:cxn>
                <a:cxn ang="0">
                  <a:pos x="239712" y="333375"/>
                </a:cxn>
                <a:cxn ang="0">
                  <a:pos x="239712" y="0"/>
                </a:cxn>
                <a:cxn ang="0">
                  <a:pos x="69148" y="0"/>
                </a:cxn>
                <a:cxn ang="0">
                  <a:pos x="187851" y="193311"/>
                </a:cxn>
                <a:cxn ang="0">
                  <a:pos x="154430" y="193311"/>
                </a:cxn>
                <a:cxn ang="0">
                  <a:pos x="140600" y="193311"/>
                </a:cxn>
                <a:cxn ang="0">
                  <a:pos x="140600" y="266237"/>
                </a:cxn>
                <a:cxn ang="0">
                  <a:pos x="127923" y="278970"/>
                </a:cxn>
                <a:cxn ang="0">
                  <a:pos x="111789" y="278970"/>
                </a:cxn>
                <a:cxn ang="0">
                  <a:pos x="99112" y="266237"/>
                </a:cxn>
                <a:cxn ang="0">
                  <a:pos x="99112" y="193311"/>
                </a:cxn>
                <a:cxn ang="0">
                  <a:pos x="85282" y="193311"/>
                </a:cxn>
                <a:cxn ang="0">
                  <a:pos x="51861" y="193311"/>
                </a:cxn>
                <a:cxn ang="0">
                  <a:pos x="46098" y="182893"/>
                </a:cxn>
                <a:cxn ang="0">
                  <a:pos x="111789" y="105337"/>
                </a:cxn>
                <a:cxn ang="0">
                  <a:pos x="127923" y="105337"/>
                </a:cxn>
                <a:cxn ang="0">
                  <a:pos x="192461" y="182893"/>
                </a:cxn>
                <a:cxn ang="0">
                  <a:pos x="187851" y="193311"/>
                </a:cxn>
              </a:cxnLst>
              <a:rect l="0" t="0" r="0" b="0"/>
              <a:pathLst>
                <a:path w="208" h="288">
                  <a:moveTo>
                    <a:pt x="60" y="0"/>
                  </a:moveTo>
                  <a:cubicBezTo>
                    <a:pt x="60" y="0"/>
                    <a:pt x="60" y="0"/>
                    <a:pt x="60" y="0"/>
                  </a:cubicBezTo>
                  <a:cubicBezTo>
                    <a:pt x="60" y="42"/>
                    <a:pt x="60" y="42"/>
                    <a:pt x="60" y="42"/>
                  </a:cubicBezTo>
                  <a:cubicBezTo>
                    <a:pt x="60" y="61"/>
                    <a:pt x="60" y="61"/>
                    <a:pt x="60" y="61"/>
                  </a:cubicBezTo>
                  <a:cubicBezTo>
                    <a:pt x="41" y="61"/>
                    <a:pt x="41" y="61"/>
                    <a:pt x="41" y="61"/>
                  </a:cubicBezTo>
                  <a:cubicBezTo>
                    <a:pt x="0" y="61"/>
                    <a:pt x="0" y="61"/>
                    <a:pt x="0" y="61"/>
                  </a:cubicBezTo>
                  <a:cubicBezTo>
                    <a:pt x="0" y="288"/>
                    <a:pt x="0" y="288"/>
                    <a:pt x="0" y="288"/>
                  </a:cubicBezTo>
                  <a:cubicBezTo>
                    <a:pt x="208" y="288"/>
                    <a:pt x="208" y="288"/>
                    <a:pt x="208" y="288"/>
                  </a:cubicBezTo>
                  <a:cubicBezTo>
                    <a:pt x="208" y="0"/>
                    <a:pt x="208" y="0"/>
                    <a:pt x="208" y="0"/>
                  </a:cubicBezTo>
                  <a:lnTo>
                    <a:pt x="60" y="0"/>
                  </a:lnTo>
                  <a:close/>
                  <a:moveTo>
                    <a:pt x="163" y="167"/>
                  </a:moveTo>
                  <a:cubicBezTo>
                    <a:pt x="134" y="167"/>
                    <a:pt x="134" y="167"/>
                    <a:pt x="134" y="167"/>
                  </a:cubicBezTo>
                  <a:cubicBezTo>
                    <a:pt x="131" y="167"/>
                    <a:pt x="126" y="167"/>
                    <a:pt x="122" y="167"/>
                  </a:cubicBezTo>
                  <a:cubicBezTo>
                    <a:pt x="122" y="230"/>
                    <a:pt x="122" y="230"/>
                    <a:pt x="122" y="230"/>
                  </a:cubicBezTo>
                  <a:cubicBezTo>
                    <a:pt x="122" y="236"/>
                    <a:pt x="117" y="241"/>
                    <a:pt x="111" y="241"/>
                  </a:cubicBezTo>
                  <a:cubicBezTo>
                    <a:pt x="97" y="241"/>
                    <a:pt x="97" y="241"/>
                    <a:pt x="97" y="241"/>
                  </a:cubicBezTo>
                  <a:cubicBezTo>
                    <a:pt x="91" y="241"/>
                    <a:pt x="86" y="236"/>
                    <a:pt x="86" y="230"/>
                  </a:cubicBezTo>
                  <a:cubicBezTo>
                    <a:pt x="86" y="167"/>
                    <a:pt x="86" y="167"/>
                    <a:pt x="86" y="167"/>
                  </a:cubicBezTo>
                  <a:cubicBezTo>
                    <a:pt x="81" y="167"/>
                    <a:pt x="77" y="167"/>
                    <a:pt x="74" y="167"/>
                  </a:cubicBezTo>
                  <a:cubicBezTo>
                    <a:pt x="45" y="167"/>
                    <a:pt x="45" y="167"/>
                    <a:pt x="45" y="167"/>
                  </a:cubicBezTo>
                  <a:cubicBezTo>
                    <a:pt x="38" y="167"/>
                    <a:pt x="36" y="163"/>
                    <a:pt x="40" y="158"/>
                  </a:cubicBezTo>
                  <a:cubicBezTo>
                    <a:pt x="97" y="91"/>
                    <a:pt x="97" y="91"/>
                    <a:pt x="97" y="91"/>
                  </a:cubicBezTo>
                  <a:cubicBezTo>
                    <a:pt x="101" y="86"/>
                    <a:pt x="107" y="86"/>
                    <a:pt x="111" y="91"/>
                  </a:cubicBezTo>
                  <a:cubicBezTo>
                    <a:pt x="167" y="158"/>
                    <a:pt x="167" y="158"/>
                    <a:pt x="167" y="158"/>
                  </a:cubicBezTo>
                  <a:cubicBezTo>
                    <a:pt x="172" y="163"/>
                    <a:pt x="170" y="167"/>
                    <a:pt x="163" y="167"/>
                  </a:cubicBezTo>
                  <a:close/>
                </a:path>
              </a:pathLst>
            </a:custGeom>
            <a:solidFill>
              <a:schemeClr val="bg1"/>
            </a:solidFill>
            <a:ln w="9525">
              <a:noFill/>
            </a:ln>
          </p:spPr>
          <p:txBody>
            <a:bodyPr/>
            <a:lstStyle/>
            <a:p>
              <a:endParaRPr lang="zh-CN" altLang="en-US">
                <a:cs typeface="+mn-ea"/>
                <a:sym typeface="+mn-lt"/>
              </a:endParaRPr>
            </a:p>
          </p:txBody>
        </p:sp>
      </p:grpSp>
      <p:grpSp>
        <p:nvGrpSpPr>
          <p:cNvPr id="61" name="组合 60">
            <a:extLst>
              <a:ext uri="{FF2B5EF4-FFF2-40B4-BE49-F238E27FC236}">
                <a16:creationId xmlns:a16="http://schemas.microsoft.com/office/drawing/2014/main" id="{9AF1172C-17EA-4693-875C-B702204866A1}"/>
              </a:ext>
            </a:extLst>
          </p:cNvPr>
          <p:cNvGrpSpPr/>
          <p:nvPr/>
        </p:nvGrpSpPr>
        <p:grpSpPr>
          <a:xfrm>
            <a:off x="4644882" y="4046009"/>
            <a:ext cx="2694623" cy="675703"/>
            <a:chOff x="6180940" y="3828220"/>
            <a:chExt cx="3592830" cy="900935"/>
          </a:xfrm>
        </p:grpSpPr>
        <p:sp>
          <p:nvSpPr>
            <p:cNvPr id="62" name="文本框 61">
              <a:extLst>
                <a:ext uri="{FF2B5EF4-FFF2-40B4-BE49-F238E27FC236}">
                  <a16:creationId xmlns:a16="http://schemas.microsoft.com/office/drawing/2014/main" id="{7C2B16C6-FEF5-49AF-ADCD-864EAE86346E}"/>
                </a:ext>
              </a:extLst>
            </p:cNvPr>
            <p:cNvSpPr txBox="1"/>
            <p:nvPr/>
          </p:nvSpPr>
          <p:spPr>
            <a:xfrm>
              <a:off x="6180940" y="4116510"/>
              <a:ext cx="3592830" cy="612645"/>
            </a:xfrm>
            <a:prstGeom prst="rect">
              <a:avLst/>
            </a:prstGeom>
            <a:noFill/>
          </p:spPr>
          <p:txBody>
            <a:bodyPr wrap="square" rtlCol="0">
              <a:spAutoFit/>
            </a:bodyPr>
            <a:lstStyle/>
            <a:p>
              <a:pPr>
                <a:lnSpc>
                  <a:spcPts val="1500"/>
                </a:lnSpc>
              </a:pP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5</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16</a:t>
              </a:r>
              <a:r>
                <a:rPr lang="zh-CN" altLang="en-US" sz="1000" dirty="0">
                  <a:solidFill>
                    <a:schemeClr val="tx1">
                      <a:lumMod val="75000"/>
                      <a:lumOff val="25000"/>
                    </a:schemeClr>
                  </a:solidFill>
                  <a:cs typeface="+mn-ea"/>
                  <a:sym typeface="+mn-lt"/>
                </a:rPr>
                <a:t>日</a:t>
              </a:r>
              <a:r>
                <a:rPr lang="en-US" altLang="zh-CN" sz="1000" dirty="0">
                  <a:solidFill>
                    <a:schemeClr val="tx1">
                      <a:lumMod val="75000"/>
                      <a:lumOff val="25000"/>
                    </a:schemeClr>
                  </a:solidFill>
                  <a:cs typeface="+mn-ea"/>
                  <a:sym typeface="+mn-lt"/>
                </a:rPr>
                <a:t>-2021</a:t>
              </a:r>
              <a:r>
                <a:rPr lang="zh-CN" altLang="en-US" sz="1000" dirty="0">
                  <a:solidFill>
                    <a:schemeClr val="tx1">
                      <a:lumMod val="75000"/>
                      <a:lumOff val="25000"/>
                    </a:schemeClr>
                  </a:solidFill>
                  <a:cs typeface="+mn-ea"/>
                  <a:sym typeface="+mn-lt"/>
                </a:rPr>
                <a:t>年</a:t>
              </a:r>
              <a:r>
                <a:rPr lang="en-US" altLang="zh-CN" sz="1000" dirty="0">
                  <a:solidFill>
                    <a:schemeClr val="tx1">
                      <a:lumMod val="75000"/>
                      <a:lumOff val="25000"/>
                    </a:schemeClr>
                  </a:solidFill>
                  <a:cs typeface="+mn-ea"/>
                  <a:sym typeface="+mn-lt"/>
                </a:rPr>
                <a:t>6</a:t>
              </a:r>
              <a:r>
                <a:rPr lang="zh-CN" altLang="en-US" sz="1000" dirty="0">
                  <a:solidFill>
                    <a:schemeClr val="tx1">
                      <a:lumMod val="75000"/>
                      <a:lumOff val="25000"/>
                    </a:schemeClr>
                  </a:solidFill>
                  <a:cs typeface="+mn-ea"/>
                  <a:sym typeface="+mn-lt"/>
                </a:rPr>
                <a:t>月</a:t>
              </a:r>
              <a:r>
                <a:rPr lang="en-US" altLang="zh-CN" sz="1000" dirty="0">
                  <a:solidFill>
                    <a:schemeClr val="tx1">
                      <a:lumMod val="75000"/>
                      <a:lumOff val="25000"/>
                    </a:schemeClr>
                  </a:solidFill>
                  <a:cs typeface="+mn-ea"/>
                  <a:sym typeface="+mn-lt"/>
                </a:rPr>
                <a:t>7</a:t>
              </a:r>
              <a:r>
                <a:rPr lang="zh-CN" altLang="en-US" sz="1000" dirty="0">
                  <a:solidFill>
                    <a:schemeClr val="tx1">
                      <a:lumMod val="75000"/>
                      <a:lumOff val="25000"/>
                    </a:schemeClr>
                  </a:solidFill>
                  <a:cs typeface="+mn-ea"/>
                  <a:sym typeface="+mn-lt"/>
                </a:rPr>
                <a:t>日，完成答辩</a:t>
              </a:r>
              <a:r>
                <a:rPr lang="en-US" altLang="zh-CN" sz="1000" dirty="0">
                  <a:solidFill>
                    <a:schemeClr val="tx1">
                      <a:lumMod val="75000"/>
                      <a:lumOff val="25000"/>
                    </a:schemeClr>
                  </a:solidFill>
                  <a:cs typeface="+mn-ea"/>
                  <a:sym typeface="+mn-lt"/>
                </a:rPr>
                <a:t>ppt</a:t>
              </a:r>
              <a:r>
                <a:rPr lang="zh-CN" altLang="en-US" sz="1000" dirty="0">
                  <a:solidFill>
                    <a:schemeClr val="tx1">
                      <a:lumMod val="75000"/>
                      <a:lumOff val="25000"/>
                    </a:schemeClr>
                  </a:solidFill>
                  <a:cs typeface="+mn-ea"/>
                  <a:sym typeface="+mn-lt"/>
                </a:rPr>
                <a:t>和论文查重工作</a:t>
              </a:r>
              <a:endParaRPr lang="zh-CN" altLang="da-DK" sz="1000" dirty="0">
                <a:solidFill>
                  <a:schemeClr val="tx1">
                    <a:lumMod val="75000"/>
                    <a:lumOff val="25000"/>
                  </a:schemeClr>
                </a:solidFill>
                <a:cs typeface="+mn-ea"/>
                <a:sym typeface="+mn-lt"/>
              </a:endParaRPr>
            </a:p>
          </p:txBody>
        </p:sp>
        <p:sp>
          <p:nvSpPr>
            <p:cNvPr id="78" name="TextBox 1956">
              <a:extLst>
                <a:ext uri="{FF2B5EF4-FFF2-40B4-BE49-F238E27FC236}">
                  <a16:creationId xmlns:a16="http://schemas.microsoft.com/office/drawing/2014/main" id="{775D6705-244E-41BF-9992-9238C9518EF7}"/>
                </a:ext>
              </a:extLst>
            </p:cNvPr>
            <p:cNvSpPr/>
            <p:nvPr/>
          </p:nvSpPr>
          <p:spPr>
            <a:xfrm>
              <a:off x="6184751" y="3828220"/>
              <a:ext cx="2086684" cy="379590"/>
            </a:xfrm>
            <a:prstGeom prst="rect">
              <a:avLst/>
            </a:prstGeom>
            <a:noFill/>
            <a:ln w="9525">
              <a:noFill/>
              <a:miter/>
            </a:ln>
          </p:spPr>
          <p:txBody>
            <a:bodyPr wrap="square">
              <a:spAutoFit/>
            </a:bodyPr>
            <a:lstStyle/>
            <a:p>
              <a:pPr lvl="0" algn="l">
                <a:lnSpc>
                  <a:spcPts val="1500"/>
                </a:lnSpc>
              </a:pPr>
              <a:r>
                <a:rPr lang="zh-CN" altLang="en-US" b="1" dirty="0">
                  <a:solidFill>
                    <a:srgbClr val="1B4367"/>
                  </a:solidFill>
                  <a:cs typeface="+mn-ea"/>
                  <a:sym typeface="+mn-lt"/>
                </a:rPr>
                <a:t>论文答辩</a:t>
              </a:r>
            </a:p>
          </p:txBody>
        </p:sp>
      </p:gr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5"/>
                                        </p:tgtEl>
                                        <p:attrNameLst>
                                          <p:attrName>ppt_y</p:attrName>
                                        </p:attrNameLst>
                                      </p:cBhvr>
                                      <p:tavLst>
                                        <p:tav tm="0">
                                          <p:val>
                                            <p:strVal val="#ppt_y"/>
                                          </p:val>
                                        </p:tav>
                                        <p:tav tm="100000">
                                          <p:val>
                                            <p:strVal val="#ppt_y"/>
                                          </p:val>
                                        </p:tav>
                                      </p:tavLst>
                                    </p:anim>
                                    <p:anim calcmode="lin" valueType="num">
                                      <p:cBhvr>
                                        <p:cTn id="9" dur="500" fill="hold"/>
                                        <p:tgtEl>
                                          <p:spTgt spid="5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5"/>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wipe(left)">
                                      <p:cBhvr>
                                        <p:cTn id="15" dur="300"/>
                                        <p:tgtEl>
                                          <p:spTgt spid="57"/>
                                        </p:tgtEl>
                                      </p:cBhvr>
                                    </p:animEffect>
                                  </p:childTnLst>
                                </p:cTn>
                              </p:par>
                            </p:childTnLst>
                          </p:cTn>
                        </p:par>
                        <p:par>
                          <p:cTn id="16" fill="hold">
                            <p:stCondLst>
                              <p:cond delay="950"/>
                            </p:stCondLst>
                            <p:childTnLst>
                              <p:par>
                                <p:cTn id="17" presetID="22" presetClass="entr" presetSubtype="1"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up)">
                                      <p:cBhvr>
                                        <p:cTn id="19" dur="500"/>
                                        <p:tgtEl>
                                          <p:spTgt spid="11"/>
                                        </p:tgtEl>
                                      </p:cBhvr>
                                    </p:animEffect>
                                  </p:childTnLst>
                                </p:cTn>
                              </p:par>
                            </p:childTnLst>
                          </p:cTn>
                        </p:par>
                        <p:par>
                          <p:cTn id="20" fill="hold">
                            <p:stCondLst>
                              <p:cond delay="1450"/>
                            </p:stCondLst>
                            <p:childTnLst>
                              <p:par>
                                <p:cTn id="21" presetID="53" presetClass="entr" presetSubtype="16" fill="hold" nodeType="afterEffect">
                                  <p:stCondLst>
                                    <p:cond delay="0"/>
                                  </p:stCondLst>
                                  <p:childTnLst>
                                    <p:set>
                                      <p:cBhvr>
                                        <p:cTn id="22" dur="1" fill="hold">
                                          <p:stCondLst>
                                            <p:cond delay="0"/>
                                          </p:stCondLst>
                                        </p:cTn>
                                        <p:tgtEl>
                                          <p:spTgt spid="70"/>
                                        </p:tgtEl>
                                        <p:attrNameLst>
                                          <p:attrName>style.visibility</p:attrName>
                                        </p:attrNameLst>
                                      </p:cBhvr>
                                      <p:to>
                                        <p:strVal val="visible"/>
                                      </p:to>
                                    </p:set>
                                    <p:anim calcmode="lin" valueType="num">
                                      <p:cBhvr>
                                        <p:cTn id="23" dur="500" fill="hold"/>
                                        <p:tgtEl>
                                          <p:spTgt spid="70"/>
                                        </p:tgtEl>
                                        <p:attrNameLst>
                                          <p:attrName>ppt_w</p:attrName>
                                        </p:attrNameLst>
                                      </p:cBhvr>
                                      <p:tavLst>
                                        <p:tav tm="0">
                                          <p:val>
                                            <p:fltVal val="0"/>
                                          </p:val>
                                        </p:tav>
                                        <p:tav tm="100000">
                                          <p:val>
                                            <p:strVal val="#ppt_w"/>
                                          </p:val>
                                        </p:tav>
                                      </p:tavLst>
                                    </p:anim>
                                    <p:anim calcmode="lin" valueType="num">
                                      <p:cBhvr>
                                        <p:cTn id="24" dur="500" fill="hold"/>
                                        <p:tgtEl>
                                          <p:spTgt spid="70"/>
                                        </p:tgtEl>
                                        <p:attrNameLst>
                                          <p:attrName>ppt_h</p:attrName>
                                        </p:attrNameLst>
                                      </p:cBhvr>
                                      <p:tavLst>
                                        <p:tav tm="0">
                                          <p:val>
                                            <p:fltVal val="0"/>
                                          </p:val>
                                        </p:tav>
                                        <p:tav tm="100000">
                                          <p:val>
                                            <p:strVal val="#ppt_h"/>
                                          </p:val>
                                        </p:tav>
                                      </p:tavLst>
                                    </p:anim>
                                    <p:animEffect transition="in" filter="fade">
                                      <p:cBhvr>
                                        <p:cTn id="25" dur="500"/>
                                        <p:tgtEl>
                                          <p:spTgt spid="70"/>
                                        </p:tgtEl>
                                      </p:cBhvr>
                                    </p:animEffect>
                                  </p:childTnLst>
                                </p:cTn>
                              </p:par>
                            </p:childTnLst>
                          </p:cTn>
                        </p:par>
                        <p:par>
                          <p:cTn id="26" fill="hold">
                            <p:stCondLst>
                              <p:cond delay="1950"/>
                            </p:stCondLst>
                            <p:childTnLst>
                              <p:par>
                                <p:cTn id="27" presetID="2" presetClass="entr" presetSubtype="2" fill="hold" nodeType="afterEffect">
                                  <p:stCondLst>
                                    <p:cond delay="0"/>
                                  </p:stCondLst>
                                  <p:childTnLst>
                                    <p:set>
                                      <p:cBhvr>
                                        <p:cTn id="28" dur="1" fill="hold">
                                          <p:stCondLst>
                                            <p:cond delay="0"/>
                                          </p:stCondLst>
                                        </p:cTn>
                                        <p:tgtEl>
                                          <p:spTgt spid="75"/>
                                        </p:tgtEl>
                                        <p:attrNameLst>
                                          <p:attrName>style.visibility</p:attrName>
                                        </p:attrNameLst>
                                      </p:cBhvr>
                                      <p:to>
                                        <p:strVal val="visible"/>
                                      </p:to>
                                    </p:set>
                                    <p:anim calcmode="lin" valueType="num">
                                      <p:cBhvr additive="base">
                                        <p:cTn id="29" dur="500" fill="hold"/>
                                        <p:tgtEl>
                                          <p:spTgt spid="75"/>
                                        </p:tgtEl>
                                        <p:attrNameLst>
                                          <p:attrName>ppt_x</p:attrName>
                                        </p:attrNameLst>
                                      </p:cBhvr>
                                      <p:tavLst>
                                        <p:tav tm="0">
                                          <p:val>
                                            <p:strVal val="1+#ppt_w/2"/>
                                          </p:val>
                                        </p:tav>
                                        <p:tav tm="100000">
                                          <p:val>
                                            <p:strVal val="#ppt_x"/>
                                          </p:val>
                                        </p:tav>
                                      </p:tavLst>
                                    </p:anim>
                                    <p:anim calcmode="lin" valueType="num">
                                      <p:cBhvr additive="base">
                                        <p:cTn id="30" dur="500" fill="hold"/>
                                        <p:tgtEl>
                                          <p:spTgt spid="75"/>
                                        </p:tgtEl>
                                        <p:attrNameLst>
                                          <p:attrName>ppt_y</p:attrName>
                                        </p:attrNameLst>
                                      </p:cBhvr>
                                      <p:tavLst>
                                        <p:tav tm="0">
                                          <p:val>
                                            <p:strVal val="#ppt_y"/>
                                          </p:val>
                                        </p:tav>
                                        <p:tav tm="100000">
                                          <p:val>
                                            <p:strVal val="#ppt_y"/>
                                          </p:val>
                                        </p:tav>
                                      </p:tavLst>
                                    </p:anim>
                                  </p:childTnLst>
                                </p:cTn>
                              </p:par>
                            </p:childTnLst>
                          </p:cTn>
                        </p:par>
                        <p:par>
                          <p:cTn id="31" fill="hold">
                            <p:stCondLst>
                              <p:cond delay="2450"/>
                            </p:stCondLst>
                            <p:childTnLst>
                              <p:par>
                                <p:cTn id="32" presetID="53" presetClass="entr" presetSubtype="16" fill="hold" nodeType="afterEffect">
                                  <p:stCondLst>
                                    <p:cond delay="0"/>
                                  </p:stCondLst>
                                  <p:childTnLst>
                                    <p:set>
                                      <p:cBhvr>
                                        <p:cTn id="33" dur="1" fill="hold">
                                          <p:stCondLst>
                                            <p:cond delay="0"/>
                                          </p:stCondLst>
                                        </p:cTn>
                                        <p:tgtEl>
                                          <p:spTgt spid="71"/>
                                        </p:tgtEl>
                                        <p:attrNameLst>
                                          <p:attrName>style.visibility</p:attrName>
                                        </p:attrNameLst>
                                      </p:cBhvr>
                                      <p:to>
                                        <p:strVal val="visible"/>
                                      </p:to>
                                    </p:set>
                                    <p:anim calcmode="lin" valueType="num">
                                      <p:cBhvr>
                                        <p:cTn id="34" dur="500" fill="hold"/>
                                        <p:tgtEl>
                                          <p:spTgt spid="71"/>
                                        </p:tgtEl>
                                        <p:attrNameLst>
                                          <p:attrName>ppt_w</p:attrName>
                                        </p:attrNameLst>
                                      </p:cBhvr>
                                      <p:tavLst>
                                        <p:tav tm="0">
                                          <p:val>
                                            <p:fltVal val="0"/>
                                          </p:val>
                                        </p:tav>
                                        <p:tav tm="100000">
                                          <p:val>
                                            <p:strVal val="#ppt_w"/>
                                          </p:val>
                                        </p:tav>
                                      </p:tavLst>
                                    </p:anim>
                                    <p:anim calcmode="lin" valueType="num">
                                      <p:cBhvr>
                                        <p:cTn id="35" dur="500" fill="hold"/>
                                        <p:tgtEl>
                                          <p:spTgt spid="71"/>
                                        </p:tgtEl>
                                        <p:attrNameLst>
                                          <p:attrName>ppt_h</p:attrName>
                                        </p:attrNameLst>
                                      </p:cBhvr>
                                      <p:tavLst>
                                        <p:tav tm="0">
                                          <p:val>
                                            <p:fltVal val="0"/>
                                          </p:val>
                                        </p:tav>
                                        <p:tav tm="100000">
                                          <p:val>
                                            <p:strVal val="#ppt_h"/>
                                          </p:val>
                                        </p:tav>
                                      </p:tavLst>
                                    </p:anim>
                                    <p:animEffect transition="in" filter="fade">
                                      <p:cBhvr>
                                        <p:cTn id="36" dur="500"/>
                                        <p:tgtEl>
                                          <p:spTgt spid="71"/>
                                        </p:tgtEl>
                                      </p:cBhvr>
                                    </p:animEffect>
                                  </p:childTnLst>
                                </p:cTn>
                              </p:par>
                            </p:childTnLst>
                          </p:cTn>
                        </p:par>
                        <p:par>
                          <p:cTn id="37" fill="hold">
                            <p:stCondLst>
                              <p:cond delay="2950"/>
                            </p:stCondLst>
                            <p:childTnLst>
                              <p:par>
                                <p:cTn id="38" presetID="2" presetClass="entr" presetSubtype="8" fill="hold" nodeType="afterEffect">
                                  <p:stCondLst>
                                    <p:cond delay="0"/>
                                  </p:stCondLst>
                                  <p:childTnLst>
                                    <p:set>
                                      <p:cBhvr>
                                        <p:cTn id="39" dur="1" fill="hold">
                                          <p:stCondLst>
                                            <p:cond delay="0"/>
                                          </p:stCondLst>
                                        </p:cTn>
                                        <p:tgtEl>
                                          <p:spTgt spid="76"/>
                                        </p:tgtEl>
                                        <p:attrNameLst>
                                          <p:attrName>style.visibility</p:attrName>
                                        </p:attrNameLst>
                                      </p:cBhvr>
                                      <p:to>
                                        <p:strVal val="visible"/>
                                      </p:to>
                                    </p:set>
                                    <p:anim calcmode="lin" valueType="num">
                                      <p:cBhvr additive="base">
                                        <p:cTn id="40" dur="500" fill="hold"/>
                                        <p:tgtEl>
                                          <p:spTgt spid="76"/>
                                        </p:tgtEl>
                                        <p:attrNameLst>
                                          <p:attrName>ppt_x</p:attrName>
                                        </p:attrNameLst>
                                      </p:cBhvr>
                                      <p:tavLst>
                                        <p:tav tm="0">
                                          <p:val>
                                            <p:strVal val="0-#ppt_w/2"/>
                                          </p:val>
                                        </p:tav>
                                        <p:tav tm="100000">
                                          <p:val>
                                            <p:strVal val="#ppt_x"/>
                                          </p:val>
                                        </p:tav>
                                      </p:tavLst>
                                    </p:anim>
                                    <p:anim calcmode="lin" valueType="num">
                                      <p:cBhvr additive="base">
                                        <p:cTn id="41" dur="500" fill="hold"/>
                                        <p:tgtEl>
                                          <p:spTgt spid="76"/>
                                        </p:tgtEl>
                                        <p:attrNameLst>
                                          <p:attrName>ppt_y</p:attrName>
                                        </p:attrNameLst>
                                      </p:cBhvr>
                                      <p:tavLst>
                                        <p:tav tm="0">
                                          <p:val>
                                            <p:strVal val="#ppt_y"/>
                                          </p:val>
                                        </p:tav>
                                        <p:tav tm="100000">
                                          <p:val>
                                            <p:strVal val="#ppt_y"/>
                                          </p:val>
                                        </p:tav>
                                      </p:tavLst>
                                    </p:anim>
                                  </p:childTnLst>
                                </p:cTn>
                              </p:par>
                            </p:childTnLst>
                          </p:cTn>
                        </p:par>
                        <p:par>
                          <p:cTn id="42" fill="hold">
                            <p:stCondLst>
                              <p:cond delay="3450"/>
                            </p:stCondLst>
                            <p:childTnLst>
                              <p:par>
                                <p:cTn id="43" presetID="53" presetClass="entr" presetSubtype="16" fill="hold" nodeType="afterEffect">
                                  <p:stCondLst>
                                    <p:cond delay="0"/>
                                  </p:stCondLst>
                                  <p:childTnLst>
                                    <p:set>
                                      <p:cBhvr>
                                        <p:cTn id="44" dur="1" fill="hold">
                                          <p:stCondLst>
                                            <p:cond delay="0"/>
                                          </p:stCondLst>
                                        </p:cTn>
                                        <p:tgtEl>
                                          <p:spTgt spid="72"/>
                                        </p:tgtEl>
                                        <p:attrNameLst>
                                          <p:attrName>style.visibility</p:attrName>
                                        </p:attrNameLst>
                                      </p:cBhvr>
                                      <p:to>
                                        <p:strVal val="visible"/>
                                      </p:to>
                                    </p:set>
                                    <p:anim calcmode="lin" valueType="num">
                                      <p:cBhvr>
                                        <p:cTn id="45" dur="500" fill="hold"/>
                                        <p:tgtEl>
                                          <p:spTgt spid="72"/>
                                        </p:tgtEl>
                                        <p:attrNameLst>
                                          <p:attrName>ppt_w</p:attrName>
                                        </p:attrNameLst>
                                      </p:cBhvr>
                                      <p:tavLst>
                                        <p:tav tm="0">
                                          <p:val>
                                            <p:fltVal val="0"/>
                                          </p:val>
                                        </p:tav>
                                        <p:tav tm="100000">
                                          <p:val>
                                            <p:strVal val="#ppt_w"/>
                                          </p:val>
                                        </p:tav>
                                      </p:tavLst>
                                    </p:anim>
                                    <p:anim calcmode="lin" valueType="num">
                                      <p:cBhvr>
                                        <p:cTn id="46" dur="500" fill="hold"/>
                                        <p:tgtEl>
                                          <p:spTgt spid="72"/>
                                        </p:tgtEl>
                                        <p:attrNameLst>
                                          <p:attrName>ppt_h</p:attrName>
                                        </p:attrNameLst>
                                      </p:cBhvr>
                                      <p:tavLst>
                                        <p:tav tm="0">
                                          <p:val>
                                            <p:fltVal val="0"/>
                                          </p:val>
                                        </p:tav>
                                        <p:tav tm="100000">
                                          <p:val>
                                            <p:strVal val="#ppt_h"/>
                                          </p:val>
                                        </p:tav>
                                      </p:tavLst>
                                    </p:anim>
                                    <p:animEffect transition="in" filter="fade">
                                      <p:cBhvr>
                                        <p:cTn id="47" dur="500"/>
                                        <p:tgtEl>
                                          <p:spTgt spid="72"/>
                                        </p:tgtEl>
                                      </p:cBhvr>
                                    </p:animEffect>
                                  </p:childTnLst>
                                </p:cTn>
                              </p:par>
                            </p:childTnLst>
                          </p:cTn>
                        </p:par>
                        <p:par>
                          <p:cTn id="48" fill="hold">
                            <p:stCondLst>
                              <p:cond delay="3950"/>
                            </p:stCondLst>
                            <p:childTnLst>
                              <p:par>
                                <p:cTn id="49" presetID="2" presetClass="entr" presetSubtype="2" fill="hold" nodeType="afterEffect">
                                  <p:stCondLst>
                                    <p:cond delay="0"/>
                                  </p:stCondLst>
                                  <p:childTnLst>
                                    <p:set>
                                      <p:cBhvr>
                                        <p:cTn id="50" dur="1" fill="hold">
                                          <p:stCondLst>
                                            <p:cond delay="0"/>
                                          </p:stCondLst>
                                        </p:cTn>
                                        <p:tgtEl>
                                          <p:spTgt spid="74"/>
                                        </p:tgtEl>
                                        <p:attrNameLst>
                                          <p:attrName>style.visibility</p:attrName>
                                        </p:attrNameLst>
                                      </p:cBhvr>
                                      <p:to>
                                        <p:strVal val="visible"/>
                                      </p:to>
                                    </p:set>
                                    <p:anim calcmode="lin" valueType="num">
                                      <p:cBhvr additive="base">
                                        <p:cTn id="51" dur="500" fill="hold"/>
                                        <p:tgtEl>
                                          <p:spTgt spid="74"/>
                                        </p:tgtEl>
                                        <p:attrNameLst>
                                          <p:attrName>ppt_x</p:attrName>
                                        </p:attrNameLst>
                                      </p:cBhvr>
                                      <p:tavLst>
                                        <p:tav tm="0">
                                          <p:val>
                                            <p:strVal val="1+#ppt_w/2"/>
                                          </p:val>
                                        </p:tav>
                                        <p:tav tm="100000">
                                          <p:val>
                                            <p:strVal val="#ppt_x"/>
                                          </p:val>
                                        </p:tav>
                                      </p:tavLst>
                                    </p:anim>
                                    <p:anim calcmode="lin" valueType="num">
                                      <p:cBhvr additive="base">
                                        <p:cTn id="52" dur="500" fill="hold"/>
                                        <p:tgtEl>
                                          <p:spTgt spid="74"/>
                                        </p:tgtEl>
                                        <p:attrNameLst>
                                          <p:attrName>ppt_y</p:attrName>
                                        </p:attrNameLst>
                                      </p:cBhvr>
                                      <p:tavLst>
                                        <p:tav tm="0">
                                          <p:val>
                                            <p:strVal val="#ppt_y"/>
                                          </p:val>
                                        </p:tav>
                                        <p:tav tm="100000">
                                          <p:val>
                                            <p:strVal val="#ppt_y"/>
                                          </p:val>
                                        </p:tav>
                                      </p:tavLst>
                                    </p:anim>
                                  </p:childTnLst>
                                </p:cTn>
                              </p:par>
                            </p:childTnLst>
                          </p:cTn>
                        </p:par>
                        <p:par>
                          <p:cTn id="53" fill="hold">
                            <p:stCondLst>
                              <p:cond delay="4450"/>
                            </p:stCondLst>
                            <p:childTnLst>
                              <p:par>
                                <p:cTn id="54" presetID="53" presetClass="entr" presetSubtype="16" fill="hold" nodeType="afterEffect">
                                  <p:stCondLst>
                                    <p:cond delay="0"/>
                                  </p:stCondLst>
                                  <p:childTnLst>
                                    <p:set>
                                      <p:cBhvr>
                                        <p:cTn id="55" dur="1" fill="hold">
                                          <p:stCondLst>
                                            <p:cond delay="0"/>
                                          </p:stCondLst>
                                        </p:cTn>
                                        <p:tgtEl>
                                          <p:spTgt spid="73"/>
                                        </p:tgtEl>
                                        <p:attrNameLst>
                                          <p:attrName>style.visibility</p:attrName>
                                        </p:attrNameLst>
                                      </p:cBhvr>
                                      <p:to>
                                        <p:strVal val="visible"/>
                                      </p:to>
                                    </p:set>
                                    <p:anim calcmode="lin" valueType="num">
                                      <p:cBhvr>
                                        <p:cTn id="56" dur="500" fill="hold"/>
                                        <p:tgtEl>
                                          <p:spTgt spid="73"/>
                                        </p:tgtEl>
                                        <p:attrNameLst>
                                          <p:attrName>ppt_w</p:attrName>
                                        </p:attrNameLst>
                                      </p:cBhvr>
                                      <p:tavLst>
                                        <p:tav tm="0">
                                          <p:val>
                                            <p:fltVal val="0"/>
                                          </p:val>
                                        </p:tav>
                                        <p:tav tm="100000">
                                          <p:val>
                                            <p:strVal val="#ppt_w"/>
                                          </p:val>
                                        </p:tav>
                                      </p:tavLst>
                                    </p:anim>
                                    <p:anim calcmode="lin" valueType="num">
                                      <p:cBhvr>
                                        <p:cTn id="57" dur="500" fill="hold"/>
                                        <p:tgtEl>
                                          <p:spTgt spid="73"/>
                                        </p:tgtEl>
                                        <p:attrNameLst>
                                          <p:attrName>ppt_h</p:attrName>
                                        </p:attrNameLst>
                                      </p:cBhvr>
                                      <p:tavLst>
                                        <p:tav tm="0">
                                          <p:val>
                                            <p:fltVal val="0"/>
                                          </p:val>
                                        </p:tav>
                                        <p:tav tm="100000">
                                          <p:val>
                                            <p:strVal val="#ppt_h"/>
                                          </p:val>
                                        </p:tav>
                                      </p:tavLst>
                                    </p:anim>
                                    <p:animEffect transition="in" filter="fade">
                                      <p:cBhvr>
                                        <p:cTn id="58" dur="500"/>
                                        <p:tgtEl>
                                          <p:spTgt spid="73"/>
                                        </p:tgtEl>
                                      </p:cBhvr>
                                    </p:animEffect>
                                  </p:childTnLst>
                                </p:cTn>
                              </p:par>
                            </p:childTnLst>
                          </p:cTn>
                        </p:par>
                        <p:par>
                          <p:cTn id="59" fill="hold">
                            <p:stCondLst>
                              <p:cond delay="4950"/>
                            </p:stCondLst>
                            <p:childTnLst>
                              <p:par>
                                <p:cTn id="60" presetID="2" presetClass="entr" presetSubtype="8" fill="hold" nodeType="afterEffect">
                                  <p:stCondLst>
                                    <p:cond delay="0"/>
                                  </p:stCondLst>
                                  <p:childTnLst>
                                    <p:set>
                                      <p:cBhvr>
                                        <p:cTn id="61" dur="1" fill="hold">
                                          <p:stCondLst>
                                            <p:cond delay="0"/>
                                          </p:stCondLst>
                                        </p:cTn>
                                        <p:tgtEl>
                                          <p:spTgt spid="77"/>
                                        </p:tgtEl>
                                        <p:attrNameLst>
                                          <p:attrName>style.visibility</p:attrName>
                                        </p:attrNameLst>
                                      </p:cBhvr>
                                      <p:to>
                                        <p:strVal val="visible"/>
                                      </p:to>
                                    </p:set>
                                    <p:anim calcmode="lin" valueType="num">
                                      <p:cBhvr additive="base">
                                        <p:cTn id="62" dur="500" fill="hold"/>
                                        <p:tgtEl>
                                          <p:spTgt spid="77"/>
                                        </p:tgtEl>
                                        <p:attrNameLst>
                                          <p:attrName>ppt_x</p:attrName>
                                        </p:attrNameLst>
                                      </p:cBhvr>
                                      <p:tavLst>
                                        <p:tav tm="0">
                                          <p:val>
                                            <p:strVal val="0-#ppt_w/2"/>
                                          </p:val>
                                        </p:tav>
                                        <p:tav tm="100000">
                                          <p:val>
                                            <p:strVal val="#ppt_x"/>
                                          </p:val>
                                        </p:tav>
                                      </p:tavLst>
                                    </p:anim>
                                    <p:anim calcmode="lin" valueType="num">
                                      <p:cBhvr additive="base">
                                        <p:cTn id="63" dur="500" fill="hold"/>
                                        <p:tgtEl>
                                          <p:spTgt spid="77"/>
                                        </p:tgtEl>
                                        <p:attrNameLst>
                                          <p:attrName>ppt_y</p:attrName>
                                        </p:attrNameLst>
                                      </p:cBhvr>
                                      <p:tavLst>
                                        <p:tav tm="0">
                                          <p:val>
                                            <p:strVal val="#ppt_y"/>
                                          </p:val>
                                        </p:tav>
                                        <p:tav tm="100000">
                                          <p:val>
                                            <p:strVal val="#ppt_y"/>
                                          </p:val>
                                        </p:tav>
                                      </p:tavLst>
                                    </p:anim>
                                  </p:childTnLst>
                                </p:cTn>
                              </p:par>
                            </p:childTnLst>
                          </p:cTn>
                        </p:par>
                        <p:par>
                          <p:cTn id="64" fill="hold">
                            <p:stCondLst>
                              <p:cond delay="5450"/>
                            </p:stCondLst>
                            <p:childTnLst>
                              <p:par>
                                <p:cTn id="65" presetID="53" presetClass="entr" presetSubtype="528" fill="hold" nodeType="afterEffect">
                                  <p:stCondLst>
                                    <p:cond delay="0"/>
                                  </p:stCondLst>
                                  <p:childTnLst>
                                    <p:set>
                                      <p:cBhvr>
                                        <p:cTn id="66" dur="1" fill="hold">
                                          <p:stCondLst>
                                            <p:cond delay="0"/>
                                          </p:stCondLst>
                                        </p:cTn>
                                        <p:tgtEl>
                                          <p:spTgt spid="58"/>
                                        </p:tgtEl>
                                        <p:attrNameLst>
                                          <p:attrName>style.visibility</p:attrName>
                                        </p:attrNameLst>
                                      </p:cBhvr>
                                      <p:to>
                                        <p:strVal val="visible"/>
                                      </p:to>
                                    </p:set>
                                    <p:anim calcmode="lin" valueType="num">
                                      <p:cBhvr>
                                        <p:cTn id="67" dur="500" fill="hold"/>
                                        <p:tgtEl>
                                          <p:spTgt spid="58"/>
                                        </p:tgtEl>
                                        <p:attrNameLst>
                                          <p:attrName>ppt_w</p:attrName>
                                        </p:attrNameLst>
                                      </p:cBhvr>
                                      <p:tavLst>
                                        <p:tav tm="0">
                                          <p:val>
                                            <p:fltVal val="0"/>
                                          </p:val>
                                        </p:tav>
                                        <p:tav tm="100000">
                                          <p:val>
                                            <p:strVal val="#ppt_w"/>
                                          </p:val>
                                        </p:tav>
                                      </p:tavLst>
                                    </p:anim>
                                    <p:anim calcmode="lin" valueType="num">
                                      <p:cBhvr>
                                        <p:cTn id="68" dur="500" fill="hold"/>
                                        <p:tgtEl>
                                          <p:spTgt spid="58"/>
                                        </p:tgtEl>
                                        <p:attrNameLst>
                                          <p:attrName>ppt_h</p:attrName>
                                        </p:attrNameLst>
                                      </p:cBhvr>
                                      <p:tavLst>
                                        <p:tav tm="0">
                                          <p:val>
                                            <p:fltVal val="0"/>
                                          </p:val>
                                        </p:tav>
                                        <p:tav tm="100000">
                                          <p:val>
                                            <p:strVal val="#ppt_h"/>
                                          </p:val>
                                        </p:tav>
                                      </p:tavLst>
                                    </p:anim>
                                    <p:animEffect transition="in" filter="fade">
                                      <p:cBhvr>
                                        <p:cTn id="69" dur="500"/>
                                        <p:tgtEl>
                                          <p:spTgt spid="58"/>
                                        </p:tgtEl>
                                      </p:cBhvr>
                                    </p:animEffect>
                                    <p:anim calcmode="lin" valueType="num">
                                      <p:cBhvr>
                                        <p:cTn id="70" dur="500" fill="hold"/>
                                        <p:tgtEl>
                                          <p:spTgt spid="58"/>
                                        </p:tgtEl>
                                        <p:attrNameLst>
                                          <p:attrName>ppt_x</p:attrName>
                                        </p:attrNameLst>
                                      </p:cBhvr>
                                      <p:tavLst>
                                        <p:tav tm="0">
                                          <p:val>
                                            <p:fltVal val="0.5"/>
                                          </p:val>
                                        </p:tav>
                                        <p:tav tm="100000">
                                          <p:val>
                                            <p:strVal val="#ppt_x"/>
                                          </p:val>
                                        </p:tav>
                                      </p:tavLst>
                                    </p:anim>
                                    <p:anim calcmode="lin" valueType="num">
                                      <p:cBhvr>
                                        <p:cTn id="71" dur="500" fill="hold"/>
                                        <p:tgtEl>
                                          <p:spTgt spid="58"/>
                                        </p:tgtEl>
                                        <p:attrNameLst>
                                          <p:attrName>ppt_y</p:attrName>
                                        </p:attrNameLst>
                                      </p:cBhvr>
                                      <p:tavLst>
                                        <p:tav tm="0">
                                          <p:val>
                                            <p:fltVal val="0.5"/>
                                          </p:val>
                                        </p:tav>
                                        <p:tav tm="100000">
                                          <p:val>
                                            <p:strVal val="#ppt_y"/>
                                          </p:val>
                                        </p:tav>
                                      </p:tavLst>
                                    </p:anim>
                                  </p:childTnLst>
                                </p:cTn>
                              </p:par>
                            </p:childTnLst>
                          </p:cTn>
                        </p:par>
                        <p:par>
                          <p:cTn id="72" fill="hold">
                            <p:stCondLst>
                              <p:cond delay="5950"/>
                            </p:stCondLst>
                            <p:childTnLst>
                              <p:par>
                                <p:cTn id="73" presetID="2" presetClass="entr" presetSubtype="2" fill="hold" nodeType="afterEffect">
                                  <p:stCondLst>
                                    <p:cond delay="0"/>
                                  </p:stCondLst>
                                  <p:childTnLst>
                                    <p:set>
                                      <p:cBhvr>
                                        <p:cTn id="74" dur="1" fill="hold">
                                          <p:stCondLst>
                                            <p:cond delay="0"/>
                                          </p:stCondLst>
                                        </p:cTn>
                                        <p:tgtEl>
                                          <p:spTgt spid="61"/>
                                        </p:tgtEl>
                                        <p:attrNameLst>
                                          <p:attrName>style.visibility</p:attrName>
                                        </p:attrNameLst>
                                      </p:cBhvr>
                                      <p:to>
                                        <p:strVal val="visible"/>
                                      </p:to>
                                    </p:set>
                                    <p:anim calcmode="lin" valueType="num">
                                      <p:cBhvr additive="base">
                                        <p:cTn id="75" dur="500" fill="hold"/>
                                        <p:tgtEl>
                                          <p:spTgt spid="61"/>
                                        </p:tgtEl>
                                        <p:attrNameLst>
                                          <p:attrName>ppt_x</p:attrName>
                                        </p:attrNameLst>
                                      </p:cBhvr>
                                      <p:tavLst>
                                        <p:tav tm="0">
                                          <p:val>
                                            <p:strVal val="1+#ppt_w/2"/>
                                          </p:val>
                                        </p:tav>
                                        <p:tav tm="100000">
                                          <p:val>
                                            <p:strVal val="#ppt_x"/>
                                          </p:val>
                                        </p:tav>
                                      </p:tavLst>
                                    </p:anim>
                                    <p:anim calcmode="lin" valueType="num">
                                      <p:cBhvr additive="base">
                                        <p:cTn id="76"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预期目标</a:t>
            </a:r>
          </a:p>
        </p:txBody>
      </p:sp>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4" name="文本框 85">
            <a:extLst>
              <a:ext uri="{FF2B5EF4-FFF2-40B4-BE49-F238E27FC236}">
                <a16:creationId xmlns:a16="http://schemas.microsoft.com/office/drawing/2014/main" id="{88684AA7-505C-417F-9164-68C94588B072}"/>
              </a:ext>
            </a:extLst>
          </p:cNvPr>
          <p:cNvSpPr txBox="1"/>
          <p:nvPr/>
        </p:nvSpPr>
        <p:spPr>
          <a:xfrm>
            <a:off x="711200" y="866131"/>
            <a:ext cx="7670800" cy="188461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a:solidFill>
                  <a:schemeClr val="tx1">
                    <a:lumMod val="75000"/>
                    <a:lumOff val="25000"/>
                  </a:schemeClr>
                </a:solidFill>
                <a:cs typeface="+mn-ea"/>
                <a:sym typeface="+mn-lt"/>
              </a:rPr>
              <a:t>初步建立蛇纹石矿物成分数据库，并使用统计学手段完成相关数据清理。</a:t>
            </a:r>
          </a:p>
          <a:p>
            <a:pPr marL="342900" indent="-342900">
              <a:lnSpc>
                <a:spcPct val="150000"/>
              </a:lnSpc>
              <a:buFont typeface="Arial" panose="020B0604020202020204" pitchFamily="34" charset="0"/>
              <a:buChar char="•"/>
            </a:pPr>
            <a:r>
              <a:rPr lang="zh-CN" altLang="en-US" sz="2000" dirty="0">
                <a:solidFill>
                  <a:schemeClr val="tx1">
                    <a:lumMod val="75000"/>
                    <a:lumOff val="25000"/>
                  </a:schemeClr>
                </a:solidFill>
                <a:cs typeface="+mn-ea"/>
                <a:sym typeface="+mn-lt"/>
              </a:rPr>
              <a:t>在</a:t>
            </a:r>
            <a:r>
              <a:rPr lang="en-US" altLang="zh-CN" sz="2000" dirty="0">
                <a:solidFill>
                  <a:schemeClr val="tx1">
                    <a:lumMod val="75000"/>
                    <a:lumOff val="25000"/>
                  </a:schemeClr>
                </a:solidFill>
                <a:cs typeface="+mn-ea"/>
                <a:sym typeface="+mn-lt"/>
              </a:rPr>
              <a:t>Python</a:t>
            </a:r>
            <a:r>
              <a:rPr lang="zh-CN" altLang="en-US" sz="2000" dirty="0">
                <a:solidFill>
                  <a:schemeClr val="tx1">
                    <a:lumMod val="75000"/>
                    <a:lumOff val="25000"/>
                  </a:schemeClr>
                </a:solidFill>
                <a:cs typeface="+mn-ea"/>
                <a:sym typeface="+mn-lt"/>
              </a:rPr>
              <a:t>环境下实现</a:t>
            </a:r>
            <a:r>
              <a:rPr lang="en-US" altLang="zh-CN" sz="2000" dirty="0">
                <a:solidFill>
                  <a:schemeClr val="tx1">
                    <a:lumMod val="75000"/>
                    <a:lumOff val="25000"/>
                  </a:schemeClr>
                </a:solidFill>
                <a:cs typeface="+mn-ea"/>
                <a:sym typeface="+mn-lt"/>
              </a:rPr>
              <a:t>SVM</a:t>
            </a:r>
            <a:r>
              <a:rPr lang="zh-CN" altLang="en-US" sz="2000" dirty="0">
                <a:solidFill>
                  <a:schemeClr val="tx1">
                    <a:lumMod val="75000"/>
                    <a:lumOff val="25000"/>
                  </a:schemeClr>
                </a:solidFill>
                <a:cs typeface="+mn-ea"/>
                <a:sym typeface="+mn-lt"/>
              </a:rPr>
              <a:t>和</a:t>
            </a:r>
            <a:r>
              <a:rPr lang="en-US" altLang="zh-CN" sz="2000" dirty="0" err="1">
                <a:solidFill>
                  <a:schemeClr val="tx1">
                    <a:lumMod val="75000"/>
                    <a:lumOff val="25000"/>
                  </a:schemeClr>
                </a:solidFill>
                <a:cs typeface="+mn-ea"/>
                <a:sym typeface="+mn-lt"/>
              </a:rPr>
              <a:t>Kmeans</a:t>
            </a:r>
            <a:r>
              <a:rPr lang="zh-CN" altLang="en-US" sz="2000" dirty="0">
                <a:solidFill>
                  <a:schemeClr val="tx1">
                    <a:lumMod val="75000"/>
                    <a:lumOff val="25000"/>
                  </a:schemeClr>
                </a:solidFill>
                <a:cs typeface="+mn-ea"/>
                <a:sym typeface="+mn-lt"/>
              </a:rPr>
              <a:t>，在已有数据库的基础上获得区分蛇纹石多型成分差别的模型。</a:t>
            </a:r>
          </a:p>
        </p:txBody>
      </p:sp>
    </p:spTree>
    <p:extLst>
      <p:ext uri="{BB962C8B-B14F-4D97-AF65-F5344CB8AC3E}">
        <p14:creationId xmlns:p14="http://schemas.microsoft.com/office/powerpoint/2010/main" val="20969436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7"/>
                                        </p:tgtEl>
                                        <p:attrNameLst>
                                          <p:attrName>ppt_y</p:attrName>
                                        </p:attrNameLst>
                                      </p:cBhvr>
                                      <p:tavLst>
                                        <p:tav tm="0">
                                          <p:val>
                                            <p:strVal val="#ppt_y"/>
                                          </p:val>
                                        </p:tav>
                                        <p:tav tm="100000">
                                          <p:val>
                                            <p:strVal val="#ppt_y"/>
                                          </p:val>
                                        </p:tav>
                                      </p:tavLst>
                                    </p:anim>
                                    <p:anim calcmode="lin" valueType="num">
                                      <p:cBhvr>
                                        <p:cTn id="9"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7"/>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3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参考文献</a:t>
            </a:r>
          </a:p>
        </p:txBody>
      </p:sp>
      <p:sp>
        <p:nvSpPr>
          <p:cNvPr id="26" name="文本框 26"/>
          <p:cNvSpPr txBox="1"/>
          <p:nvPr/>
        </p:nvSpPr>
        <p:spPr>
          <a:xfrm>
            <a:off x="1367506" y="1263783"/>
            <a:ext cx="1828474" cy="587395"/>
          </a:xfrm>
          <a:prstGeom prst="roundRect">
            <a:avLst/>
          </a:prstGeom>
          <a:solidFill>
            <a:srgbClr val="1B4367"/>
          </a:solidFill>
          <a:ln w="9525">
            <a:noFill/>
          </a:ln>
        </p:spPr>
        <p:txBody>
          <a:bodyPr wrap="square" lIns="68580" tIns="34290" rIns="68580" bIns="34290" rtlCol="0">
            <a:spAutoFit/>
          </a:bodyPr>
          <a:lstStyle/>
          <a:p>
            <a:r>
              <a:rPr lang="zh-CN" altLang="en-US" sz="3000" dirty="0">
                <a:solidFill>
                  <a:schemeClr val="bg1"/>
                </a:solidFill>
              </a:rPr>
              <a:t>开题报告</a:t>
            </a:r>
          </a:p>
        </p:txBody>
      </p:sp>
      <p:sp>
        <p:nvSpPr>
          <p:cNvPr id="27" name="文本框 31"/>
          <p:cNvSpPr txBox="1"/>
          <p:nvPr/>
        </p:nvSpPr>
        <p:spPr>
          <a:xfrm>
            <a:off x="1299770" y="1808746"/>
            <a:ext cx="2600712" cy="807913"/>
          </a:xfrm>
          <a:prstGeom prst="rect">
            <a:avLst/>
          </a:prstGeom>
          <a:noFill/>
        </p:spPr>
        <p:txBody>
          <a:bodyPr wrap="none" lIns="68580" tIns="34290" rIns="68580" bIns="34290" rtlCol="0">
            <a:spAutoFit/>
          </a:bodyPr>
          <a:lstStyle/>
          <a:p>
            <a:r>
              <a:rPr lang="zh-CN" altLang="zh-CN" sz="4800" b="1" dirty="0">
                <a:solidFill>
                  <a:srgbClr val="1B4367"/>
                </a:solidFill>
              </a:rPr>
              <a:t>参考文献</a:t>
            </a:r>
            <a:endParaRPr lang="zh-CN" altLang="en-US" sz="4800" b="1" dirty="0">
              <a:solidFill>
                <a:srgbClr val="1B4367"/>
              </a:solidFill>
            </a:endParaRPr>
          </a:p>
        </p:txBody>
      </p:sp>
      <p:sp>
        <p:nvSpPr>
          <p:cNvPr id="29" name="文本框 19"/>
          <p:cNvSpPr txBox="1"/>
          <p:nvPr/>
        </p:nvSpPr>
        <p:spPr>
          <a:xfrm>
            <a:off x="704028" y="2571750"/>
            <a:ext cx="3792196" cy="2706254"/>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kern="0" dirty="0">
                <a:solidFill>
                  <a:schemeClr val="tx1">
                    <a:lumMod val="75000"/>
                    <a:lumOff val="25000"/>
                  </a:schemeClr>
                </a:solidFill>
                <a:cs typeface="+mn-ea"/>
                <a:sym typeface="+mn-lt"/>
              </a:rPr>
              <a:t>Osuna E, Freund R. Training Support Vector Machines: an Application to Face Detection [A].</a:t>
            </a:r>
            <a:r>
              <a:rPr lang="en-US" altLang="zh-CN" sz="800" kern="0" dirty="0" err="1">
                <a:solidFill>
                  <a:schemeClr val="tx1">
                    <a:lumMod val="75000"/>
                    <a:lumOff val="25000"/>
                  </a:schemeClr>
                </a:solidFill>
                <a:cs typeface="+mn-ea"/>
                <a:sym typeface="+mn-lt"/>
              </a:rPr>
              <a:t>Proc.of</a:t>
            </a:r>
            <a:r>
              <a:rPr lang="en-US" altLang="zh-CN" sz="800" kern="0" dirty="0">
                <a:solidFill>
                  <a:schemeClr val="tx1">
                    <a:lumMod val="75000"/>
                    <a:lumOff val="25000"/>
                  </a:schemeClr>
                </a:solidFill>
                <a:cs typeface="+mn-ea"/>
                <a:sym typeface="+mn-lt"/>
              </a:rPr>
              <a:t> Computer Vision and Pattern Recognition [C]. San Juan, Puerto Rico, IEEE Computer Soc., 1997: 130-136</a:t>
            </a:r>
          </a:p>
          <a:p>
            <a:pPr lvl="0"/>
            <a:r>
              <a:rPr lang="zh-CN" altLang="zh-CN" sz="800" kern="0" dirty="0">
                <a:solidFill>
                  <a:schemeClr val="tx1">
                    <a:lumMod val="75000"/>
                    <a:lumOff val="25000"/>
                  </a:schemeClr>
                </a:solidFill>
                <a:cs typeface="+mn-ea"/>
              </a:rPr>
              <a:t>马勇</a:t>
            </a:r>
            <a:r>
              <a:rPr lang="en-US" altLang="zh-CN" sz="800" kern="0" dirty="0">
                <a:solidFill>
                  <a:schemeClr val="tx1">
                    <a:lumMod val="75000"/>
                    <a:lumOff val="25000"/>
                  </a:schemeClr>
                </a:solidFill>
                <a:cs typeface="+mn-ea"/>
              </a:rPr>
              <a:t>,</a:t>
            </a:r>
            <a:r>
              <a:rPr lang="zh-CN" altLang="zh-CN" sz="800" kern="0" dirty="0">
                <a:solidFill>
                  <a:schemeClr val="tx1">
                    <a:lumMod val="75000"/>
                    <a:lumOff val="25000"/>
                  </a:schemeClr>
                </a:solidFill>
                <a:cs typeface="+mn-ea"/>
              </a:rPr>
              <a:t>丁晓青</a:t>
            </a:r>
            <a:r>
              <a:rPr lang="en-US" altLang="zh-CN" sz="800" kern="0" dirty="0">
                <a:solidFill>
                  <a:schemeClr val="tx1">
                    <a:lumMod val="75000"/>
                    <a:lumOff val="25000"/>
                  </a:schemeClr>
                </a:solidFill>
                <a:cs typeface="+mn-ea"/>
              </a:rPr>
              <a:t>.</a:t>
            </a:r>
            <a:r>
              <a:rPr lang="zh-CN" altLang="zh-CN" sz="800" kern="0" dirty="0">
                <a:solidFill>
                  <a:schemeClr val="tx1">
                    <a:lumMod val="75000"/>
                    <a:lumOff val="25000"/>
                  </a:schemeClr>
                </a:solidFill>
                <a:cs typeface="+mn-ea"/>
              </a:rPr>
              <a:t>基于层次型支持向量机的人脸检测</a:t>
            </a:r>
            <a:r>
              <a:rPr lang="en-US" altLang="zh-CN" sz="800" kern="0" dirty="0">
                <a:solidFill>
                  <a:schemeClr val="tx1">
                    <a:lumMod val="75000"/>
                    <a:lumOff val="25000"/>
                  </a:schemeClr>
                </a:solidFill>
                <a:cs typeface="+mn-ea"/>
              </a:rPr>
              <a:t>.</a:t>
            </a:r>
            <a:r>
              <a:rPr lang="zh-CN" altLang="zh-CN" sz="800" kern="0" dirty="0">
                <a:solidFill>
                  <a:schemeClr val="tx1">
                    <a:lumMod val="75000"/>
                    <a:lumOff val="25000"/>
                  </a:schemeClr>
                </a:solidFill>
                <a:cs typeface="+mn-ea"/>
              </a:rPr>
              <a:t>清华大学学报</a:t>
            </a:r>
            <a:r>
              <a:rPr lang="en-US" altLang="zh-CN" sz="800" kern="0" dirty="0">
                <a:solidFill>
                  <a:schemeClr val="tx1">
                    <a:lumMod val="75000"/>
                    <a:lumOff val="25000"/>
                  </a:schemeClr>
                </a:solidFill>
                <a:cs typeface="+mn-ea"/>
              </a:rPr>
              <a:t>(</a:t>
            </a:r>
            <a:r>
              <a:rPr lang="zh-CN" altLang="zh-CN" sz="800" kern="0" dirty="0">
                <a:solidFill>
                  <a:schemeClr val="tx1">
                    <a:lumMod val="75000"/>
                    <a:lumOff val="25000"/>
                  </a:schemeClr>
                </a:solidFill>
                <a:cs typeface="+mn-ea"/>
              </a:rPr>
              <a:t>自然科学版</a:t>
            </a:r>
            <a:r>
              <a:rPr lang="en-US" altLang="zh-CN" sz="800" kern="0" dirty="0">
                <a:solidFill>
                  <a:schemeClr val="tx1">
                    <a:lumMod val="75000"/>
                    <a:lumOff val="25000"/>
                  </a:schemeClr>
                </a:solidFill>
                <a:cs typeface="+mn-ea"/>
              </a:rPr>
              <a:t>),2003,43(1):35-38</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柳回春，马树元，吴平东</a:t>
            </a:r>
            <a:r>
              <a:rPr lang="en-US" altLang="zh-CN" sz="800" kern="0" dirty="0">
                <a:solidFill>
                  <a:schemeClr val="tx1">
                    <a:lumMod val="75000"/>
                    <a:lumOff val="25000"/>
                  </a:schemeClr>
                </a:solidFill>
                <a:cs typeface="+mn-ea"/>
              </a:rPr>
              <a:t>.UK</a:t>
            </a:r>
            <a:r>
              <a:rPr lang="zh-CN" altLang="zh-CN" sz="800" kern="0" dirty="0">
                <a:solidFill>
                  <a:schemeClr val="tx1">
                    <a:lumMod val="75000"/>
                    <a:lumOff val="25000"/>
                  </a:schemeClr>
                </a:solidFill>
                <a:cs typeface="+mn-ea"/>
              </a:rPr>
              <a:t>心理测试自动分析系统的手写体数字识别</a:t>
            </a:r>
            <a:r>
              <a:rPr lang="en-US" altLang="zh-CN" sz="800" kern="0" dirty="0">
                <a:solidFill>
                  <a:schemeClr val="tx1">
                    <a:lumMod val="75000"/>
                    <a:lumOff val="25000"/>
                  </a:schemeClr>
                </a:solidFill>
                <a:cs typeface="+mn-ea"/>
              </a:rPr>
              <a:t>.</a:t>
            </a:r>
            <a:r>
              <a:rPr lang="zh-CN" altLang="zh-CN" sz="800" kern="0" dirty="0">
                <a:solidFill>
                  <a:schemeClr val="tx1">
                    <a:lumMod val="75000"/>
                    <a:lumOff val="25000"/>
                  </a:schemeClr>
                </a:solidFill>
                <a:cs typeface="+mn-ea"/>
              </a:rPr>
              <a:t>北京理工大学学报，</a:t>
            </a:r>
            <a:r>
              <a:rPr lang="en-US" altLang="zh-CN" sz="800" kern="0" dirty="0">
                <a:solidFill>
                  <a:schemeClr val="tx1">
                    <a:lumMod val="75000"/>
                    <a:lumOff val="25000"/>
                  </a:schemeClr>
                </a:solidFill>
                <a:cs typeface="+mn-ea"/>
              </a:rPr>
              <a:t>2002,22(5):599-603</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高学，金连文，尹俊勋等</a:t>
            </a:r>
            <a:r>
              <a:rPr lang="en-US" altLang="zh-CN" sz="800" kern="0" dirty="0">
                <a:solidFill>
                  <a:schemeClr val="tx1">
                    <a:lumMod val="75000"/>
                    <a:lumOff val="25000"/>
                  </a:schemeClr>
                </a:solidFill>
                <a:cs typeface="+mn-ea"/>
              </a:rPr>
              <a:t>.</a:t>
            </a:r>
            <a:r>
              <a:rPr lang="zh-CN" altLang="zh-CN" sz="800" kern="0" dirty="0">
                <a:solidFill>
                  <a:schemeClr val="tx1">
                    <a:lumMod val="75000"/>
                    <a:lumOff val="25000"/>
                  </a:schemeClr>
                </a:solidFill>
                <a:cs typeface="+mn-ea"/>
              </a:rPr>
              <a:t>一种基于支持向量机的手写汉字识别方法，电子学报，</a:t>
            </a:r>
            <a:r>
              <a:rPr lang="en-US" altLang="zh-CN" sz="800" kern="0" dirty="0">
                <a:solidFill>
                  <a:schemeClr val="tx1">
                    <a:lumMod val="75000"/>
                    <a:lumOff val="25000"/>
                  </a:schemeClr>
                </a:solidFill>
                <a:cs typeface="+mn-ea"/>
              </a:rPr>
              <a:t>2002,30(5):651-654</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LI G H, HUANG J F. CDRUG: a web server for predicting anticancer activity of chemical compounds[J]</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Bioinformatics </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2012 , 28</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24</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3334-3335</a:t>
            </a:r>
            <a:r>
              <a:rPr lang="zh-CN" altLang="zh-CN" sz="800" kern="0" dirty="0">
                <a:solidFill>
                  <a:schemeClr val="tx1">
                    <a:lumMod val="75000"/>
                    <a:lumOff val="25000"/>
                  </a:schemeClr>
                </a:solidFill>
                <a:cs typeface="+mn-ea"/>
              </a:rPr>
              <a:t>．</a:t>
            </a:r>
          </a:p>
          <a:p>
            <a:pPr lvl="0"/>
            <a:r>
              <a:rPr lang="en-US" altLang="zh-CN" sz="800" kern="0" dirty="0">
                <a:solidFill>
                  <a:schemeClr val="tx1">
                    <a:lumMod val="75000"/>
                    <a:lumOff val="25000"/>
                  </a:schemeClr>
                </a:solidFill>
                <a:cs typeface="+mn-ea"/>
              </a:rPr>
              <a:t>JIANG Q, ZHAI C, XIONG Z. Chemical compound classification based on improved Max-Min kernel[J] . Journal of Chemical &amp; Pharmaceutical Research, 2014.</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王山，孙莉，吴杰，等．一种基于计数型布隆过滤器的分子相似性算法研究［</a:t>
            </a:r>
            <a:r>
              <a:rPr lang="en-US" altLang="zh-CN" sz="800" kern="0" dirty="0">
                <a:solidFill>
                  <a:schemeClr val="tx1">
                    <a:lumMod val="75000"/>
                    <a:lumOff val="25000"/>
                  </a:schemeClr>
                </a:solidFill>
                <a:cs typeface="+mn-ea"/>
              </a:rPr>
              <a:t>J</a:t>
            </a:r>
            <a:r>
              <a:rPr lang="zh-CN" altLang="zh-CN" sz="800" kern="0" dirty="0">
                <a:solidFill>
                  <a:schemeClr val="tx1">
                    <a:lumMod val="75000"/>
                    <a:lumOff val="25000"/>
                  </a:schemeClr>
                </a:solidFill>
                <a:cs typeface="+mn-ea"/>
              </a:rPr>
              <a:t>］．计算机科学，</a:t>
            </a:r>
            <a:r>
              <a:rPr lang="en-US" altLang="zh-CN" sz="800" kern="0" dirty="0">
                <a:solidFill>
                  <a:schemeClr val="tx1">
                    <a:lumMod val="75000"/>
                    <a:lumOff val="25000"/>
                  </a:schemeClr>
                </a:solidFill>
                <a:cs typeface="+mn-ea"/>
              </a:rPr>
              <a:t>2017 </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44</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b11</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552-556</a:t>
            </a:r>
            <a:r>
              <a:rPr lang="zh-CN" altLang="zh-CN" sz="800" kern="0" dirty="0">
                <a:solidFill>
                  <a:schemeClr val="tx1">
                    <a:lumMod val="75000"/>
                    <a:lumOff val="25000"/>
                  </a:schemeClr>
                </a:solidFill>
                <a:cs typeface="+mn-ea"/>
              </a:rPr>
              <a:t>．</a:t>
            </a:r>
          </a:p>
          <a:p>
            <a:pPr lvl="0"/>
            <a:r>
              <a:rPr lang="zh-CN" altLang="zh-CN" sz="800" kern="0" dirty="0">
                <a:solidFill>
                  <a:schemeClr val="tx1">
                    <a:lumMod val="75000"/>
                    <a:lumOff val="25000"/>
                  </a:schemeClr>
                </a:solidFill>
                <a:cs typeface="+mn-ea"/>
              </a:rPr>
              <a:t>张建辉</a:t>
            </a:r>
            <a:r>
              <a:rPr lang="en-US" altLang="zh-CN" sz="800" kern="0" dirty="0">
                <a:solidFill>
                  <a:schemeClr val="tx1">
                    <a:lumMod val="75000"/>
                    <a:lumOff val="25000"/>
                  </a:schemeClr>
                </a:solidFill>
                <a:cs typeface="+mn-ea"/>
              </a:rPr>
              <a:t>. K-means</a:t>
            </a:r>
            <a:r>
              <a:rPr lang="zh-CN" altLang="zh-CN" sz="800" kern="0" dirty="0">
                <a:solidFill>
                  <a:schemeClr val="tx1">
                    <a:lumMod val="75000"/>
                    <a:lumOff val="25000"/>
                  </a:schemeClr>
                </a:solidFill>
                <a:cs typeface="+mn-ea"/>
              </a:rPr>
              <a:t>聚类算法研究及应用</a:t>
            </a:r>
            <a:r>
              <a:rPr lang="en-US" altLang="zh-CN" sz="800" kern="0" dirty="0">
                <a:solidFill>
                  <a:schemeClr val="tx1">
                    <a:lumMod val="75000"/>
                    <a:lumOff val="25000"/>
                  </a:schemeClr>
                </a:solidFill>
                <a:cs typeface="+mn-ea"/>
              </a:rPr>
              <a:t>[D]. </a:t>
            </a:r>
            <a:r>
              <a:rPr lang="zh-CN" altLang="zh-CN" sz="800" kern="0" dirty="0">
                <a:solidFill>
                  <a:schemeClr val="tx1">
                    <a:lumMod val="75000"/>
                    <a:lumOff val="25000"/>
                  </a:schemeClr>
                </a:solidFill>
                <a:cs typeface="+mn-ea"/>
              </a:rPr>
              <a:t>武汉理工大学</a:t>
            </a:r>
            <a:r>
              <a:rPr lang="en-US" altLang="zh-CN" sz="800" kern="0" dirty="0">
                <a:solidFill>
                  <a:schemeClr val="tx1">
                    <a:lumMod val="75000"/>
                    <a:lumOff val="25000"/>
                  </a:schemeClr>
                </a:solidFill>
                <a:cs typeface="+mn-ea"/>
              </a:rPr>
              <a:t>.</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熊志斌</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朱剑锋与王冬</a:t>
            </a:r>
            <a:r>
              <a:rPr lang="en-US" altLang="zh-CN" sz="800" kern="0" dirty="0">
                <a:solidFill>
                  <a:schemeClr val="tx1">
                    <a:lumMod val="75000"/>
                    <a:lumOff val="25000"/>
                  </a:schemeClr>
                </a:solidFill>
                <a:cs typeface="+mn-ea"/>
              </a:rPr>
              <a:t>, K-means</a:t>
            </a:r>
            <a:r>
              <a:rPr lang="zh-CN" altLang="zh-CN" sz="800" kern="0" dirty="0">
                <a:solidFill>
                  <a:schemeClr val="tx1">
                    <a:lumMod val="75000"/>
                    <a:lumOff val="25000"/>
                  </a:schemeClr>
                </a:solidFill>
                <a:cs typeface="+mn-ea"/>
              </a:rPr>
              <a:t>聚类算法的研究和应用</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电脑编程技巧与维护</a:t>
            </a:r>
            <a:r>
              <a:rPr lang="en-US" altLang="zh-CN" sz="800" kern="0" dirty="0">
                <a:solidFill>
                  <a:schemeClr val="tx1">
                    <a:lumMod val="75000"/>
                    <a:lumOff val="25000"/>
                  </a:schemeClr>
                </a:solidFill>
                <a:cs typeface="+mn-ea"/>
              </a:rPr>
              <a:t>, 2014(8): 10-12.</a:t>
            </a:r>
            <a:endParaRPr lang="zh-CN" altLang="zh-CN" sz="800" kern="0" dirty="0">
              <a:solidFill>
                <a:schemeClr val="tx1">
                  <a:lumMod val="75000"/>
                  <a:lumOff val="25000"/>
                </a:schemeClr>
              </a:solidFill>
              <a:cs typeface="+mn-ea"/>
            </a:endParaRPr>
          </a:p>
          <a:p>
            <a:pPr>
              <a:lnSpc>
                <a:spcPts val="1500"/>
              </a:lnSpc>
            </a:pPr>
            <a:endParaRPr lang="zh-CN" altLang="en-US" sz="1000" kern="0" dirty="0">
              <a:solidFill>
                <a:schemeClr val="tx1">
                  <a:lumMod val="75000"/>
                  <a:lumOff val="25000"/>
                </a:schemeClr>
              </a:solidFill>
              <a:cs typeface="+mn-ea"/>
              <a:sym typeface="+mn-lt"/>
            </a:endParaRPr>
          </a:p>
        </p:txBody>
      </p:sp>
      <p:cxnSp>
        <p:nvCxnSpPr>
          <p:cNvPr id="16" name="直接连接符 15"/>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23" name="文本框 19"/>
          <p:cNvSpPr txBox="1"/>
          <p:nvPr/>
        </p:nvSpPr>
        <p:spPr>
          <a:xfrm>
            <a:off x="4738753" y="657417"/>
            <a:ext cx="3792196" cy="4378122"/>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sz="800" kern="0" dirty="0" err="1">
                <a:solidFill>
                  <a:schemeClr val="tx1">
                    <a:lumMod val="75000"/>
                    <a:lumOff val="25000"/>
                  </a:schemeClr>
                </a:solidFill>
                <a:cs typeface="+mn-ea"/>
              </a:rPr>
              <a:t>Vapnik</a:t>
            </a:r>
            <a:r>
              <a:rPr lang="en-US" altLang="zh-CN" sz="800" kern="0" dirty="0">
                <a:solidFill>
                  <a:schemeClr val="tx1">
                    <a:lumMod val="75000"/>
                    <a:lumOff val="25000"/>
                  </a:schemeClr>
                </a:solidFill>
                <a:cs typeface="+mn-ea"/>
              </a:rPr>
              <a:t>, Lerner A. Pattern Recognition using Generalized Portrait. Automation and Remote Control, 1963, 24:6</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Kimeldorf</a:t>
            </a:r>
            <a:r>
              <a:rPr lang="en-US" altLang="zh-CN" sz="800" kern="0" dirty="0">
                <a:solidFill>
                  <a:schemeClr val="tx1">
                    <a:lumMod val="75000"/>
                    <a:lumOff val="25000"/>
                  </a:schemeClr>
                </a:solidFill>
                <a:cs typeface="+mn-ea"/>
              </a:rPr>
              <a:t> G, Wahba G. Some results on </a:t>
            </a:r>
            <a:r>
              <a:rPr lang="en-US" altLang="zh-CN" sz="800" kern="0" dirty="0" err="1">
                <a:solidFill>
                  <a:schemeClr val="tx1">
                    <a:lumMod val="75000"/>
                    <a:lumOff val="25000"/>
                  </a:schemeClr>
                </a:solidFill>
                <a:cs typeface="+mn-ea"/>
              </a:rPr>
              <a:t>Tchebycheffian</a:t>
            </a:r>
            <a:r>
              <a:rPr lang="en-US" altLang="zh-CN" sz="800" kern="0" dirty="0">
                <a:solidFill>
                  <a:schemeClr val="tx1">
                    <a:lumMod val="75000"/>
                    <a:lumOff val="25000"/>
                  </a:schemeClr>
                </a:solidFill>
                <a:cs typeface="+mn-ea"/>
              </a:rPr>
              <a:t> spline functions. </a:t>
            </a:r>
            <a:r>
              <a:rPr lang="en-US" altLang="zh-CN" sz="800" kern="0" dirty="0" err="1">
                <a:solidFill>
                  <a:schemeClr val="tx1">
                    <a:lumMod val="75000"/>
                    <a:lumOff val="25000"/>
                  </a:schemeClr>
                </a:solidFill>
                <a:cs typeface="+mn-ea"/>
              </a:rPr>
              <a:t>J.Math</a:t>
            </a:r>
            <a:r>
              <a:rPr lang="en-US" altLang="zh-CN" sz="800" kern="0" dirty="0">
                <a:solidFill>
                  <a:schemeClr val="tx1">
                    <a:lumMod val="75000"/>
                    <a:lumOff val="25000"/>
                  </a:schemeClr>
                </a:solidFill>
                <a:cs typeface="+mn-ea"/>
              </a:rPr>
              <a:t>. Anal. </a:t>
            </a:r>
            <a:r>
              <a:rPr lang="en-US" altLang="zh-CN" sz="800" kern="0" dirty="0" err="1">
                <a:solidFill>
                  <a:schemeClr val="tx1">
                    <a:lumMod val="75000"/>
                    <a:lumOff val="25000"/>
                  </a:schemeClr>
                </a:solidFill>
                <a:cs typeface="+mn-ea"/>
              </a:rPr>
              <a:t>Applic</a:t>
            </a:r>
            <a:r>
              <a:rPr lang="en-US" altLang="zh-CN" sz="800" kern="0" dirty="0">
                <a:solidFill>
                  <a:schemeClr val="tx1">
                    <a:lumMod val="75000"/>
                    <a:lumOff val="25000"/>
                  </a:schemeClr>
                </a:solidFill>
                <a:cs typeface="+mn-ea"/>
              </a:rPr>
              <a:t>., 1971, 33(1):82~95</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Wahba G. Spline Models for Observational Data(book). SIAM, CBMS-NSF Regional Conference Series, V59-1990</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Boser</a:t>
            </a:r>
            <a:r>
              <a:rPr lang="en-US" altLang="zh-CN" sz="800" kern="0" dirty="0">
                <a:solidFill>
                  <a:schemeClr val="tx1">
                    <a:lumMod val="75000"/>
                    <a:lumOff val="25000"/>
                  </a:schemeClr>
                </a:solidFill>
                <a:cs typeface="+mn-ea"/>
              </a:rPr>
              <a:t> B, et al. A training algorithm for optimal margin classifiers. Fifth Annual Workshop on Computational Learning Theory. ACM Press, Pittsburgh. 1992</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Vapnik</a:t>
            </a:r>
            <a:r>
              <a:rPr lang="en-US" altLang="zh-CN" sz="800" kern="0" dirty="0">
                <a:solidFill>
                  <a:schemeClr val="tx1">
                    <a:lumMod val="75000"/>
                    <a:lumOff val="25000"/>
                  </a:schemeClr>
                </a:solidFill>
                <a:cs typeface="+mn-ea"/>
              </a:rPr>
              <a:t> V. The Nature of Statistical Learning Theory. Springer-Verlag, New York. 1995</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Keerthi S </a:t>
            </a:r>
            <a:r>
              <a:rPr lang="en-US" altLang="zh-CN" sz="800" kern="0" dirty="0" err="1">
                <a:solidFill>
                  <a:schemeClr val="tx1">
                    <a:lumMod val="75000"/>
                    <a:lumOff val="25000"/>
                  </a:schemeClr>
                </a:solidFill>
                <a:cs typeface="+mn-ea"/>
              </a:rPr>
              <a:t>S</a:t>
            </a:r>
            <a:r>
              <a:rPr lang="en-US" altLang="zh-CN" sz="800" kern="0" dirty="0">
                <a:solidFill>
                  <a:schemeClr val="tx1">
                    <a:lumMod val="75000"/>
                    <a:lumOff val="25000"/>
                  </a:schemeClr>
                </a:solidFill>
                <a:cs typeface="+mn-ea"/>
              </a:rPr>
              <a:t>, et al. A fast iterative nearest point algorithm for support vector machine classifier design: [Technical Report No. TR-ISL-99-03]. Dept of CSA, IISC, Bangalore, INDIA. 1999</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Cristianini</a:t>
            </a:r>
            <a:r>
              <a:rPr lang="en-US" altLang="zh-CN" sz="800" kern="0" dirty="0">
                <a:solidFill>
                  <a:schemeClr val="tx1">
                    <a:lumMod val="75000"/>
                    <a:lumOff val="25000"/>
                  </a:schemeClr>
                </a:solidFill>
                <a:cs typeface="+mn-ea"/>
              </a:rPr>
              <a:t> N, et al. Dynamically Adapting Kernels in Support Vector Machines Neuro COLT:[Technical Report TR-1998-017]. Royal Holloway College.</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Tsuda K. Optimal Hyperplane Classifier with Adaptive Norm:[ETL technical report TR-99-9].1999</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Pontil M, et al. On the Noise Model of Support Vector Machine Regression, CBCL Paper # 168, AI Memo # 1651, Massachusetts Institute of Technology, Cambridge, MA, October 1998</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Zhang Ling, Zhang </a:t>
            </a:r>
            <a:r>
              <a:rPr lang="en-US" altLang="zh-CN" sz="800" kern="0" dirty="0" err="1">
                <a:solidFill>
                  <a:schemeClr val="tx1">
                    <a:lumMod val="75000"/>
                    <a:lumOff val="25000"/>
                  </a:schemeClr>
                </a:solidFill>
                <a:cs typeface="+mn-ea"/>
              </a:rPr>
              <a:t>Bo.Relationship</a:t>
            </a:r>
            <a:r>
              <a:rPr lang="en-US" altLang="zh-CN" sz="800" kern="0" dirty="0">
                <a:solidFill>
                  <a:schemeClr val="tx1">
                    <a:lumMod val="75000"/>
                    <a:lumOff val="25000"/>
                  </a:schemeClr>
                </a:solidFill>
                <a:cs typeface="+mn-ea"/>
              </a:rPr>
              <a:t> Between Support Vector Set and Kernel Functions in SVM. </a:t>
            </a:r>
            <a:r>
              <a:rPr lang="en-US" altLang="zh-CN" sz="800" kern="0" dirty="0" err="1">
                <a:solidFill>
                  <a:schemeClr val="tx1">
                    <a:lumMod val="75000"/>
                    <a:lumOff val="25000"/>
                  </a:schemeClr>
                </a:solidFill>
                <a:cs typeface="+mn-ea"/>
              </a:rPr>
              <a:t>J.Comput</a:t>
            </a:r>
            <a:r>
              <a:rPr lang="en-US" altLang="zh-CN" sz="800" kern="0" dirty="0">
                <a:solidFill>
                  <a:schemeClr val="tx1">
                    <a:lumMod val="75000"/>
                    <a:lumOff val="25000"/>
                  </a:schemeClr>
                </a:solidFill>
                <a:cs typeface="+mn-ea"/>
              </a:rPr>
              <a:t>. Sci.&amp;Technol.,2002,17(5):549</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Zhang Ling. The Relationship Between Kernel Functions Based SVM and Three-layer Feedforward Neural </a:t>
            </a:r>
            <a:r>
              <a:rPr lang="en-US" altLang="zh-CN" sz="800" kern="0" dirty="0" err="1">
                <a:solidFill>
                  <a:schemeClr val="tx1">
                    <a:lumMod val="75000"/>
                    <a:lumOff val="25000"/>
                  </a:schemeClr>
                </a:solidFill>
                <a:cs typeface="+mn-ea"/>
              </a:rPr>
              <a:t>Networks.Chinese</a:t>
            </a:r>
            <a:r>
              <a:rPr lang="en-US" altLang="zh-CN" sz="800" kern="0" dirty="0">
                <a:solidFill>
                  <a:schemeClr val="tx1">
                    <a:lumMod val="75000"/>
                    <a:lumOff val="25000"/>
                  </a:schemeClr>
                </a:solidFill>
                <a:cs typeface="+mn-ea"/>
              </a:rPr>
              <a:t> </a:t>
            </a:r>
            <a:r>
              <a:rPr lang="en-US" altLang="zh-CN" sz="800" kern="0" dirty="0" err="1">
                <a:solidFill>
                  <a:schemeClr val="tx1">
                    <a:lumMod val="75000"/>
                    <a:lumOff val="25000"/>
                  </a:schemeClr>
                </a:solidFill>
                <a:cs typeface="+mn-ea"/>
              </a:rPr>
              <a:t>J.Computer</a:t>
            </a:r>
            <a:r>
              <a:rPr lang="en-US" altLang="zh-CN" sz="800" kern="0" dirty="0">
                <a:solidFill>
                  <a:schemeClr val="tx1">
                    <a:lumMod val="75000"/>
                    <a:lumOff val="25000"/>
                  </a:schemeClr>
                </a:solidFill>
                <a:cs typeface="+mn-ea"/>
              </a:rPr>
              <a:t>, 2002,25(7):1-5</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Weston </a:t>
            </a:r>
            <a:r>
              <a:rPr lang="en-US" altLang="zh-CN" sz="800" kern="0" dirty="0" err="1">
                <a:solidFill>
                  <a:schemeClr val="tx1">
                    <a:lumMod val="75000"/>
                    <a:lumOff val="25000"/>
                  </a:schemeClr>
                </a:solidFill>
                <a:cs typeface="+mn-ea"/>
              </a:rPr>
              <a:t>J,Watkins</a:t>
            </a:r>
            <a:r>
              <a:rPr lang="en-US" altLang="zh-CN" sz="800" kern="0" dirty="0">
                <a:solidFill>
                  <a:schemeClr val="tx1">
                    <a:lumMod val="75000"/>
                    <a:lumOff val="25000"/>
                  </a:schemeClr>
                </a:solidFill>
                <a:cs typeface="+mn-ea"/>
              </a:rPr>
              <a:t> </a:t>
            </a:r>
            <a:r>
              <a:rPr lang="en-US" altLang="zh-CN" sz="800" kern="0" dirty="0" err="1">
                <a:solidFill>
                  <a:schemeClr val="tx1">
                    <a:lumMod val="75000"/>
                    <a:lumOff val="25000"/>
                  </a:schemeClr>
                </a:solidFill>
                <a:cs typeface="+mn-ea"/>
              </a:rPr>
              <a:t>C.Multi</a:t>
            </a:r>
            <a:r>
              <a:rPr lang="en-US" altLang="zh-CN" sz="800" kern="0" dirty="0">
                <a:solidFill>
                  <a:schemeClr val="tx1">
                    <a:lumMod val="75000"/>
                    <a:lumOff val="25000"/>
                  </a:schemeClr>
                </a:solidFill>
                <a:cs typeface="+mn-ea"/>
              </a:rPr>
              <a:t>-class Support Vector Machines. Technical Report, CSD-TR-98-04, Department of Computer Science, Royal Holloway, University of London, </a:t>
            </a:r>
            <a:r>
              <a:rPr lang="en-US" altLang="zh-CN" sz="800" kern="0" dirty="0" err="1">
                <a:solidFill>
                  <a:schemeClr val="tx1">
                    <a:lumMod val="75000"/>
                    <a:lumOff val="25000"/>
                  </a:schemeClr>
                </a:solidFill>
                <a:cs typeface="+mn-ea"/>
              </a:rPr>
              <a:t>Egham</a:t>
            </a:r>
            <a:r>
              <a:rPr lang="en-US" altLang="zh-CN" sz="800" kern="0" dirty="0">
                <a:solidFill>
                  <a:schemeClr val="tx1">
                    <a:lumMod val="75000"/>
                    <a:lumOff val="25000"/>
                  </a:schemeClr>
                </a:solidFill>
                <a:cs typeface="+mn-ea"/>
              </a:rPr>
              <a:t>, TW20 0EX, </a:t>
            </a:r>
            <a:r>
              <a:rPr lang="en-US" altLang="zh-CN" sz="800" kern="0" dirty="0" err="1">
                <a:solidFill>
                  <a:schemeClr val="tx1">
                    <a:lumMod val="75000"/>
                    <a:lumOff val="25000"/>
                  </a:schemeClr>
                </a:solidFill>
                <a:cs typeface="+mn-ea"/>
              </a:rPr>
              <a:t>UK.Http</a:t>
            </a:r>
            <a:r>
              <a:rPr lang="en-US" altLang="zh-CN" sz="800" kern="0" dirty="0">
                <a:solidFill>
                  <a:schemeClr val="tx1">
                    <a:lumMod val="75000"/>
                    <a:lumOff val="25000"/>
                  </a:schemeClr>
                </a:solidFill>
                <a:cs typeface="+mn-ea"/>
              </a:rPr>
              <a:t>://citeseer.nj.nec.com/8884.html,1998</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Schwenker </a:t>
            </a:r>
            <a:r>
              <a:rPr lang="en-US" altLang="zh-CN" sz="800" kern="0" dirty="0" err="1">
                <a:solidFill>
                  <a:schemeClr val="tx1">
                    <a:lumMod val="75000"/>
                    <a:lumOff val="25000"/>
                  </a:schemeClr>
                </a:solidFill>
                <a:cs typeface="+mn-ea"/>
              </a:rPr>
              <a:t>F.Hierarchical</a:t>
            </a:r>
            <a:r>
              <a:rPr lang="en-US" altLang="zh-CN" sz="800" kern="0" dirty="0">
                <a:solidFill>
                  <a:schemeClr val="tx1">
                    <a:lumMod val="75000"/>
                    <a:lumOff val="25000"/>
                  </a:schemeClr>
                </a:solidFill>
                <a:cs typeface="+mn-ea"/>
              </a:rPr>
              <a:t> Support Vector Machines for Multi-class Pattern </a:t>
            </a:r>
            <a:r>
              <a:rPr lang="en-US" altLang="zh-CN" sz="800" kern="0" dirty="0" err="1">
                <a:solidFill>
                  <a:schemeClr val="tx1">
                    <a:lumMod val="75000"/>
                    <a:lumOff val="25000"/>
                  </a:schemeClr>
                </a:solidFill>
                <a:cs typeface="+mn-ea"/>
              </a:rPr>
              <a:t>Recognition.Proceedings</a:t>
            </a:r>
            <a:r>
              <a:rPr lang="en-US" altLang="zh-CN" sz="800" kern="0" dirty="0">
                <a:solidFill>
                  <a:schemeClr val="tx1">
                    <a:lumMod val="75000"/>
                    <a:lumOff val="25000"/>
                  </a:schemeClr>
                </a:solidFill>
                <a:cs typeface="+mn-ea"/>
              </a:rPr>
              <a:t> of the 4th International Conference on knowledge-based Intelligent Engineering Systems &amp; Allied Technologies. Brighton, UK,2000-08-30/09-01</a:t>
            </a:r>
            <a:endParaRPr lang="zh-CN" altLang="zh-CN" sz="800" kern="0" dirty="0">
              <a:solidFill>
                <a:schemeClr val="tx1">
                  <a:lumMod val="75000"/>
                  <a:lumOff val="25000"/>
                </a:schemeClr>
              </a:solidFill>
              <a:cs typeface="+mn-ea"/>
            </a:endParaRPr>
          </a:p>
        </p:txBody>
      </p:sp>
    </p:spTree>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9"/>
                                        </p:tgtEl>
                                        <p:attrNameLst>
                                          <p:attrName>ppt_y</p:attrName>
                                        </p:attrNameLst>
                                      </p:cBhvr>
                                      <p:tavLst>
                                        <p:tav tm="0">
                                          <p:val>
                                            <p:strVal val="#ppt_y"/>
                                          </p:val>
                                        </p:tav>
                                        <p:tav tm="100000">
                                          <p:val>
                                            <p:strVal val="#ppt_y"/>
                                          </p:val>
                                        </p:tav>
                                      </p:tavLst>
                                    </p:anim>
                                    <p:anim calcmode="lin" valueType="num">
                                      <p:cBhvr>
                                        <p:cTn id="9" dur="5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9"/>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300"/>
                                        <p:tgtEl>
                                          <p:spTgt spid="16"/>
                                        </p:tgtEl>
                                      </p:cBhvr>
                                    </p:animEffect>
                                  </p:childTnLst>
                                </p:cTn>
                              </p:par>
                            </p:childTnLst>
                          </p:cTn>
                        </p:par>
                        <p:par>
                          <p:cTn id="16" fill="hold">
                            <p:stCondLst>
                              <p:cond delay="950"/>
                            </p:stCondLst>
                            <p:childTnLst>
                              <p:par>
                                <p:cTn id="17" presetID="14" presetClass="entr" presetSubtype="1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randombar(horizontal)">
                                      <p:cBhvr>
                                        <p:cTn id="19" dur="500"/>
                                        <p:tgtEl>
                                          <p:spTgt spid="26"/>
                                        </p:tgtEl>
                                      </p:cBhvr>
                                    </p:animEffect>
                                  </p:childTnLst>
                                </p:cTn>
                              </p:par>
                            </p:childTnLst>
                          </p:cTn>
                        </p:par>
                        <p:par>
                          <p:cTn id="20" fill="hold">
                            <p:stCondLst>
                              <p:cond delay="1450"/>
                            </p:stCondLst>
                            <p:childTnLst>
                              <p:par>
                                <p:cTn id="21" presetID="53" presetClass="entr" presetSubtype="528" fill="hold" grpId="0" nodeType="after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p:cTn id="23" dur="500" fill="hold"/>
                                        <p:tgtEl>
                                          <p:spTgt spid="27"/>
                                        </p:tgtEl>
                                        <p:attrNameLst>
                                          <p:attrName>ppt_w</p:attrName>
                                        </p:attrNameLst>
                                      </p:cBhvr>
                                      <p:tavLst>
                                        <p:tav tm="0">
                                          <p:val>
                                            <p:fltVal val="0"/>
                                          </p:val>
                                        </p:tav>
                                        <p:tav tm="100000">
                                          <p:val>
                                            <p:strVal val="#ppt_w"/>
                                          </p:val>
                                        </p:tav>
                                      </p:tavLst>
                                    </p:anim>
                                    <p:anim calcmode="lin" valueType="num">
                                      <p:cBhvr>
                                        <p:cTn id="24" dur="500" fill="hold"/>
                                        <p:tgtEl>
                                          <p:spTgt spid="27"/>
                                        </p:tgtEl>
                                        <p:attrNameLst>
                                          <p:attrName>ppt_h</p:attrName>
                                        </p:attrNameLst>
                                      </p:cBhvr>
                                      <p:tavLst>
                                        <p:tav tm="0">
                                          <p:val>
                                            <p:fltVal val="0"/>
                                          </p:val>
                                        </p:tav>
                                        <p:tav tm="100000">
                                          <p:val>
                                            <p:strVal val="#ppt_h"/>
                                          </p:val>
                                        </p:tav>
                                      </p:tavLst>
                                    </p:anim>
                                    <p:animEffect transition="in" filter="fade">
                                      <p:cBhvr>
                                        <p:cTn id="25" dur="500"/>
                                        <p:tgtEl>
                                          <p:spTgt spid="27"/>
                                        </p:tgtEl>
                                      </p:cBhvr>
                                    </p:animEffect>
                                    <p:anim calcmode="lin" valueType="num">
                                      <p:cBhvr>
                                        <p:cTn id="26" dur="500" fill="hold"/>
                                        <p:tgtEl>
                                          <p:spTgt spid="27"/>
                                        </p:tgtEl>
                                        <p:attrNameLst>
                                          <p:attrName>ppt_x</p:attrName>
                                        </p:attrNameLst>
                                      </p:cBhvr>
                                      <p:tavLst>
                                        <p:tav tm="0">
                                          <p:val>
                                            <p:fltVal val="0.5"/>
                                          </p:val>
                                        </p:tav>
                                        <p:tav tm="100000">
                                          <p:val>
                                            <p:strVal val="#ppt_x"/>
                                          </p:val>
                                        </p:tav>
                                      </p:tavLst>
                                    </p:anim>
                                    <p:anim calcmode="lin" valueType="num">
                                      <p:cBhvr>
                                        <p:cTn id="27" dur="500" fill="hold"/>
                                        <p:tgtEl>
                                          <p:spTgt spid="27"/>
                                        </p:tgtEl>
                                        <p:attrNameLst>
                                          <p:attrName>ppt_y</p:attrName>
                                        </p:attrNameLst>
                                      </p:cBhvr>
                                      <p:tavLst>
                                        <p:tav tm="0">
                                          <p:val>
                                            <p:fltVal val="0.5"/>
                                          </p:val>
                                        </p:tav>
                                        <p:tav tm="100000">
                                          <p:val>
                                            <p:strVal val="#ppt_y"/>
                                          </p:val>
                                        </p:tav>
                                      </p:tavLst>
                                    </p:anim>
                                  </p:childTnLst>
                                </p:cTn>
                              </p:par>
                            </p:childTnLst>
                          </p:cTn>
                        </p:par>
                        <p:par>
                          <p:cTn id="28" fill="hold">
                            <p:stCondLst>
                              <p:cond delay="1950"/>
                            </p:stCondLst>
                            <p:childTnLst>
                              <p:par>
                                <p:cTn id="29" presetID="2" presetClass="entr" presetSubtype="2"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1+#ppt_w/2"/>
                                          </p:val>
                                        </p:tav>
                                        <p:tav tm="100000">
                                          <p:val>
                                            <p:strVal val="#ppt_x"/>
                                          </p:val>
                                        </p:tav>
                                      </p:tavLst>
                                    </p:anim>
                                    <p:anim calcmode="lin" valueType="num">
                                      <p:cBhvr additive="base">
                                        <p:cTn id="32" dur="500" fill="hold"/>
                                        <p:tgtEl>
                                          <p:spTgt spid="29"/>
                                        </p:tgtEl>
                                        <p:attrNameLst>
                                          <p:attrName>ppt_y</p:attrName>
                                        </p:attrNameLst>
                                      </p:cBhvr>
                                      <p:tavLst>
                                        <p:tav tm="0">
                                          <p:val>
                                            <p:strVal val="#ppt_y"/>
                                          </p:val>
                                        </p:tav>
                                        <p:tav tm="100000">
                                          <p:val>
                                            <p:strVal val="#ppt_y"/>
                                          </p:val>
                                        </p:tav>
                                      </p:tavLst>
                                    </p:anim>
                                  </p:childTnLst>
                                </p:cTn>
                              </p:par>
                            </p:childTnLst>
                          </p:cTn>
                        </p:par>
                        <p:par>
                          <p:cTn id="33" fill="hold">
                            <p:stCondLst>
                              <p:cond delay="2450"/>
                            </p:stCondLst>
                            <p:childTnLst>
                              <p:par>
                                <p:cTn id="34" presetID="2" presetClass="entr" presetSubtype="2" fill="hold" grpId="0" nodeType="after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additive="base">
                                        <p:cTn id="36" dur="500" fill="hold"/>
                                        <p:tgtEl>
                                          <p:spTgt spid="23"/>
                                        </p:tgtEl>
                                        <p:attrNameLst>
                                          <p:attrName>ppt_x</p:attrName>
                                        </p:attrNameLst>
                                      </p:cBhvr>
                                      <p:tavLst>
                                        <p:tav tm="0">
                                          <p:val>
                                            <p:strVal val="1+#ppt_w/2"/>
                                          </p:val>
                                        </p:tav>
                                        <p:tav tm="100000">
                                          <p:val>
                                            <p:strVal val="#ppt_x"/>
                                          </p:val>
                                        </p:tav>
                                      </p:tavLst>
                                    </p:anim>
                                    <p:anim calcmode="lin" valueType="num">
                                      <p:cBhvr additive="base">
                                        <p:cTn id="37"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animBg="1"/>
      <p:bldP spid="27" grpId="0"/>
      <p:bldP spid="29"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15"/>
          <p:cNvSpPr txBox="1"/>
          <p:nvPr/>
        </p:nvSpPr>
        <p:spPr>
          <a:xfrm>
            <a:off x="709386" y="309785"/>
            <a:ext cx="2261711" cy="330860"/>
          </a:xfrm>
          <a:prstGeom prst="rect">
            <a:avLst/>
          </a:prstGeom>
          <a:noFill/>
        </p:spPr>
        <p:txBody>
          <a:bodyPr wrap="square" lIns="68580" tIns="34290" rIns="68580" bIns="34290" rtlCol="0">
            <a:spAutoFit/>
          </a:bodyPr>
          <a:lstStyle/>
          <a:p>
            <a:r>
              <a:rPr lang="zh-CN" altLang="en-US" sz="1700" b="1" dirty="0">
                <a:solidFill>
                  <a:srgbClr val="1B4367"/>
                </a:solidFill>
                <a:cs typeface="+mn-ea"/>
                <a:sym typeface="+mn-lt"/>
              </a:rPr>
              <a:t>参考文献</a:t>
            </a:r>
          </a:p>
        </p:txBody>
      </p:sp>
      <p:cxnSp>
        <p:nvCxnSpPr>
          <p:cNvPr id="33" name="直接连接符 32"/>
          <p:cNvCxnSpPr/>
          <p:nvPr/>
        </p:nvCxnSpPr>
        <p:spPr>
          <a:xfrm>
            <a:off x="774478" y="657417"/>
            <a:ext cx="480259" cy="0"/>
          </a:xfrm>
          <a:prstGeom prst="line">
            <a:avLst/>
          </a:prstGeom>
          <a:ln w="9525">
            <a:solidFill>
              <a:srgbClr val="1B4367"/>
            </a:solidFill>
          </a:ln>
        </p:spPr>
        <p:style>
          <a:lnRef idx="1">
            <a:schemeClr val="accent1"/>
          </a:lnRef>
          <a:fillRef idx="0">
            <a:schemeClr val="accent1"/>
          </a:fillRef>
          <a:effectRef idx="0">
            <a:schemeClr val="accent1"/>
          </a:effectRef>
          <a:fontRef idx="minor">
            <a:schemeClr val="tx1"/>
          </a:fontRef>
        </p:style>
      </p:cxnSp>
      <p:sp>
        <p:nvSpPr>
          <p:cNvPr id="34" name="文本框 19">
            <a:extLst>
              <a:ext uri="{FF2B5EF4-FFF2-40B4-BE49-F238E27FC236}">
                <a16:creationId xmlns:a16="http://schemas.microsoft.com/office/drawing/2014/main" id="{F4CDD6C9-8CA7-4B93-BBF3-4EEADA843465}"/>
              </a:ext>
            </a:extLst>
          </p:cNvPr>
          <p:cNvSpPr txBox="1"/>
          <p:nvPr/>
        </p:nvSpPr>
        <p:spPr>
          <a:xfrm>
            <a:off x="709386" y="773430"/>
            <a:ext cx="3792196" cy="4501232"/>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kern="0" dirty="0" err="1">
                <a:solidFill>
                  <a:schemeClr val="tx1">
                    <a:lumMod val="75000"/>
                    <a:lumOff val="25000"/>
                  </a:schemeClr>
                </a:solidFill>
                <a:cs typeface="+mn-ea"/>
              </a:rPr>
              <a:t>Zanghirati</a:t>
            </a:r>
            <a:r>
              <a:rPr lang="en-US" altLang="zh-CN" sz="800" kern="0" dirty="0">
                <a:solidFill>
                  <a:schemeClr val="tx1">
                    <a:lumMod val="75000"/>
                    <a:lumOff val="25000"/>
                  </a:schemeClr>
                </a:solidFill>
                <a:cs typeface="+mn-ea"/>
              </a:rPr>
              <a:t> G, </a:t>
            </a:r>
            <a:r>
              <a:rPr lang="en-US" altLang="zh-CN" sz="800" kern="0" dirty="0" err="1">
                <a:solidFill>
                  <a:schemeClr val="tx1">
                    <a:lumMod val="75000"/>
                    <a:lumOff val="25000"/>
                  </a:schemeClr>
                </a:solidFill>
                <a:cs typeface="+mn-ea"/>
              </a:rPr>
              <a:t>Zanni</a:t>
            </a:r>
            <a:r>
              <a:rPr lang="en-US" altLang="zh-CN" sz="800" kern="0" dirty="0">
                <a:solidFill>
                  <a:schemeClr val="tx1">
                    <a:lumMod val="75000"/>
                    <a:lumOff val="25000"/>
                  </a:schemeClr>
                </a:solidFill>
                <a:cs typeface="+mn-ea"/>
              </a:rPr>
              <a:t> L. A parallel solver for large quadratic programs in training support vector machines[J]. Parallel Computing, 2003, 29(4): 535-551.</a:t>
            </a:r>
          </a:p>
          <a:p>
            <a:pPr lvl="0"/>
            <a:r>
              <a:rPr lang="en-US" altLang="zh-CN" sz="800" kern="0" dirty="0">
                <a:solidFill>
                  <a:schemeClr val="tx1">
                    <a:lumMod val="75000"/>
                    <a:lumOff val="25000"/>
                  </a:schemeClr>
                </a:solidFill>
                <a:cs typeface="+mn-ea"/>
              </a:rPr>
              <a:t>Graf H P, </a:t>
            </a:r>
            <a:r>
              <a:rPr lang="en-US" altLang="zh-CN" sz="800" kern="0" dirty="0" err="1">
                <a:solidFill>
                  <a:schemeClr val="tx1">
                    <a:lumMod val="75000"/>
                    <a:lumOff val="25000"/>
                  </a:schemeClr>
                </a:solidFill>
                <a:cs typeface="+mn-ea"/>
              </a:rPr>
              <a:t>Cosatto</a:t>
            </a:r>
            <a:r>
              <a:rPr lang="en-US" altLang="zh-CN" sz="800" kern="0" dirty="0">
                <a:solidFill>
                  <a:schemeClr val="tx1">
                    <a:lumMod val="75000"/>
                    <a:lumOff val="25000"/>
                  </a:schemeClr>
                </a:solidFill>
                <a:cs typeface="+mn-ea"/>
              </a:rPr>
              <a:t> E, </a:t>
            </a:r>
            <a:r>
              <a:rPr lang="en-US" altLang="zh-CN" sz="800" kern="0" dirty="0" err="1">
                <a:solidFill>
                  <a:schemeClr val="tx1">
                    <a:lumMod val="75000"/>
                    <a:lumOff val="25000"/>
                  </a:schemeClr>
                </a:solidFill>
                <a:cs typeface="+mn-ea"/>
              </a:rPr>
              <a:t>Bottou</a:t>
            </a:r>
            <a:r>
              <a:rPr lang="en-US" altLang="zh-CN" sz="800" kern="0" dirty="0">
                <a:solidFill>
                  <a:schemeClr val="tx1">
                    <a:lumMod val="75000"/>
                    <a:lumOff val="25000"/>
                  </a:schemeClr>
                </a:solidFill>
                <a:cs typeface="+mn-ea"/>
              </a:rPr>
              <a:t> L, et al. Parallel support vector machines: the cascade SVM[J]. Advances in Neural Information Processing Systems, 2004, 17(1): 521-528.</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Weimer D, Kohler S, </a:t>
            </a:r>
            <a:r>
              <a:rPr lang="en-US" altLang="zh-CN" sz="800" kern="0" dirty="0" err="1">
                <a:solidFill>
                  <a:schemeClr val="tx1">
                    <a:lumMod val="75000"/>
                    <a:lumOff val="25000"/>
                  </a:schemeClr>
                </a:solidFill>
                <a:cs typeface="+mn-ea"/>
              </a:rPr>
              <a:t>Hellert</a:t>
            </a:r>
            <a:r>
              <a:rPr lang="en-US" altLang="zh-CN" sz="800" kern="0" dirty="0">
                <a:solidFill>
                  <a:schemeClr val="tx1">
                    <a:lumMod val="75000"/>
                    <a:lumOff val="25000"/>
                  </a:schemeClr>
                </a:solidFill>
                <a:cs typeface="+mn-ea"/>
              </a:rPr>
              <a:t> C, et al. GPU architecture for stationary </a:t>
            </a:r>
            <a:r>
              <a:rPr lang="en-US" altLang="zh-CN" sz="800" kern="0" dirty="0" err="1">
                <a:solidFill>
                  <a:schemeClr val="tx1">
                    <a:lumMod val="75000"/>
                    <a:lumOff val="25000"/>
                  </a:schemeClr>
                </a:solidFill>
                <a:cs typeface="+mn-ea"/>
              </a:rPr>
              <a:t>multisensor</a:t>
            </a:r>
            <a:r>
              <a:rPr lang="en-US" altLang="zh-CN" sz="800" kern="0" dirty="0">
                <a:solidFill>
                  <a:schemeClr val="tx1">
                    <a:lumMod val="75000"/>
                    <a:lumOff val="25000"/>
                  </a:schemeClr>
                </a:solidFill>
                <a:cs typeface="+mn-ea"/>
              </a:rPr>
              <a:t> pedestrian detection at smart intersections[C]//Proceedings of the Intelligent Vehicles Symposium, Baden, Jun 5-9, 2014. Piscataway: IEEE, 2014: 89-94.</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Alham</a:t>
            </a:r>
            <a:r>
              <a:rPr lang="en-US" altLang="zh-CN" sz="800" kern="0" dirty="0">
                <a:solidFill>
                  <a:schemeClr val="tx1">
                    <a:lumMod val="75000"/>
                    <a:lumOff val="25000"/>
                  </a:schemeClr>
                </a:solidFill>
                <a:cs typeface="+mn-ea"/>
              </a:rPr>
              <a:t> N K, Li M Z, Liu Y, et al. A </a:t>
            </a:r>
            <a:r>
              <a:rPr lang="en-US" altLang="zh-CN" sz="800" kern="0" dirty="0" err="1">
                <a:solidFill>
                  <a:schemeClr val="tx1">
                    <a:lumMod val="75000"/>
                    <a:lumOff val="25000"/>
                  </a:schemeClr>
                </a:solidFill>
                <a:cs typeface="+mn-ea"/>
              </a:rPr>
              <a:t>mapreduce</a:t>
            </a:r>
            <a:r>
              <a:rPr lang="en-US" altLang="zh-CN" sz="800" kern="0" dirty="0">
                <a:solidFill>
                  <a:schemeClr val="tx1">
                    <a:lumMod val="75000"/>
                    <a:lumOff val="25000"/>
                  </a:schemeClr>
                </a:solidFill>
                <a:cs typeface="+mn-ea"/>
              </a:rPr>
              <a:t>- based distributed SVM ensemble for scalable image classification and annotation[J]. Computers and Mathematics with Applications, 2013, 66(10): 1920-1934.</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Liu Z S, Pan Z S. Research on parallel SVM algorithm based on Spark[J]. Computer Science, 2016, 43(5): 238-242.</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Hartigan J A. Asymptotic Distributions for Clustering Criteria[J]. The Annuals of Statistics, 1978, 6(1) : 117-131.</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Pollard D. Strong Consistency of K-means Clustering[J]. The Annuals of Statistics, 1981, 9(1) : 135-140.</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Creator R, Kaufman L, Source R, et al. K-means Type Algorithms: A Generalized Convergence Theorem and Characterization of Local Optimality[J]. IEEE Transactions on Pattern Analysis and Machine Intelligence, 1984, 6(1) : 81-87.</a:t>
            </a:r>
          </a:p>
          <a:p>
            <a:pPr lvl="0"/>
            <a:r>
              <a:rPr lang="en-US" altLang="zh-CN" sz="800" kern="0" dirty="0" err="1">
                <a:solidFill>
                  <a:schemeClr val="tx1">
                    <a:lumMod val="75000"/>
                    <a:lumOff val="25000"/>
                  </a:schemeClr>
                </a:solidFill>
                <a:cs typeface="+mn-ea"/>
              </a:rPr>
              <a:t>Chinrungrueng</a:t>
            </a:r>
            <a:r>
              <a:rPr lang="en-US" altLang="zh-CN" sz="800" kern="0" dirty="0">
                <a:solidFill>
                  <a:schemeClr val="tx1">
                    <a:lumMod val="75000"/>
                    <a:lumOff val="25000"/>
                  </a:schemeClr>
                </a:solidFill>
                <a:cs typeface="+mn-ea"/>
              </a:rPr>
              <a:t> C, Sequin C H. Optimal Adaptive K-means Algorithm with Dynamic Adjustment of Learning Rate[J]. IEEE Transactions on Neural Networks, 1995, 6(1): 157-169.</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Rezaee</a:t>
            </a:r>
            <a:r>
              <a:rPr lang="en-US" altLang="zh-CN" sz="800" kern="0" dirty="0">
                <a:solidFill>
                  <a:schemeClr val="tx1">
                    <a:lumMod val="75000"/>
                    <a:lumOff val="25000"/>
                  </a:schemeClr>
                </a:solidFill>
                <a:cs typeface="+mn-ea"/>
              </a:rPr>
              <a:t> M R</a:t>
            </a:r>
            <a:r>
              <a:rPr lang="zh-CN" altLang="zh-CN" sz="800" kern="0" dirty="0">
                <a:solidFill>
                  <a:schemeClr val="tx1">
                    <a:lumMod val="75000"/>
                    <a:lumOff val="25000"/>
                  </a:schemeClr>
                </a:solidFill>
                <a:cs typeface="+mn-ea"/>
              </a:rPr>
              <a:t>，</a:t>
            </a:r>
            <a:r>
              <a:rPr lang="en-US" altLang="zh-CN" sz="800" kern="0" dirty="0" err="1">
                <a:solidFill>
                  <a:schemeClr val="tx1">
                    <a:lumMod val="75000"/>
                    <a:lumOff val="25000"/>
                  </a:schemeClr>
                </a:solidFill>
                <a:cs typeface="+mn-ea"/>
              </a:rPr>
              <a:t>Lelieveldt</a:t>
            </a:r>
            <a:r>
              <a:rPr lang="en-US" altLang="zh-CN" sz="800" kern="0" dirty="0">
                <a:solidFill>
                  <a:schemeClr val="tx1">
                    <a:lumMod val="75000"/>
                    <a:lumOff val="25000"/>
                  </a:schemeClr>
                </a:solidFill>
                <a:cs typeface="+mn-ea"/>
              </a:rPr>
              <a:t> B P</a:t>
            </a:r>
            <a:r>
              <a:rPr lang="zh-CN" altLang="zh-CN" sz="800" kern="0" dirty="0">
                <a:solidFill>
                  <a:schemeClr val="tx1">
                    <a:lumMod val="75000"/>
                    <a:lumOff val="25000"/>
                  </a:schemeClr>
                </a:solidFill>
                <a:cs typeface="+mn-ea"/>
              </a:rPr>
              <a:t>，</a:t>
            </a:r>
            <a:r>
              <a:rPr lang="en-US" altLang="zh-CN" sz="800" kern="0" dirty="0" err="1">
                <a:solidFill>
                  <a:schemeClr val="tx1">
                    <a:lumMod val="75000"/>
                    <a:lumOff val="25000"/>
                  </a:schemeClr>
                </a:solidFill>
                <a:cs typeface="+mn-ea"/>
              </a:rPr>
              <a:t>Reiber</a:t>
            </a:r>
            <a:r>
              <a:rPr lang="en-US" altLang="zh-CN" sz="800" kern="0" dirty="0">
                <a:solidFill>
                  <a:schemeClr val="tx1">
                    <a:lumMod val="75000"/>
                    <a:lumOff val="25000"/>
                  </a:schemeClr>
                </a:solidFill>
                <a:cs typeface="+mn-ea"/>
              </a:rPr>
              <a:t> J H</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A New Cluster Validity Index for the Fuzzy C </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Means</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J</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Pattern Recognition Letters</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1998</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19( 3 </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4) : 237 </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246</a:t>
            </a:r>
            <a:r>
              <a:rPr lang="zh-CN" altLang="zh-CN" sz="800" kern="0" dirty="0">
                <a:solidFill>
                  <a:schemeClr val="tx1">
                    <a:lumMod val="75000"/>
                    <a:lumOff val="25000"/>
                  </a:schemeClr>
                </a:solidFill>
                <a:cs typeface="+mn-ea"/>
              </a:rPr>
              <a:t>．</a:t>
            </a:r>
          </a:p>
          <a:p>
            <a:pPr lvl="0"/>
            <a:r>
              <a:rPr lang="zh-CN" altLang="zh-CN" sz="800" kern="0" dirty="0">
                <a:solidFill>
                  <a:schemeClr val="tx1">
                    <a:lumMod val="75000"/>
                    <a:lumOff val="25000"/>
                  </a:schemeClr>
                </a:solidFill>
                <a:cs typeface="+mn-ea"/>
              </a:rPr>
              <a:t>成卫青，卢艳红</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一种基于最大最小距离和</a:t>
            </a:r>
            <a:r>
              <a:rPr lang="en-US" altLang="zh-CN" sz="800" kern="0" dirty="0">
                <a:solidFill>
                  <a:schemeClr val="tx1">
                    <a:lumMod val="75000"/>
                    <a:lumOff val="25000"/>
                  </a:schemeClr>
                </a:solidFill>
                <a:cs typeface="+mn-ea"/>
              </a:rPr>
              <a:t>SSE </a:t>
            </a:r>
            <a:r>
              <a:rPr lang="zh-CN" altLang="zh-CN" sz="800" kern="0" dirty="0">
                <a:solidFill>
                  <a:schemeClr val="tx1">
                    <a:lumMod val="75000"/>
                    <a:lumOff val="25000"/>
                  </a:schemeClr>
                </a:solidFill>
                <a:cs typeface="+mn-ea"/>
              </a:rPr>
              <a:t>的自适应聚类算法</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南京邮电大学学报（自然科学版），</a:t>
            </a:r>
            <a:r>
              <a:rPr lang="en-US" altLang="zh-CN" sz="800" kern="0" dirty="0">
                <a:solidFill>
                  <a:schemeClr val="tx1">
                    <a:lumMod val="75000"/>
                    <a:lumOff val="25000"/>
                  </a:schemeClr>
                </a:solidFill>
                <a:cs typeface="+mn-ea"/>
              </a:rPr>
              <a:t>2015</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35</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102-107.</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王建仁，马鑫，段刚龙</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改进的</a:t>
            </a:r>
            <a:r>
              <a:rPr lang="en-US" altLang="zh-CN" sz="800" kern="0" dirty="0">
                <a:solidFill>
                  <a:schemeClr val="tx1">
                    <a:lumMod val="75000"/>
                    <a:lumOff val="25000"/>
                  </a:schemeClr>
                </a:solidFill>
                <a:cs typeface="+mn-ea"/>
              </a:rPr>
              <a:t>K-means </a:t>
            </a:r>
            <a:r>
              <a:rPr lang="zh-CN" altLang="zh-CN" sz="800" kern="0" dirty="0">
                <a:solidFill>
                  <a:schemeClr val="tx1">
                    <a:lumMod val="75000"/>
                    <a:lumOff val="25000"/>
                  </a:schemeClr>
                </a:solidFill>
                <a:cs typeface="+mn-ea"/>
              </a:rPr>
              <a:t>聚类</a:t>
            </a:r>
            <a:r>
              <a:rPr lang="en-US" altLang="zh-CN" sz="800" kern="0" dirty="0">
                <a:solidFill>
                  <a:schemeClr val="tx1">
                    <a:lumMod val="75000"/>
                    <a:lumOff val="25000"/>
                  </a:schemeClr>
                </a:solidFill>
                <a:cs typeface="+mn-ea"/>
              </a:rPr>
              <a:t>k </a:t>
            </a:r>
            <a:r>
              <a:rPr lang="zh-CN" altLang="zh-CN" sz="800" kern="0" dirty="0">
                <a:solidFill>
                  <a:schemeClr val="tx1">
                    <a:lumMod val="75000"/>
                    <a:lumOff val="25000"/>
                  </a:schemeClr>
                </a:solidFill>
                <a:cs typeface="+mn-ea"/>
              </a:rPr>
              <a:t>值选择算法</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计算机工程与应用，</a:t>
            </a:r>
            <a:r>
              <a:rPr lang="en-US" altLang="zh-CN" sz="800" kern="0" dirty="0">
                <a:solidFill>
                  <a:schemeClr val="tx1">
                    <a:lumMod val="75000"/>
                    <a:lumOff val="25000"/>
                  </a:schemeClr>
                </a:solidFill>
                <a:cs typeface="+mn-ea"/>
              </a:rPr>
              <a:t>2019</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55</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8</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27-33.</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贾瑞玉，李玉功</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类簇数目和初始中心点自确定的</a:t>
            </a:r>
            <a:r>
              <a:rPr lang="en-US" altLang="zh-CN" sz="800" kern="0" dirty="0" err="1">
                <a:solidFill>
                  <a:schemeClr val="tx1">
                    <a:lumMod val="75000"/>
                    <a:lumOff val="25000"/>
                  </a:schemeClr>
                </a:solidFill>
                <a:cs typeface="+mn-ea"/>
              </a:rPr>
              <a:t>Kmeans</a:t>
            </a:r>
            <a:r>
              <a:rPr lang="zh-CN" altLang="zh-CN" sz="800" kern="0" dirty="0">
                <a:solidFill>
                  <a:schemeClr val="tx1">
                    <a:lumMod val="75000"/>
                    <a:lumOff val="25000"/>
                  </a:schemeClr>
                </a:solidFill>
                <a:cs typeface="+mn-ea"/>
              </a:rPr>
              <a:t>算法</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计算机工程与用，</a:t>
            </a:r>
            <a:r>
              <a:rPr lang="en-US" altLang="zh-CN" sz="800" kern="0" dirty="0">
                <a:solidFill>
                  <a:schemeClr val="tx1">
                    <a:lumMod val="75000"/>
                    <a:lumOff val="25000"/>
                  </a:schemeClr>
                </a:solidFill>
                <a:cs typeface="+mn-ea"/>
              </a:rPr>
              <a:t>2018</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54</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7</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152-158.</a:t>
            </a:r>
            <a:endParaRPr lang="zh-CN" altLang="zh-CN" sz="800" kern="0" dirty="0">
              <a:solidFill>
                <a:schemeClr val="tx1">
                  <a:lumMod val="75000"/>
                  <a:lumOff val="25000"/>
                </a:schemeClr>
              </a:solidFill>
              <a:cs typeface="+mn-ea"/>
            </a:endParaRPr>
          </a:p>
        </p:txBody>
      </p:sp>
      <p:sp>
        <p:nvSpPr>
          <p:cNvPr id="35" name="文本框 19">
            <a:extLst>
              <a:ext uri="{FF2B5EF4-FFF2-40B4-BE49-F238E27FC236}">
                <a16:creationId xmlns:a16="http://schemas.microsoft.com/office/drawing/2014/main" id="{4BE31C5C-19D6-4BA8-BD0F-4C86FBF00AC5}"/>
              </a:ext>
            </a:extLst>
          </p:cNvPr>
          <p:cNvSpPr txBox="1"/>
          <p:nvPr/>
        </p:nvSpPr>
        <p:spPr>
          <a:xfrm>
            <a:off x="4642420" y="773430"/>
            <a:ext cx="3792196" cy="3885679"/>
          </a:xfrm>
          <a:prstGeom prst="rect">
            <a:avLst/>
          </a:prstGeom>
          <a:noFill/>
        </p:spPr>
        <p:txBody>
          <a:bodyPr wrap="square" lIns="68580" tIns="34290" rIns="68580" bIns="3429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 kern="0" dirty="0" err="1">
                <a:solidFill>
                  <a:schemeClr val="tx1">
                    <a:lumMod val="75000"/>
                    <a:lumOff val="25000"/>
                  </a:schemeClr>
                </a:solidFill>
                <a:cs typeface="+mn-ea"/>
              </a:rPr>
              <a:t>Duda</a:t>
            </a:r>
            <a:r>
              <a:rPr lang="en-US" altLang="zh-CN" sz="800" kern="0" dirty="0">
                <a:solidFill>
                  <a:schemeClr val="tx1">
                    <a:lumMod val="75000"/>
                    <a:lumOff val="25000"/>
                  </a:schemeClr>
                </a:solidFill>
                <a:cs typeface="+mn-ea"/>
              </a:rPr>
              <a:t> R O</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Hart P E</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Pattern Classification and Scene Analysis [M]</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New York: John Wiley </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 Sons Inc</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1973</a:t>
            </a:r>
            <a:r>
              <a:rPr lang="zh-CN" altLang="zh-CN" sz="800" kern="0" dirty="0">
                <a:solidFill>
                  <a:schemeClr val="tx1">
                    <a:lumMod val="75000"/>
                    <a:lumOff val="25000"/>
                  </a:schemeClr>
                </a:solidFill>
                <a:cs typeface="+mn-ea"/>
              </a:rPr>
              <a:t>．</a:t>
            </a:r>
            <a:endParaRPr lang="en-US"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Xiong</a:t>
            </a:r>
            <a:r>
              <a:rPr lang="en-US" altLang="zh-CN" sz="800" kern="0" dirty="0">
                <a:solidFill>
                  <a:schemeClr val="tx1">
                    <a:lumMod val="75000"/>
                    <a:lumOff val="25000"/>
                  </a:schemeClr>
                </a:solidFill>
                <a:cs typeface="+mn-ea"/>
              </a:rPr>
              <a:t> C</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Hua Z</a:t>
            </a:r>
            <a:r>
              <a:rPr lang="zh-CN" altLang="zh-CN" sz="800" kern="0" dirty="0">
                <a:solidFill>
                  <a:schemeClr val="tx1">
                    <a:lumMod val="75000"/>
                    <a:lumOff val="25000"/>
                  </a:schemeClr>
                </a:solidFill>
                <a:cs typeface="+mn-ea"/>
              </a:rPr>
              <a:t>，</a:t>
            </a:r>
            <a:r>
              <a:rPr lang="en-US" altLang="zh-CN" sz="800" kern="0" dirty="0" err="1">
                <a:solidFill>
                  <a:schemeClr val="tx1">
                    <a:lumMod val="75000"/>
                    <a:lumOff val="25000"/>
                  </a:schemeClr>
                </a:solidFill>
                <a:cs typeface="+mn-ea"/>
              </a:rPr>
              <a:t>Lv</a:t>
            </a:r>
            <a:r>
              <a:rPr lang="en-US" altLang="zh-CN" sz="800" kern="0" dirty="0">
                <a:solidFill>
                  <a:schemeClr val="tx1">
                    <a:lumMod val="75000"/>
                    <a:lumOff val="25000"/>
                  </a:schemeClr>
                </a:solidFill>
                <a:cs typeface="+mn-ea"/>
              </a:rPr>
              <a:t> K</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et </a:t>
            </a:r>
            <a:r>
              <a:rPr lang="en-US" altLang="zh-CN" sz="800" kern="0" dirty="0" err="1">
                <a:solidFill>
                  <a:schemeClr val="tx1">
                    <a:lumMod val="75000"/>
                    <a:lumOff val="25000"/>
                  </a:schemeClr>
                </a:solidFill>
                <a:cs typeface="+mn-ea"/>
              </a:rPr>
              <a:t>al.An</a:t>
            </a:r>
            <a:r>
              <a:rPr lang="en-US" altLang="zh-CN" sz="800" kern="0" dirty="0">
                <a:solidFill>
                  <a:schemeClr val="tx1">
                    <a:lumMod val="75000"/>
                    <a:lumOff val="25000"/>
                  </a:schemeClr>
                </a:solidFill>
                <a:cs typeface="+mn-ea"/>
              </a:rPr>
              <a:t> improved K-means text clustering algorithm by optimizing initial cluster centers[C]//2016 7th International Conference on Cloud Computing and Big Data</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Macau</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2016</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265-268.</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Du X</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Xu N</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Zhou C</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et </a:t>
            </a:r>
            <a:r>
              <a:rPr lang="en-US" altLang="zh-CN" sz="800" kern="0" dirty="0" err="1">
                <a:solidFill>
                  <a:schemeClr val="tx1">
                    <a:lumMod val="75000"/>
                    <a:lumOff val="25000"/>
                  </a:schemeClr>
                </a:solidFill>
                <a:cs typeface="+mn-ea"/>
              </a:rPr>
              <a:t>al.A</a:t>
            </a:r>
            <a:r>
              <a:rPr lang="en-US" altLang="zh-CN" sz="800" kern="0" dirty="0">
                <a:solidFill>
                  <a:schemeClr val="tx1">
                    <a:lumMod val="75000"/>
                    <a:lumOff val="25000"/>
                  </a:schemeClr>
                </a:solidFill>
                <a:cs typeface="+mn-ea"/>
              </a:rPr>
              <a:t> density- based method for selection of the initial clustering centers of K-means algorithm[C]//2017 IEEE 2nd Advanced Information Technology</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Electronic and Automation Control Conference</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Chongqing</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2017</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2509-2512.</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唐东凯，王红梅，胡明，等</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优化初始聚类中心的改进</a:t>
            </a:r>
            <a:r>
              <a:rPr lang="en-US" altLang="zh-CN" sz="800" kern="0" dirty="0">
                <a:solidFill>
                  <a:schemeClr val="tx1">
                    <a:lumMod val="75000"/>
                    <a:lumOff val="25000"/>
                  </a:schemeClr>
                </a:solidFill>
                <a:cs typeface="+mn-ea"/>
              </a:rPr>
              <a:t>K-means </a:t>
            </a:r>
            <a:r>
              <a:rPr lang="zh-CN" altLang="zh-CN" sz="800" kern="0" dirty="0">
                <a:solidFill>
                  <a:schemeClr val="tx1">
                    <a:lumMod val="75000"/>
                    <a:lumOff val="25000"/>
                  </a:schemeClr>
                </a:solidFill>
                <a:cs typeface="+mn-ea"/>
              </a:rPr>
              <a:t>算法</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小型微型计算机系统，</a:t>
            </a:r>
            <a:r>
              <a:rPr lang="en-US" altLang="zh-CN" sz="800" kern="0" dirty="0">
                <a:solidFill>
                  <a:schemeClr val="tx1">
                    <a:lumMod val="75000"/>
                    <a:lumOff val="25000"/>
                  </a:schemeClr>
                </a:solidFill>
                <a:cs typeface="+mn-ea"/>
              </a:rPr>
              <a:t>2018</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39</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8</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1819-1823.</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陈磊磊</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不同距离测度的</a:t>
            </a:r>
            <a:r>
              <a:rPr lang="en-US" altLang="zh-CN" sz="800" kern="0" dirty="0">
                <a:solidFill>
                  <a:schemeClr val="tx1">
                    <a:lumMod val="75000"/>
                    <a:lumOff val="25000"/>
                  </a:schemeClr>
                </a:solidFill>
                <a:cs typeface="+mn-ea"/>
              </a:rPr>
              <a:t>K-Means </a:t>
            </a:r>
            <a:r>
              <a:rPr lang="zh-CN" altLang="zh-CN" sz="800" kern="0" dirty="0">
                <a:solidFill>
                  <a:schemeClr val="tx1">
                    <a:lumMod val="75000"/>
                    <a:lumOff val="25000"/>
                  </a:schemeClr>
                </a:solidFill>
                <a:cs typeface="+mn-ea"/>
              </a:rPr>
              <a:t>文本聚类研究</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软件，</a:t>
            </a:r>
            <a:r>
              <a:rPr lang="en-US" altLang="zh-CN" sz="800" kern="0" dirty="0">
                <a:solidFill>
                  <a:schemeClr val="tx1">
                    <a:lumMod val="75000"/>
                    <a:lumOff val="25000"/>
                  </a:schemeClr>
                </a:solidFill>
                <a:cs typeface="+mn-ea"/>
              </a:rPr>
              <a:t>2015</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36</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1</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56-61.</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Xu Y</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Fu X L</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Li H </a:t>
            </a:r>
            <a:r>
              <a:rPr lang="en-US" altLang="zh-CN" sz="800" kern="0" dirty="0" err="1">
                <a:solidFill>
                  <a:schemeClr val="tx1">
                    <a:lumMod val="75000"/>
                    <a:lumOff val="25000"/>
                  </a:schemeClr>
                </a:solidFill>
                <a:cs typeface="+mn-ea"/>
              </a:rPr>
              <a:t>H</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et </a:t>
            </a:r>
            <a:r>
              <a:rPr lang="en-US" altLang="zh-CN" sz="800" kern="0" dirty="0" err="1">
                <a:solidFill>
                  <a:schemeClr val="tx1">
                    <a:lumMod val="75000"/>
                    <a:lumOff val="25000"/>
                  </a:schemeClr>
                </a:solidFill>
                <a:cs typeface="+mn-ea"/>
              </a:rPr>
              <a:t>al.A</a:t>
            </a:r>
            <a:r>
              <a:rPr lang="en-US" altLang="zh-CN" sz="800" kern="0" dirty="0">
                <a:solidFill>
                  <a:schemeClr val="tx1">
                    <a:lumMod val="75000"/>
                    <a:lumOff val="25000"/>
                  </a:schemeClr>
                </a:solidFill>
                <a:cs typeface="+mn-ea"/>
              </a:rPr>
              <a:t> K-means algorithm based on feature weighting[C]//2018 2nd International Conference on Electronic Information Technology and Computer Engineering</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Shanghai</a:t>
            </a:r>
            <a:r>
              <a:rPr lang="zh-CN" altLang="zh-CN" sz="800" kern="0" dirty="0">
                <a:solidFill>
                  <a:schemeClr val="tx1">
                    <a:lumMod val="75000"/>
                    <a:lumOff val="25000"/>
                  </a:schemeClr>
                </a:solidFill>
                <a:cs typeface="+mn-ea"/>
              </a:rPr>
              <a:t>，</a:t>
            </a:r>
            <a:r>
              <a:rPr lang="en-US" altLang="zh-CN" sz="800" kern="0" dirty="0">
                <a:solidFill>
                  <a:schemeClr val="tx1">
                    <a:lumMod val="75000"/>
                    <a:lumOff val="25000"/>
                  </a:schemeClr>
                </a:solidFill>
                <a:cs typeface="+mn-ea"/>
              </a:rPr>
              <a:t>2018.</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Amirgaliev</a:t>
            </a:r>
            <a:r>
              <a:rPr lang="en-US" altLang="zh-CN" sz="800" kern="0" dirty="0">
                <a:solidFill>
                  <a:schemeClr val="tx1">
                    <a:lumMod val="75000"/>
                    <a:lumOff val="25000"/>
                  </a:schemeClr>
                </a:solidFill>
                <a:cs typeface="+mn-ea"/>
              </a:rPr>
              <a:t>, E., et al., Recognition of Rocks at Uranium Deposits by Using a Few Methods of Machine Learning. Soft Computing in Machine Learning, 2014: p. 33-40.</a:t>
            </a:r>
            <a:endParaRPr lang="zh-CN" altLang="zh-CN" sz="800" kern="0" dirty="0">
              <a:solidFill>
                <a:schemeClr val="tx1">
                  <a:lumMod val="75000"/>
                  <a:lumOff val="25000"/>
                </a:schemeClr>
              </a:solidFill>
              <a:cs typeface="+mn-ea"/>
            </a:endParaRPr>
          </a:p>
          <a:p>
            <a:pPr lvl="0"/>
            <a:r>
              <a:rPr lang="en-US" altLang="zh-CN" sz="800" kern="0" dirty="0">
                <a:solidFill>
                  <a:schemeClr val="tx1">
                    <a:lumMod val="75000"/>
                    <a:lumOff val="25000"/>
                  </a:schemeClr>
                </a:solidFill>
                <a:cs typeface="+mn-ea"/>
              </a:rPr>
              <a:t>Song, Q., et al., Combination of minimum enclosing balls classifier with SVM in coal-rock recognition. PLOS ONE, 2017. 12(9): p. e0184834.</a:t>
            </a:r>
            <a:endParaRPr lang="zh-CN" altLang="zh-CN" sz="800" kern="0" dirty="0">
              <a:solidFill>
                <a:schemeClr val="tx1">
                  <a:lumMod val="75000"/>
                  <a:lumOff val="25000"/>
                </a:schemeClr>
              </a:solidFill>
              <a:cs typeface="+mn-ea"/>
            </a:endParaRPr>
          </a:p>
          <a:p>
            <a:pPr lvl="0"/>
            <a:r>
              <a:rPr lang="en-US" altLang="zh-CN" sz="800" kern="0" dirty="0" err="1">
                <a:solidFill>
                  <a:schemeClr val="tx1">
                    <a:lumMod val="75000"/>
                    <a:lumOff val="25000"/>
                  </a:schemeClr>
                </a:solidFill>
                <a:cs typeface="+mn-ea"/>
              </a:rPr>
              <a:t>Nurzynska</a:t>
            </a:r>
            <a:r>
              <a:rPr lang="en-US" altLang="zh-CN" sz="800" kern="0" dirty="0">
                <a:solidFill>
                  <a:schemeClr val="tx1">
                    <a:lumMod val="75000"/>
                    <a:lumOff val="25000"/>
                  </a:schemeClr>
                </a:solidFill>
                <a:cs typeface="+mn-ea"/>
              </a:rPr>
              <a:t>, K. and S. </a:t>
            </a:r>
            <a:r>
              <a:rPr lang="en-US" altLang="zh-CN" sz="800" kern="0" dirty="0" err="1">
                <a:solidFill>
                  <a:schemeClr val="tx1">
                    <a:lumMod val="75000"/>
                    <a:lumOff val="25000"/>
                  </a:schemeClr>
                </a:solidFill>
                <a:cs typeface="+mn-ea"/>
              </a:rPr>
              <a:t>Iwaszenko</a:t>
            </a:r>
            <a:r>
              <a:rPr lang="en-US" altLang="zh-CN" sz="800" kern="0" dirty="0">
                <a:solidFill>
                  <a:schemeClr val="tx1">
                    <a:lumMod val="75000"/>
                    <a:lumOff val="25000"/>
                  </a:schemeClr>
                </a:solidFill>
                <a:cs typeface="+mn-ea"/>
              </a:rPr>
              <a:t>, Application of texture features and machine learning methods to grains segmentation in rock material images. Image Analysis &amp; Stereology, 2014.</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张哲远</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陈立辉</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张新阳</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基于</a:t>
            </a:r>
            <a:r>
              <a:rPr lang="en-US" altLang="zh-CN" sz="800" kern="0" dirty="0">
                <a:solidFill>
                  <a:schemeClr val="tx1">
                    <a:lumMod val="75000"/>
                    <a:lumOff val="25000"/>
                  </a:schemeClr>
                </a:solidFill>
                <a:cs typeface="+mn-ea"/>
              </a:rPr>
              <a:t>SVM</a:t>
            </a:r>
            <a:r>
              <a:rPr lang="zh-CN" altLang="zh-CN" sz="800" kern="0" dirty="0">
                <a:solidFill>
                  <a:schemeClr val="tx1">
                    <a:lumMod val="75000"/>
                    <a:lumOff val="25000"/>
                  </a:schemeClr>
                </a:solidFill>
                <a:cs typeface="+mn-ea"/>
              </a:rPr>
              <a:t>的岩石镜下鉴定模式探究</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科技视界</a:t>
            </a:r>
            <a:r>
              <a:rPr lang="en-US" altLang="zh-CN" sz="800" kern="0" dirty="0">
                <a:solidFill>
                  <a:schemeClr val="tx1">
                    <a:lumMod val="75000"/>
                    <a:lumOff val="25000"/>
                  </a:schemeClr>
                </a:solidFill>
                <a:cs typeface="+mn-ea"/>
              </a:rPr>
              <a:t>, 2019, 000(036):27-28,20.</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吴承炜</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史如晋</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曾万聃</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基于</a:t>
            </a:r>
            <a:r>
              <a:rPr lang="en-US" altLang="zh-CN" sz="800" kern="0" dirty="0">
                <a:solidFill>
                  <a:schemeClr val="tx1">
                    <a:lumMod val="75000"/>
                    <a:lumOff val="25000"/>
                  </a:schemeClr>
                </a:solidFill>
                <a:cs typeface="+mn-ea"/>
              </a:rPr>
              <a:t>Siamese</a:t>
            </a:r>
            <a:r>
              <a:rPr lang="zh-CN" altLang="zh-CN" sz="800" kern="0" dirty="0">
                <a:solidFill>
                  <a:schemeClr val="tx1">
                    <a:lumMod val="75000"/>
                    <a:lumOff val="25000"/>
                  </a:schemeClr>
                </a:solidFill>
                <a:cs typeface="+mn-ea"/>
              </a:rPr>
              <a:t>网络的矿物拉曼光谱识别</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激光与光电子学进展</a:t>
            </a:r>
            <a:r>
              <a:rPr lang="en-US" altLang="zh-CN" sz="800" kern="0" dirty="0">
                <a:solidFill>
                  <a:schemeClr val="tx1">
                    <a:lumMod val="75000"/>
                    <a:lumOff val="25000"/>
                  </a:schemeClr>
                </a:solidFill>
                <a:cs typeface="+mn-ea"/>
              </a:rPr>
              <a:t>, 2020, v.57;No.668(09):271-277.</a:t>
            </a:r>
            <a:endParaRPr lang="zh-CN" altLang="zh-CN" sz="800" kern="0" dirty="0">
              <a:solidFill>
                <a:schemeClr val="tx1">
                  <a:lumMod val="75000"/>
                  <a:lumOff val="25000"/>
                </a:schemeClr>
              </a:solidFill>
              <a:cs typeface="+mn-ea"/>
            </a:endParaRPr>
          </a:p>
          <a:p>
            <a:pPr lvl="0"/>
            <a:r>
              <a:rPr lang="zh-CN" altLang="zh-CN" sz="800" kern="0" dirty="0">
                <a:solidFill>
                  <a:schemeClr val="tx1">
                    <a:lumMod val="75000"/>
                    <a:lumOff val="25000"/>
                  </a:schemeClr>
                </a:solidFill>
                <a:cs typeface="+mn-ea"/>
              </a:rPr>
              <a:t>徐述腾</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周永章</a:t>
            </a:r>
            <a:r>
              <a:rPr lang="en-US" altLang="zh-CN" sz="800" kern="0" dirty="0">
                <a:solidFill>
                  <a:schemeClr val="tx1">
                    <a:lumMod val="75000"/>
                    <a:lumOff val="25000"/>
                  </a:schemeClr>
                </a:solidFill>
                <a:cs typeface="+mn-ea"/>
              </a:rPr>
              <a:t>. </a:t>
            </a:r>
            <a:r>
              <a:rPr lang="zh-CN" altLang="zh-CN" sz="800" kern="0" dirty="0">
                <a:solidFill>
                  <a:schemeClr val="tx1">
                    <a:lumMod val="75000"/>
                    <a:lumOff val="25000"/>
                  </a:schemeClr>
                </a:solidFill>
                <a:cs typeface="+mn-ea"/>
              </a:rPr>
              <a:t>基于深度学习的镜下矿石矿物的智能识别实验研究</a:t>
            </a:r>
            <a:r>
              <a:rPr lang="en-US" altLang="zh-CN" sz="800" kern="0" dirty="0">
                <a:solidFill>
                  <a:schemeClr val="tx1">
                    <a:lumMod val="75000"/>
                    <a:lumOff val="25000"/>
                  </a:schemeClr>
                </a:solidFill>
                <a:cs typeface="+mn-ea"/>
              </a:rPr>
              <a:t>[J]. </a:t>
            </a:r>
            <a:r>
              <a:rPr lang="zh-CN" altLang="zh-CN" sz="800" kern="0" dirty="0">
                <a:solidFill>
                  <a:schemeClr val="tx1">
                    <a:lumMod val="75000"/>
                    <a:lumOff val="25000"/>
                  </a:schemeClr>
                </a:solidFill>
                <a:cs typeface="+mn-ea"/>
              </a:rPr>
              <a:t>岩石学报</a:t>
            </a:r>
            <a:r>
              <a:rPr lang="en-US" altLang="zh-CN" sz="800" kern="0" dirty="0">
                <a:solidFill>
                  <a:schemeClr val="tx1">
                    <a:lumMod val="75000"/>
                    <a:lumOff val="25000"/>
                  </a:schemeClr>
                </a:solidFill>
                <a:cs typeface="+mn-ea"/>
              </a:rPr>
              <a:t>, 2018, 34(11).</a:t>
            </a:r>
            <a:endParaRPr lang="zh-CN" altLang="zh-CN" sz="800" kern="0" dirty="0">
              <a:solidFill>
                <a:schemeClr val="tx1">
                  <a:lumMod val="75000"/>
                  <a:lumOff val="25000"/>
                </a:schemeClr>
              </a:solidFill>
              <a:cs typeface="+mn-ea"/>
            </a:endParaRPr>
          </a:p>
        </p:txBody>
      </p:sp>
    </p:spTree>
    <p:extLst>
      <p:ext uri="{BB962C8B-B14F-4D97-AF65-F5344CB8AC3E}">
        <p14:creationId xmlns:p14="http://schemas.microsoft.com/office/powerpoint/2010/main" val="7978095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7"/>
                                        </p:tgtEl>
                                        <p:attrNameLst>
                                          <p:attrName>ppt_y</p:attrName>
                                        </p:attrNameLst>
                                      </p:cBhvr>
                                      <p:tavLst>
                                        <p:tav tm="0">
                                          <p:val>
                                            <p:strVal val="#ppt_y"/>
                                          </p:val>
                                        </p:tav>
                                        <p:tav tm="100000">
                                          <p:val>
                                            <p:strVal val="#ppt_y"/>
                                          </p:val>
                                        </p:tav>
                                      </p:tavLst>
                                    </p:anim>
                                    <p:anim calcmode="lin" valueType="num">
                                      <p:cBhvr>
                                        <p:cTn id="9" dur="500" fill="hold"/>
                                        <p:tgtEl>
                                          <p:spTgt spid="3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7"/>
                                        </p:tgtEl>
                                      </p:cBhvr>
                                    </p:animEffect>
                                  </p:childTnLst>
                                </p:cTn>
                              </p:par>
                            </p:childTnLst>
                          </p:cTn>
                        </p:par>
                        <p:par>
                          <p:cTn id="12" fill="hold">
                            <p:stCondLst>
                              <p:cond delay="650"/>
                            </p:stCondLst>
                            <p:childTnLst>
                              <p:par>
                                <p:cTn id="13" presetID="2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300"/>
                                        <p:tgtEl>
                                          <p:spTgt spid="33"/>
                                        </p:tgtEl>
                                      </p:cBhvr>
                                    </p:animEffect>
                                  </p:childTnLst>
                                </p:cTn>
                              </p:par>
                            </p:childTnLst>
                          </p:cTn>
                        </p:par>
                        <p:par>
                          <p:cTn id="16" fill="hold">
                            <p:stCondLst>
                              <p:cond delay="950"/>
                            </p:stCondLst>
                            <p:childTnLst>
                              <p:par>
                                <p:cTn id="17" presetID="2" presetClass="entr" presetSubtype="2"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fill="hold"/>
                                        <p:tgtEl>
                                          <p:spTgt spid="34"/>
                                        </p:tgtEl>
                                        <p:attrNameLst>
                                          <p:attrName>ppt_x</p:attrName>
                                        </p:attrNameLst>
                                      </p:cBhvr>
                                      <p:tavLst>
                                        <p:tav tm="0">
                                          <p:val>
                                            <p:strVal val="1+#ppt_w/2"/>
                                          </p:val>
                                        </p:tav>
                                        <p:tav tm="100000">
                                          <p:val>
                                            <p:strVal val="#ppt_x"/>
                                          </p:val>
                                        </p:tav>
                                      </p:tavLst>
                                    </p:anim>
                                    <p:anim calcmode="lin" valueType="num">
                                      <p:cBhvr additive="base">
                                        <p:cTn id="20" dur="500" fill="hold"/>
                                        <p:tgtEl>
                                          <p:spTgt spid="34"/>
                                        </p:tgtEl>
                                        <p:attrNameLst>
                                          <p:attrName>ppt_y</p:attrName>
                                        </p:attrNameLst>
                                      </p:cBhvr>
                                      <p:tavLst>
                                        <p:tav tm="0">
                                          <p:val>
                                            <p:strVal val="#ppt_y"/>
                                          </p:val>
                                        </p:tav>
                                        <p:tav tm="100000">
                                          <p:val>
                                            <p:strVal val="#ppt_y"/>
                                          </p:val>
                                        </p:tav>
                                      </p:tavLst>
                                    </p:anim>
                                  </p:childTnLst>
                                </p:cTn>
                              </p:par>
                            </p:childTnLst>
                          </p:cTn>
                        </p:par>
                        <p:par>
                          <p:cTn id="21" fill="hold">
                            <p:stCondLst>
                              <p:cond delay="1450"/>
                            </p:stCondLst>
                            <p:childTnLst>
                              <p:par>
                                <p:cTn id="22" presetID="2" presetClass="entr" presetSubtype="2" fill="hold" grpId="0"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additive="base">
                                        <p:cTn id="24" dur="500" fill="hold"/>
                                        <p:tgtEl>
                                          <p:spTgt spid="35"/>
                                        </p:tgtEl>
                                        <p:attrNameLst>
                                          <p:attrName>ppt_x</p:attrName>
                                        </p:attrNameLst>
                                      </p:cBhvr>
                                      <p:tavLst>
                                        <p:tav tm="0">
                                          <p:val>
                                            <p:strVal val="1+#ppt_w/2"/>
                                          </p:val>
                                        </p:tav>
                                        <p:tav tm="100000">
                                          <p:val>
                                            <p:strVal val="#ppt_x"/>
                                          </p:val>
                                        </p:tav>
                                      </p:tavLst>
                                    </p:anim>
                                    <p:anim calcmode="lin" valueType="num">
                                      <p:cBhvr additive="base">
                                        <p:cTn id="25"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4" grpId="0"/>
      <p:bldP spid="3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文本框 9"/>
          <p:cNvSpPr txBox="1"/>
          <p:nvPr/>
        </p:nvSpPr>
        <p:spPr>
          <a:xfrm>
            <a:off x="2374137" y="1884748"/>
            <a:ext cx="4272439" cy="1084912"/>
          </a:xfrm>
          <a:prstGeom prst="rect">
            <a:avLst/>
          </a:prstGeom>
          <a:noFill/>
        </p:spPr>
        <p:txBody>
          <a:bodyPr wrap="square" lIns="68580" tIns="34290" rIns="68580" bIns="34290" rtlCol="0">
            <a:spAutoFit/>
          </a:bodyPr>
          <a:lstStyle/>
          <a:p>
            <a:pPr algn="ctr">
              <a:defRPr/>
            </a:pPr>
            <a:r>
              <a:rPr lang="en-US" altLang="zh-CN" sz="6600" b="1" dirty="0">
                <a:solidFill>
                  <a:srgbClr val="1B4367"/>
                </a:solidFill>
                <a:cs typeface="+mn-ea"/>
                <a:sym typeface="+mn-lt"/>
              </a:rPr>
              <a:t>THANKS</a:t>
            </a:r>
          </a:p>
        </p:txBody>
      </p:sp>
      <p:sp>
        <p:nvSpPr>
          <p:cNvPr id="2" name="文本框 1"/>
          <p:cNvSpPr txBox="1"/>
          <p:nvPr/>
        </p:nvSpPr>
        <p:spPr>
          <a:xfrm>
            <a:off x="3024747" y="2804443"/>
            <a:ext cx="3094505" cy="530915"/>
          </a:xfrm>
          <a:prstGeom prst="rect">
            <a:avLst/>
          </a:prstGeom>
          <a:noFill/>
        </p:spPr>
        <p:txBody>
          <a:bodyPr wrap="square" lIns="68580" tIns="34290" rIns="68580" bIns="34290" rtlCol="0">
            <a:spAutoFit/>
          </a:bodyPr>
          <a:lstStyle/>
          <a:p>
            <a:pPr algn="ctr">
              <a:defRPr/>
            </a:pPr>
            <a:r>
              <a:rPr lang="zh-CN" altLang="en-US" sz="3000" dirty="0">
                <a:solidFill>
                  <a:srgbClr val="1B4367"/>
                </a:solidFill>
                <a:cs typeface="+mn-ea"/>
                <a:sym typeface="+mn-lt"/>
              </a:rPr>
              <a:t>请老师批评指正</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p">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1522</TotalTime>
  <Words>2157</Words>
  <Application>Microsoft Office PowerPoint</Application>
  <PresentationFormat>全屏显示(16:9)</PresentationFormat>
  <Paragraphs>133</Paragraphs>
  <Slides>13</Slides>
  <Notes>13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微软雅黑</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
  <dc:description>http://www.ypppt.com/</dc:description>
  <cp:lastModifiedBy>2421314760@qq.com</cp:lastModifiedBy>
  <cp:revision>147</cp:revision>
  <dcterms:created xsi:type="dcterms:W3CDTF">2016-05-20T12:59:00Z</dcterms:created>
  <dcterms:modified xsi:type="dcterms:W3CDTF">2021-01-25T04:28:27Z</dcterms:modified>
  <cp:category/>
  <cp:contentStatus>ytfcells</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2052-10.1.0.5745</vt:lpwstr>
  </property>
</Properties>
</file>